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41247" y="1508760"/>
            <a:ext cx="10241280" cy="365760"/>
          </a:xfrm>
          <a:prstGeom prst="rect">
            <a:avLst/>
          </a:prstGeom>
          <a:noFill/>
        </p:spPr>
        <p:txBody>
          <a:bodyPr wrap="square" lIns="0" tIns="0" rIns="0" bIns="0" anchor="t">
            <a:spAutoFit/>
          </a:bodyPr>
          <a:lstStyle/>
          <a:p>
            <a:pPr>
              <a:spcBef>
                <a:spcPts val="0"/>
              </a:spcBef>
              <a:spcAft>
                <a:spcPts val="0"/>
              </a:spcAft>
            </a:pPr>
            <a:r>
              <a:rPr sz="1200" b="0" i="0">
                <a:solidFill>
                  <a:srgbClr val="6B7684"/>
                </a:solidFill>
                <a:latin typeface="Consolas"/>
              </a:rPr>
              <a:t>FLAKYLENS · PROGRAM-ANALYSIS INVESTIGATION</a:t>
            </a:r>
          </a:p>
        </p:txBody>
      </p:sp>
      <p:sp>
        <p:nvSpPr>
          <p:cNvPr id="4" name="TextBox 3"/>
          <p:cNvSpPr txBox="1"/>
          <p:nvPr/>
        </p:nvSpPr>
        <p:spPr>
          <a:xfrm>
            <a:off x="841247" y="2011680"/>
            <a:ext cx="10424160" cy="1371600"/>
          </a:xfrm>
          <a:prstGeom prst="rect">
            <a:avLst/>
          </a:prstGeom>
          <a:noFill/>
        </p:spPr>
        <p:txBody>
          <a:bodyPr wrap="square" lIns="0" tIns="0" rIns="0" bIns="0" anchor="t">
            <a:spAutoFit/>
          </a:bodyPr>
          <a:lstStyle/>
          <a:p>
            <a:pPr>
              <a:lnSpc>
                <a:spcPct val="100000"/>
              </a:lnSpc>
              <a:spcBef>
                <a:spcPts val="0"/>
              </a:spcBef>
              <a:spcAft>
                <a:spcPts val="0"/>
              </a:spcAft>
            </a:pPr>
            <a:r>
              <a:rPr sz="4600" b="1" i="0">
                <a:solidFill>
                  <a:srgbClr val="151A21"/>
                </a:solidFill>
                <a:latin typeface="Calibri"/>
              </a:rPr>
              <a:t>Where the Evidence Lives</a:t>
            </a:r>
          </a:p>
        </p:txBody>
      </p:sp>
      <p:sp>
        <p:nvSpPr>
          <p:cNvPr id="5" name="TextBox 4"/>
          <p:cNvSpPr txBox="1"/>
          <p:nvPr/>
        </p:nvSpPr>
        <p:spPr>
          <a:xfrm>
            <a:off x="841247" y="3246120"/>
            <a:ext cx="8778240" cy="1280160"/>
          </a:xfrm>
          <a:prstGeom prst="rect">
            <a:avLst/>
          </a:prstGeom>
          <a:noFill/>
        </p:spPr>
        <p:txBody>
          <a:bodyPr wrap="square" lIns="0" tIns="0" rIns="0" bIns="0" anchor="t">
            <a:spAutoFit/>
          </a:bodyPr>
          <a:lstStyle/>
          <a:p>
            <a:pPr>
              <a:lnSpc>
                <a:spcPct val="132000"/>
              </a:lnSpc>
              <a:spcBef>
                <a:spcPts val="0"/>
              </a:spcBef>
              <a:spcAft>
                <a:spcPts val="0"/>
              </a:spcAft>
            </a:pPr>
            <a:r>
              <a:rPr sz="1700" b="0" i="0">
                <a:solidFill>
                  <a:srgbClr val="3D4653"/>
                </a:solidFill>
                <a:latin typeface="Calibri"/>
              </a:rPr>
              <a:t>Every flaky test the model gets wrong in Hadoop is one whose true cause is written somewhere the model never reads. The signal is not missing from the project. It is missing from the lines we feed the encoder.</a:t>
            </a:r>
          </a:p>
        </p:txBody>
      </p:sp>
      <p:sp>
        <p:nvSpPr>
          <p:cNvPr id="6" name="Rectangle 5"/>
          <p:cNvSpPr/>
          <p:nvPr/>
        </p:nvSpPr>
        <p:spPr>
          <a:xfrm>
            <a:off x="841247" y="4892040"/>
            <a:ext cx="8778240"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5074920"/>
            <a:ext cx="10058400" cy="822960"/>
          </a:xfrm>
          <a:prstGeom prst="rect">
            <a:avLst/>
          </a:prstGeom>
          <a:noFill/>
        </p:spPr>
        <p:txBody>
          <a:bodyPr wrap="square" lIns="0" tIns="0" rIns="0" bIns="0" anchor="t">
            <a:spAutoFit/>
          </a:bodyPr>
          <a:lstStyle/>
          <a:p>
            <a:pPr>
              <a:lnSpc>
                <a:spcPct val="150000"/>
              </a:lnSpc>
              <a:spcBef>
                <a:spcPts val="0"/>
              </a:spcBef>
              <a:spcAft>
                <a:spcPts val="0"/>
              </a:spcAft>
            </a:pPr>
            <a:r>
              <a:rPr sz="1300" b="0" i="0">
                <a:solidFill>
                  <a:srgbClr val="6B7684"/>
                </a:solidFill>
                <a:latin typeface="Consolas"/>
              </a:rPr>
              <a:t>apache/hadoop  ·  3 pinned commits  ·  33 flaky tests, 27 located</a:t>
            </a:r>
          </a:p>
          <a:p>
            <a:pPr>
              <a:spcBef>
                <a:spcPts val="300"/>
              </a:spcBef>
              <a:spcAft>
                <a:spcPts val="0"/>
              </a:spcAft>
            </a:pPr>
            <a:r>
              <a:rPr sz="1300" b="0" i="0">
                <a:solidFill>
                  <a:srgbClr val="6B7684"/>
                </a:solidFill>
                <a:latin typeface="Consolas"/>
              </a:rPr>
              <a:t>4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METHOD</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What we did</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828800"/>
            <a:ext cx="411480" cy="36576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1</a:t>
            </a:r>
          </a:p>
        </p:txBody>
      </p:sp>
      <p:sp>
        <p:nvSpPr>
          <p:cNvPr id="6" name="TextBox 5"/>
          <p:cNvSpPr txBox="1"/>
          <p:nvPr/>
        </p:nvSpPr>
        <p:spPr>
          <a:xfrm>
            <a:off x="1097280" y="1801368"/>
            <a:ext cx="10332720" cy="411480"/>
          </a:xfrm>
          <a:prstGeom prst="rect">
            <a:avLst/>
          </a:prstGeom>
          <a:noFill/>
        </p:spPr>
        <p:txBody>
          <a:bodyPr wrap="square" lIns="0" tIns="0" rIns="0" bIns="0" anchor="t">
            <a:spAutoFit/>
          </a:bodyPr>
          <a:lstStyle/>
          <a:p>
            <a:pPr>
              <a:spcBef>
                <a:spcPts val="0"/>
              </a:spcBef>
              <a:spcAft>
                <a:spcPts val="0"/>
              </a:spcAft>
            </a:pPr>
            <a:r>
              <a:rPr sz="1700" b="1" i="0">
                <a:solidFill>
                  <a:srgbClr val="151A21"/>
                </a:solidFill>
                <a:latin typeface="Calibri"/>
              </a:rPr>
              <a:t>Started from predictions already in the repo</a:t>
            </a:r>
          </a:p>
        </p:txBody>
      </p:sp>
      <p:sp>
        <p:nvSpPr>
          <p:cNvPr id="7" name="TextBox 6"/>
          <p:cNvSpPr txBox="1"/>
          <p:nvPr/>
        </p:nvSpPr>
        <p:spPr>
          <a:xfrm>
            <a:off x="1097280" y="2139696"/>
            <a:ext cx="10149840" cy="685800"/>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The shipped per-project results file carries prediction and ground truth for all 8,574 tests. No model run was needed.</a:t>
            </a:r>
          </a:p>
        </p:txBody>
      </p:sp>
      <p:sp>
        <p:nvSpPr>
          <p:cNvPr id="8" name="Rectangle 7"/>
          <p:cNvSpPr/>
          <p:nvPr/>
        </p:nvSpPr>
        <p:spPr>
          <a:xfrm>
            <a:off x="658368" y="2779776"/>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962656"/>
            <a:ext cx="411480" cy="36576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2</a:t>
            </a:r>
          </a:p>
        </p:txBody>
      </p:sp>
      <p:sp>
        <p:nvSpPr>
          <p:cNvPr id="10" name="TextBox 9"/>
          <p:cNvSpPr txBox="1"/>
          <p:nvPr/>
        </p:nvSpPr>
        <p:spPr>
          <a:xfrm>
            <a:off x="1097280" y="2935224"/>
            <a:ext cx="10332720" cy="411480"/>
          </a:xfrm>
          <a:prstGeom prst="rect">
            <a:avLst/>
          </a:prstGeom>
          <a:noFill/>
        </p:spPr>
        <p:txBody>
          <a:bodyPr wrap="square" lIns="0" tIns="0" rIns="0" bIns="0" anchor="t">
            <a:spAutoFit/>
          </a:bodyPr>
          <a:lstStyle/>
          <a:p>
            <a:pPr>
              <a:spcBef>
                <a:spcPts val="0"/>
              </a:spcBef>
              <a:spcAft>
                <a:spcPts val="0"/>
              </a:spcAft>
            </a:pPr>
            <a:r>
              <a:rPr sz="1700" b="1" i="0">
                <a:solidFill>
                  <a:srgbClr val="151A21"/>
                </a:solidFill>
                <a:latin typeface="Calibri"/>
              </a:rPr>
              <a:t>Localised the error</a:t>
            </a:r>
          </a:p>
        </p:txBody>
      </p:sp>
      <p:sp>
        <p:nvSpPr>
          <p:cNvPr id="11" name="TextBox 10"/>
          <p:cNvSpPr txBox="1"/>
          <p:nvPr/>
        </p:nvSpPr>
        <p:spPr>
          <a:xfrm>
            <a:off x="1097280" y="3273552"/>
            <a:ext cx="10149840" cy="685800"/>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All 105 errors sit inside the 280 flaky tests. Hadoop misses 20 of its 33, a 61% error rate against 37.5% benchmark-wide, and has classes containing both hits and misses.</a:t>
            </a:r>
          </a:p>
        </p:txBody>
      </p:sp>
      <p:sp>
        <p:nvSpPr>
          <p:cNvPr id="12" name="Rectangle 11"/>
          <p:cNvSpPr/>
          <p:nvPr/>
        </p:nvSpPr>
        <p:spPr>
          <a:xfrm>
            <a:off x="658368" y="391363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4096512"/>
            <a:ext cx="411480" cy="36576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3</a:t>
            </a:r>
          </a:p>
        </p:txBody>
      </p:sp>
      <p:sp>
        <p:nvSpPr>
          <p:cNvPr id="14" name="TextBox 13"/>
          <p:cNvSpPr txBox="1"/>
          <p:nvPr/>
        </p:nvSpPr>
        <p:spPr>
          <a:xfrm>
            <a:off x="1097280" y="4069080"/>
            <a:ext cx="10332720" cy="411480"/>
          </a:xfrm>
          <a:prstGeom prst="rect">
            <a:avLst/>
          </a:prstGeom>
          <a:noFill/>
        </p:spPr>
        <p:txBody>
          <a:bodyPr wrap="square" lIns="0" tIns="0" rIns="0" bIns="0" anchor="t">
            <a:spAutoFit/>
          </a:bodyPr>
          <a:lstStyle/>
          <a:p>
            <a:pPr>
              <a:spcBef>
                <a:spcPts val="0"/>
              </a:spcBef>
              <a:spcAft>
                <a:spcPts val="0"/>
              </a:spcAft>
            </a:pPr>
            <a:r>
              <a:rPr sz="1700" b="1" i="0">
                <a:solidFill>
                  <a:srgbClr val="151A21"/>
                </a:solidFill>
                <a:latin typeface="Calibri"/>
              </a:rPr>
              <a:t>Fetched real source at the pinned commits</a:t>
            </a:r>
          </a:p>
        </p:txBody>
      </p:sp>
      <p:sp>
        <p:nvSpPr>
          <p:cNvPr id="15" name="TextBox 14"/>
          <p:cNvSpPr txBox="1"/>
          <p:nvPr/>
        </p:nvSpPr>
        <p:spPr>
          <a:xfrm>
            <a:off x="1097280" y="4407408"/>
            <a:ext cx="10149840" cy="685800"/>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Blobless partial clone at the three SHAs in the benchmark. Matched each test method by name inside its class. 27 of 33 resolved.</a:t>
            </a:r>
          </a:p>
        </p:txBody>
      </p:sp>
      <p:sp>
        <p:nvSpPr>
          <p:cNvPr id="16" name="Rectangle 15"/>
          <p:cNvSpPr/>
          <p:nvPr/>
        </p:nvSpPr>
        <p:spPr>
          <a:xfrm>
            <a:off x="658368" y="5047488"/>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5230368"/>
            <a:ext cx="411480" cy="36576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4</a:t>
            </a:r>
          </a:p>
        </p:txBody>
      </p:sp>
      <p:sp>
        <p:nvSpPr>
          <p:cNvPr id="18" name="TextBox 17"/>
          <p:cNvSpPr txBox="1"/>
          <p:nvPr/>
        </p:nvSpPr>
        <p:spPr>
          <a:xfrm>
            <a:off x="1097280" y="5202936"/>
            <a:ext cx="10332720" cy="411480"/>
          </a:xfrm>
          <a:prstGeom prst="rect">
            <a:avLst/>
          </a:prstGeom>
          <a:noFill/>
        </p:spPr>
        <p:txBody>
          <a:bodyPr wrap="square" lIns="0" tIns="0" rIns="0" bIns="0" anchor="t">
            <a:spAutoFit/>
          </a:bodyPr>
          <a:lstStyle/>
          <a:p>
            <a:pPr>
              <a:spcBef>
                <a:spcPts val="0"/>
              </a:spcBef>
              <a:spcAft>
                <a:spcPts val="0"/>
              </a:spcAft>
            </a:pPr>
            <a:r>
              <a:rPr sz="1700" b="1" i="0">
                <a:solidFill>
                  <a:srgbClr val="151A21"/>
                </a:solidFill>
                <a:latin typeface="Calibri"/>
              </a:rPr>
              <a:t>Asked one question per test</a:t>
            </a:r>
          </a:p>
        </p:txBody>
      </p:sp>
      <p:sp>
        <p:nvSpPr>
          <p:cNvPr id="19" name="TextBox 18"/>
          <p:cNvSpPr txBox="1"/>
          <p:nvPr/>
        </p:nvSpPr>
        <p:spPr>
          <a:xfrm>
            <a:off x="1097280" y="5541264"/>
            <a:ext cx="10149840" cy="685800"/>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Where in the project is the fact that makes the true label true? Assigned to one of five places, then compared against whether the model got it right.</a:t>
            </a:r>
          </a:p>
        </p:txBody>
      </p:sp>
      <p:sp>
        <p:nvSpPr>
          <p:cNvPr id="20" name="TextBox 19"/>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RESULT</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The finding</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74519"/>
            <a:ext cx="2567863" cy="19659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103120"/>
            <a:ext cx="2202103" cy="822960"/>
          </a:xfrm>
          <a:prstGeom prst="rect">
            <a:avLst/>
          </a:prstGeom>
          <a:noFill/>
        </p:spPr>
        <p:txBody>
          <a:bodyPr wrap="square" lIns="0" tIns="0" rIns="0" bIns="0" anchor="t">
            <a:spAutoFit/>
          </a:bodyPr>
          <a:lstStyle/>
          <a:p>
            <a:pPr>
              <a:lnSpc>
                <a:spcPct val="100000"/>
              </a:lnSpc>
              <a:spcBef>
                <a:spcPts val="0"/>
              </a:spcBef>
              <a:spcAft>
                <a:spcPts val="0"/>
              </a:spcAft>
            </a:pPr>
            <a:r>
              <a:rPr sz="4400" b="1" i="0">
                <a:solidFill>
                  <a:srgbClr val="A8452B"/>
                </a:solidFill>
                <a:latin typeface="Calibri"/>
              </a:rPr>
              <a:t>17/17</a:t>
            </a:r>
          </a:p>
        </p:txBody>
      </p:sp>
      <p:sp>
        <p:nvSpPr>
          <p:cNvPr id="7" name="TextBox 6"/>
          <p:cNvSpPr txBox="1"/>
          <p:nvPr/>
        </p:nvSpPr>
        <p:spPr>
          <a:xfrm>
            <a:off x="877824" y="2944368"/>
            <a:ext cx="2128951" cy="822960"/>
          </a:xfrm>
          <a:prstGeom prst="rect">
            <a:avLst/>
          </a:prstGeom>
          <a:noFill/>
        </p:spPr>
        <p:txBody>
          <a:bodyPr wrap="square" lIns="0" tIns="0" rIns="0" bIns="0" anchor="t">
            <a:spAutoFit/>
          </a:bodyPr>
          <a:lstStyle/>
          <a:p>
            <a:pPr>
              <a:lnSpc>
                <a:spcPct val="124000"/>
              </a:lnSpc>
              <a:spcBef>
                <a:spcPts val="0"/>
              </a:spcBef>
              <a:spcAft>
                <a:spcPts val="0"/>
              </a:spcAft>
            </a:pPr>
            <a:r>
              <a:rPr sz="1300" b="0" i="0">
                <a:solidFill>
                  <a:srgbClr val="3D4653"/>
                </a:solidFill>
                <a:latin typeface="Calibri"/>
              </a:rPr>
              <a:t>Misclassified tests whose true-category evidence sits OUTSIDE the test body</a:t>
            </a:r>
          </a:p>
        </p:txBody>
      </p:sp>
      <p:sp>
        <p:nvSpPr>
          <p:cNvPr id="8" name="Rectangle 7"/>
          <p:cNvSpPr/>
          <p:nvPr/>
        </p:nvSpPr>
        <p:spPr>
          <a:xfrm>
            <a:off x="3427399" y="1874519"/>
            <a:ext cx="2567863" cy="19659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46855" y="2103120"/>
            <a:ext cx="2202103" cy="822960"/>
          </a:xfrm>
          <a:prstGeom prst="rect">
            <a:avLst/>
          </a:prstGeom>
          <a:noFill/>
        </p:spPr>
        <p:txBody>
          <a:bodyPr wrap="square" lIns="0" tIns="0" rIns="0" bIns="0" anchor="t">
            <a:spAutoFit/>
          </a:bodyPr>
          <a:lstStyle/>
          <a:p>
            <a:pPr>
              <a:lnSpc>
                <a:spcPct val="100000"/>
              </a:lnSpc>
              <a:spcBef>
                <a:spcPts val="0"/>
              </a:spcBef>
              <a:spcAft>
                <a:spcPts val="0"/>
              </a:spcAft>
            </a:pPr>
            <a:r>
              <a:rPr sz="4400" b="1" i="0">
                <a:solidFill>
                  <a:srgbClr val="3A6650"/>
                </a:solidFill>
                <a:latin typeface="Calibri"/>
              </a:rPr>
              <a:t>6/10</a:t>
            </a:r>
          </a:p>
        </p:txBody>
      </p:sp>
      <p:sp>
        <p:nvSpPr>
          <p:cNvPr id="10" name="TextBox 9"/>
          <p:cNvSpPr txBox="1"/>
          <p:nvPr/>
        </p:nvSpPr>
        <p:spPr>
          <a:xfrm>
            <a:off x="3646855" y="2944368"/>
            <a:ext cx="2128951" cy="822960"/>
          </a:xfrm>
          <a:prstGeom prst="rect">
            <a:avLst/>
          </a:prstGeom>
          <a:noFill/>
        </p:spPr>
        <p:txBody>
          <a:bodyPr wrap="square" lIns="0" tIns="0" rIns="0" bIns="0" anchor="t">
            <a:spAutoFit/>
          </a:bodyPr>
          <a:lstStyle/>
          <a:p>
            <a:pPr>
              <a:lnSpc>
                <a:spcPct val="124000"/>
              </a:lnSpc>
              <a:spcBef>
                <a:spcPts val="0"/>
              </a:spcBef>
              <a:spcAft>
                <a:spcPts val="0"/>
              </a:spcAft>
            </a:pPr>
            <a:r>
              <a:rPr sz="1300" b="0" i="0">
                <a:solidFill>
                  <a:srgbClr val="3D4653"/>
                </a:solidFill>
                <a:latin typeface="Calibri"/>
              </a:rPr>
              <a:t>Correctly classified tests whose evidence is INSIDE the body</a:t>
            </a:r>
          </a:p>
        </p:txBody>
      </p:sp>
      <p:sp>
        <p:nvSpPr>
          <p:cNvPr id="11" name="Rectangle 10"/>
          <p:cNvSpPr/>
          <p:nvPr/>
        </p:nvSpPr>
        <p:spPr>
          <a:xfrm>
            <a:off x="6196431" y="1874519"/>
            <a:ext cx="2567863" cy="19659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5887" y="2103120"/>
            <a:ext cx="2202103" cy="822960"/>
          </a:xfrm>
          <a:prstGeom prst="rect">
            <a:avLst/>
          </a:prstGeom>
          <a:noFill/>
        </p:spPr>
        <p:txBody>
          <a:bodyPr wrap="square" lIns="0" tIns="0" rIns="0" bIns="0" anchor="t">
            <a:spAutoFit/>
          </a:bodyPr>
          <a:lstStyle/>
          <a:p>
            <a:pPr>
              <a:lnSpc>
                <a:spcPct val="100000"/>
              </a:lnSpc>
              <a:spcBef>
                <a:spcPts val="0"/>
              </a:spcBef>
              <a:spcAft>
                <a:spcPts val="0"/>
              </a:spcAft>
            </a:pPr>
            <a:r>
              <a:rPr sz="4400" b="1" i="0">
                <a:solidFill>
                  <a:srgbClr val="2F4858"/>
                </a:solidFill>
                <a:latin typeface="Calibri"/>
              </a:rPr>
              <a:t>0.0007</a:t>
            </a:r>
          </a:p>
        </p:txBody>
      </p:sp>
      <p:sp>
        <p:nvSpPr>
          <p:cNvPr id="13" name="TextBox 12"/>
          <p:cNvSpPr txBox="1"/>
          <p:nvPr/>
        </p:nvSpPr>
        <p:spPr>
          <a:xfrm>
            <a:off x="6415887" y="2944368"/>
            <a:ext cx="2128951" cy="822960"/>
          </a:xfrm>
          <a:prstGeom prst="rect">
            <a:avLst/>
          </a:prstGeom>
          <a:noFill/>
        </p:spPr>
        <p:txBody>
          <a:bodyPr wrap="square" lIns="0" tIns="0" rIns="0" bIns="0" anchor="t">
            <a:spAutoFit/>
          </a:bodyPr>
          <a:lstStyle/>
          <a:p>
            <a:pPr>
              <a:lnSpc>
                <a:spcPct val="124000"/>
              </a:lnSpc>
              <a:spcBef>
                <a:spcPts val="0"/>
              </a:spcBef>
              <a:spcAft>
                <a:spcPts val="0"/>
              </a:spcAft>
            </a:pPr>
            <a:r>
              <a:rPr sz="1300" b="0" i="0">
                <a:solidFill>
                  <a:srgbClr val="3D4653"/>
                </a:solidFill>
                <a:latin typeface="Calibri"/>
              </a:rPr>
              <a:t>Fisher exact two-sided p for that split</a:t>
            </a:r>
          </a:p>
        </p:txBody>
      </p:sp>
      <p:sp>
        <p:nvSpPr>
          <p:cNvPr id="14" name="Rectangle 13"/>
          <p:cNvSpPr/>
          <p:nvPr/>
        </p:nvSpPr>
        <p:spPr>
          <a:xfrm>
            <a:off x="8965463" y="1874519"/>
            <a:ext cx="2567863" cy="19659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84919" y="2103120"/>
            <a:ext cx="2202103" cy="822960"/>
          </a:xfrm>
          <a:prstGeom prst="rect">
            <a:avLst/>
          </a:prstGeom>
          <a:noFill/>
        </p:spPr>
        <p:txBody>
          <a:bodyPr wrap="square" lIns="0" tIns="0" rIns="0" bIns="0" anchor="t">
            <a:spAutoFit/>
          </a:bodyPr>
          <a:lstStyle/>
          <a:p>
            <a:pPr>
              <a:lnSpc>
                <a:spcPct val="100000"/>
              </a:lnSpc>
              <a:spcBef>
                <a:spcPts val="0"/>
              </a:spcBef>
              <a:spcAft>
                <a:spcPts val="0"/>
              </a:spcAft>
            </a:pPr>
            <a:r>
              <a:rPr sz="4400" b="1" i="0">
                <a:solidFill>
                  <a:srgbClr val="2F4858"/>
                </a:solidFill>
                <a:latin typeface="Calibri"/>
              </a:rPr>
              <a:t>7 → 0</a:t>
            </a:r>
          </a:p>
        </p:txBody>
      </p:sp>
      <p:sp>
        <p:nvSpPr>
          <p:cNvPr id="16" name="TextBox 15"/>
          <p:cNvSpPr txBox="1"/>
          <p:nvPr/>
        </p:nvSpPr>
        <p:spPr>
          <a:xfrm>
            <a:off x="9184919" y="2944368"/>
            <a:ext cx="2128951" cy="822960"/>
          </a:xfrm>
          <a:prstGeom prst="rect">
            <a:avLst/>
          </a:prstGeom>
          <a:noFill/>
        </p:spPr>
        <p:txBody>
          <a:bodyPr wrap="square" lIns="0" tIns="0" rIns="0" bIns="0" anchor="t">
            <a:spAutoFit/>
          </a:bodyPr>
          <a:lstStyle/>
          <a:p>
            <a:pPr>
              <a:lnSpc>
                <a:spcPct val="124000"/>
              </a:lnSpc>
              <a:spcBef>
                <a:spcPts val="0"/>
              </a:spcBef>
              <a:spcAft>
                <a:spcPts val="0"/>
              </a:spcAft>
            </a:pPr>
            <a:r>
              <a:rPr sz="1300" b="0" i="0">
                <a:solidFill>
                  <a:srgbClr val="3D4653"/>
                </a:solidFill>
                <a:latin typeface="Calibri"/>
              </a:rPr>
              <a:t>Tests in a class holding a shared static cluster: all wrong, none right</a:t>
            </a:r>
          </a:p>
        </p:txBody>
      </p:sp>
      <p:sp>
        <p:nvSpPr>
          <p:cNvPr id="17" name="Rectangle 16"/>
          <p:cNvSpPr/>
          <p:nvPr/>
        </p:nvSpPr>
        <p:spPr>
          <a:xfrm>
            <a:off x="658368" y="4251960"/>
            <a:ext cx="10874959" cy="11887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8368" y="4251960"/>
            <a:ext cx="45720" cy="118872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9264" y="4462272"/>
            <a:ext cx="10234879" cy="822960"/>
          </a:xfrm>
          <a:prstGeom prst="rect">
            <a:avLst/>
          </a:prstGeom>
          <a:noFill/>
        </p:spPr>
        <p:txBody>
          <a:bodyPr wrap="square" lIns="0" tIns="0" rIns="0" bIns="0" anchor="t">
            <a:spAutoFit/>
          </a:bodyPr>
          <a:lstStyle/>
          <a:p>
            <a:pPr>
              <a:lnSpc>
                <a:spcPct val="130000"/>
              </a:lnSpc>
              <a:spcBef>
                <a:spcPts val="0"/>
              </a:spcBef>
              <a:spcAft>
                <a:spcPts val="0"/>
              </a:spcAft>
            </a:pPr>
            <a:r>
              <a:rPr sz="1550" b="0" i="0">
                <a:solidFill>
                  <a:srgbClr val="3D4653"/>
                </a:solidFill>
                <a:latin typeface="Calibri"/>
              </a:rPr>
              <a:t>The 4 correct answers with no body evidence are best read as the model landing on order dependency because it is the most common flaky label in this project.</a:t>
            </a:r>
          </a:p>
        </p:txBody>
      </p:sp>
      <p:sp>
        <p:nvSpPr>
          <p:cNvPr id="20" name="TextBox 19"/>
          <p:cNvSpPr txBox="1"/>
          <p:nvPr/>
        </p:nvSpPr>
        <p:spPr>
          <a:xfrm>
            <a:off x="658368" y="5715000"/>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Median test body: 9 lines for misses, 17 lines for hits.</a:t>
            </a:r>
          </a:p>
        </p:txBody>
      </p:sp>
      <p:sp>
        <p:nvSpPr>
          <p:cNvPr id="21" name="TextBox 20"/>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WHERE THE ERROR CONCENTRATES</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The confusions are directed, not random</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755648"/>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500" b="0" i="0">
                <a:solidFill>
                  <a:srgbClr val="3D4653"/>
                </a:solidFill>
                <a:latin typeface="Calibri"/>
              </a:rPr>
              <a:t>8,293 of 8,294 non-flaky tests are classified correctly. Every error lives in the 280 flaky tests. Per-category F1: non-flaky 1.00, unordered collections 0.75, concurrency 0.36.</a:t>
            </a:r>
          </a:p>
        </p:txBody>
      </p:sp>
      <p:sp>
        <p:nvSpPr>
          <p:cNvPr id="6" name="TextBox 5"/>
          <p:cNvSpPr txBox="1"/>
          <p:nvPr/>
        </p:nvSpPr>
        <p:spPr>
          <a:xfrm>
            <a:off x="658368" y="2715768"/>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concurrency</a:t>
            </a:r>
          </a:p>
        </p:txBody>
      </p:sp>
      <p:sp>
        <p:nvSpPr>
          <p:cNvPr id="7" name="TextBox 6"/>
          <p:cNvSpPr txBox="1"/>
          <p:nvPr/>
        </p:nvSpPr>
        <p:spPr>
          <a:xfrm>
            <a:off x="3840480" y="2715768"/>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8" name="TextBox 7"/>
          <p:cNvSpPr txBox="1"/>
          <p:nvPr/>
        </p:nvSpPr>
        <p:spPr>
          <a:xfrm>
            <a:off x="4517136" y="2715768"/>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async wait</a:t>
            </a:r>
          </a:p>
        </p:txBody>
      </p:sp>
      <p:sp>
        <p:nvSpPr>
          <p:cNvPr id="9" name="Rectangle 8"/>
          <p:cNvSpPr/>
          <p:nvPr/>
        </p:nvSpPr>
        <p:spPr>
          <a:xfrm>
            <a:off x="5074920" y="2761488"/>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74920" y="2761488"/>
            <a:ext cx="4754880"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76104" y="2715768"/>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20</a:t>
            </a:r>
          </a:p>
        </p:txBody>
      </p:sp>
      <p:sp>
        <p:nvSpPr>
          <p:cNvPr id="12" name="TextBox 11"/>
          <p:cNvSpPr txBox="1"/>
          <p:nvPr/>
        </p:nvSpPr>
        <p:spPr>
          <a:xfrm>
            <a:off x="658368" y="3099816"/>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order dependency</a:t>
            </a:r>
          </a:p>
        </p:txBody>
      </p:sp>
      <p:sp>
        <p:nvSpPr>
          <p:cNvPr id="13" name="TextBox 12"/>
          <p:cNvSpPr txBox="1"/>
          <p:nvPr/>
        </p:nvSpPr>
        <p:spPr>
          <a:xfrm>
            <a:off x="3840480" y="3099816"/>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14" name="TextBox 13"/>
          <p:cNvSpPr txBox="1"/>
          <p:nvPr/>
        </p:nvSpPr>
        <p:spPr>
          <a:xfrm>
            <a:off x="4517136" y="3099816"/>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async wait</a:t>
            </a:r>
          </a:p>
        </p:txBody>
      </p:sp>
      <p:sp>
        <p:nvSpPr>
          <p:cNvPr id="15" name="Rectangle 14"/>
          <p:cNvSpPr/>
          <p:nvPr/>
        </p:nvSpPr>
        <p:spPr>
          <a:xfrm>
            <a:off x="5074920" y="3145536"/>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74920" y="3145536"/>
            <a:ext cx="3090672"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76104" y="3099816"/>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13</a:t>
            </a:r>
          </a:p>
        </p:txBody>
      </p:sp>
      <p:sp>
        <p:nvSpPr>
          <p:cNvPr id="18" name="TextBox 17"/>
          <p:cNvSpPr txBox="1"/>
          <p:nvPr/>
        </p:nvSpPr>
        <p:spPr>
          <a:xfrm>
            <a:off x="658368" y="3483864"/>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order dependency</a:t>
            </a:r>
          </a:p>
        </p:txBody>
      </p:sp>
      <p:sp>
        <p:nvSpPr>
          <p:cNvPr id="19" name="TextBox 18"/>
          <p:cNvSpPr txBox="1"/>
          <p:nvPr/>
        </p:nvSpPr>
        <p:spPr>
          <a:xfrm>
            <a:off x="3840480" y="3483864"/>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20" name="TextBox 19"/>
          <p:cNvSpPr txBox="1"/>
          <p:nvPr/>
        </p:nvSpPr>
        <p:spPr>
          <a:xfrm>
            <a:off x="4517136" y="3483864"/>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concurrency</a:t>
            </a:r>
          </a:p>
        </p:txBody>
      </p:sp>
      <p:sp>
        <p:nvSpPr>
          <p:cNvPr id="21" name="Rectangle 20"/>
          <p:cNvSpPr/>
          <p:nvPr/>
        </p:nvSpPr>
        <p:spPr>
          <a:xfrm>
            <a:off x="5074920" y="3529584"/>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74920" y="3529584"/>
            <a:ext cx="2615184"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976104" y="3483864"/>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11</a:t>
            </a:r>
          </a:p>
        </p:txBody>
      </p:sp>
      <p:sp>
        <p:nvSpPr>
          <p:cNvPr id="24" name="TextBox 23"/>
          <p:cNvSpPr txBox="1"/>
          <p:nvPr/>
        </p:nvSpPr>
        <p:spPr>
          <a:xfrm>
            <a:off x="658368" y="3867911"/>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order dependency</a:t>
            </a:r>
          </a:p>
        </p:txBody>
      </p:sp>
      <p:sp>
        <p:nvSpPr>
          <p:cNvPr id="25" name="TextBox 24"/>
          <p:cNvSpPr txBox="1"/>
          <p:nvPr/>
        </p:nvSpPr>
        <p:spPr>
          <a:xfrm>
            <a:off x="3840480" y="3867911"/>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26" name="TextBox 25"/>
          <p:cNvSpPr txBox="1"/>
          <p:nvPr/>
        </p:nvSpPr>
        <p:spPr>
          <a:xfrm>
            <a:off x="4517136" y="3867911"/>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unordered coll.</a:t>
            </a:r>
          </a:p>
        </p:txBody>
      </p:sp>
      <p:sp>
        <p:nvSpPr>
          <p:cNvPr id="27" name="Rectangle 26"/>
          <p:cNvSpPr/>
          <p:nvPr/>
        </p:nvSpPr>
        <p:spPr>
          <a:xfrm>
            <a:off x="5074920" y="3913631"/>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074920" y="3913631"/>
            <a:ext cx="2377440"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76104" y="3867911"/>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10</a:t>
            </a:r>
          </a:p>
        </p:txBody>
      </p:sp>
      <p:sp>
        <p:nvSpPr>
          <p:cNvPr id="30" name="TextBox 29"/>
          <p:cNvSpPr txBox="1"/>
          <p:nvPr/>
        </p:nvSpPr>
        <p:spPr>
          <a:xfrm>
            <a:off x="658368" y="4251959"/>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async wait</a:t>
            </a:r>
          </a:p>
        </p:txBody>
      </p:sp>
      <p:sp>
        <p:nvSpPr>
          <p:cNvPr id="31" name="TextBox 30"/>
          <p:cNvSpPr txBox="1"/>
          <p:nvPr/>
        </p:nvSpPr>
        <p:spPr>
          <a:xfrm>
            <a:off x="3840480" y="4251959"/>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32" name="TextBox 31"/>
          <p:cNvSpPr txBox="1"/>
          <p:nvPr/>
        </p:nvSpPr>
        <p:spPr>
          <a:xfrm>
            <a:off x="4517136" y="4251959"/>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order dependency</a:t>
            </a:r>
          </a:p>
        </p:txBody>
      </p:sp>
      <p:sp>
        <p:nvSpPr>
          <p:cNvPr id="33" name="Rectangle 32"/>
          <p:cNvSpPr/>
          <p:nvPr/>
        </p:nvSpPr>
        <p:spPr>
          <a:xfrm>
            <a:off x="5074920" y="4297679"/>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74920" y="4297679"/>
            <a:ext cx="2377440"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976104" y="4251959"/>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10</a:t>
            </a:r>
          </a:p>
        </p:txBody>
      </p:sp>
      <p:sp>
        <p:nvSpPr>
          <p:cNvPr id="36" name="TextBox 35"/>
          <p:cNvSpPr txBox="1"/>
          <p:nvPr/>
        </p:nvSpPr>
        <p:spPr>
          <a:xfrm>
            <a:off x="658368" y="4636007"/>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async wait</a:t>
            </a:r>
          </a:p>
        </p:txBody>
      </p:sp>
      <p:sp>
        <p:nvSpPr>
          <p:cNvPr id="37" name="TextBox 36"/>
          <p:cNvSpPr txBox="1"/>
          <p:nvPr/>
        </p:nvSpPr>
        <p:spPr>
          <a:xfrm>
            <a:off x="3840480" y="4636007"/>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38" name="TextBox 37"/>
          <p:cNvSpPr txBox="1"/>
          <p:nvPr/>
        </p:nvSpPr>
        <p:spPr>
          <a:xfrm>
            <a:off x="4517136" y="4636007"/>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concurrency</a:t>
            </a:r>
          </a:p>
        </p:txBody>
      </p:sp>
      <p:sp>
        <p:nvSpPr>
          <p:cNvPr id="39" name="Rectangle 38"/>
          <p:cNvSpPr/>
          <p:nvPr/>
        </p:nvSpPr>
        <p:spPr>
          <a:xfrm>
            <a:off x="5074920" y="4681727"/>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074920" y="4681727"/>
            <a:ext cx="1664207"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976104" y="4636007"/>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7</a:t>
            </a:r>
          </a:p>
        </p:txBody>
      </p:sp>
      <p:sp>
        <p:nvSpPr>
          <p:cNvPr id="42" name="TextBox 41"/>
          <p:cNvSpPr txBox="1"/>
          <p:nvPr/>
        </p:nvSpPr>
        <p:spPr>
          <a:xfrm>
            <a:off x="658368" y="5020055"/>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order dependency</a:t>
            </a:r>
          </a:p>
        </p:txBody>
      </p:sp>
      <p:sp>
        <p:nvSpPr>
          <p:cNvPr id="43" name="TextBox 42"/>
          <p:cNvSpPr txBox="1"/>
          <p:nvPr/>
        </p:nvSpPr>
        <p:spPr>
          <a:xfrm>
            <a:off x="3840480" y="5020055"/>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44" name="TextBox 43"/>
          <p:cNvSpPr txBox="1"/>
          <p:nvPr/>
        </p:nvSpPr>
        <p:spPr>
          <a:xfrm>
            <a:off x="4517136" y="5020055"/>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time</a:t>
            </a:r>
          </a:p>
        </p:txBody>
      </p:sp>
      <p:sp>
        <p:nvSpPr>
          <p:cNvPr id="45" name="Rectangle 44"/>
          <p:cNvSpPr/>
          <p:nvPr/>
        </p:nvSpPr>
        <p:spPr>
          <a:xfrm>
            <a:off x="5074920" y="5065775"/>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74920" y="5065775"/>
            <a:ext cx="1426464"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976104" y="5020055"/>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6</a:t>
            </a:r>
          </a:p>
        </p:txBody>
      </p:sp>
      <p:sp>
        <p:nvSpPr>
          <p:cNvPr id="48" name="TextBox 47"/>
          <p:cNvSpPr txBox="1"/>
          <p:nvPr/>
        </p:nvSpPr>
        <p:spPr>
          <a:xfrm>
            <a:off x="658368" y="5404103"/>
            <a:ext cx="3108960" cy="274320"/>
          </a:xfrm>
          <a:prstGeom prst="rect">
            <a:avLst/>
          </a:prstGeom>
          <a:noFill/>
        </p:spPr>
        <p:txBody>
          <a:bodyPr wrap="square" lIns="0" tIns="0" rIns="0" bIns="0" anchor="t">
            <a:spAutoFit/>
          </a:bodyPr>
          <a:lstStyle/>
          <a:p>
            <a:pPr algn="r">
              <a:spcBef>
                <a:spcPts val="0"/>
              </a:spcBef>
              <a:spcAft>
                <a:spcPts val="0"/>
              </a:spcAft>
            </a:pPr>
            <a:r>
              <a:rPr sz="1300" b="0" i="0">
                <a:solidFill>
                  <a:srgbClr val="3D4653"/>
                </a:solidFill>
                <a:latin typeface="Consolas"/>
              </a:rPr>
              <a:t>async wait</a:t>
            </a:r>
          </a:p>
        </p:txBody>
      </p:sp>
      <p:sp>
        <p:nvSpPr>
          <p:cNvPr id="49" name="TextBox 48"/>
          <p:cNvSpPr txBox="1"/>
          <p:nvPr/>
        </p:nvSpPr>
        <p:spPr>
          <a:xfrm>
            <a:off x="3840480" y="5404103"/>
            <a:ext cx="640080" cy="274320"/>
          </a:xfrm>
          <a:prstGeom prst="rect">
            <a:avLst/>
          </a:prstGeom>
          <a:noFill/>
        </p:spPr>
        <p:txBody>
          <a:bodyPr wrap="square" lIns="0" tIns="0" rIns="0" bIns="0" anchor="t">
            <a:spAutoFit/>
          </a:bodyPr>
          <a:lstStyle/>
          <a:p>
            <a:pPr algn="ctr">
              <a:spcBef>
                <a:spcPts val="0"/>
              </a:spcBef>
              <a:spcAft>
                <a:spcPts val="0"/>
              </a:spcAft>
            </a:pPr>
            <a:r>
              <a:rPr sz="1100" b="0" i="1">
                <a:solidFill>
                  <a:srgbClr val="6B7684"/>
                </a:solidFill>
                <a:latin typeface="Calibri"/>
              </a:rPr>
              <a:t>read as</a:t>
            </a:r>
          </a:p>
        </p:txBody>
      </p:sp>
      <p:sp>
        <p:nvSpPr>
          <p:cNvPr id="50" name="TextBox 49"/>
          <p:cNvSpPr txBox="1"/>
          <p:nvPr/>
        </p:nvSpPr>
        <p:spPr>
          <a:xfrm>
            <a:off x="4517136" y="5404103"/>
            <a:ext cx="1143000" cy="274320"/>
          </a:xfrm>
          <a:prstGeom prst="rect">
            <a:avLst/>
          </a:prstGeom>
          <a:noFill/>
        </p:spPr>
        <p:txBody>
          <a:bodyPr wrap="square" lIns="0" tIns="0" rIns="0" bIns="0" anchor="t">
            <a:spAutoFit/>
          </a:bodyPr>
          <a:lstStyle/>
          <a:p>
            <a:pPr>
              <a:spcBef>
                <a:spcPts val="0"/>
              </a:spcBef>
              <a:spcAft>
                <a:spcPts val="0"/>
              </a:spcAft>
            </a:pPr>
            <a:r>
              <a:rPr sz="1300" b="0" i="0">
                <a:solidFill>
                  <a:srgbClr val="A8452B"/>
                </a:solidFill>
                <a:latin typeface="Consolas"/>
              </a:rPr>
              <a:t>unordered coll.</a:t>
            </a:r>
          </a:p>
        </p:txBody>
      </p:sp>
      <p:sp>
        <p:nvSpPr>
          <p:cNvPr id="51" name="Rectangle 50"/>
          <p:cNvSpPr/>
          <p:nvPr/>
        </p:nvSpPr>
        <p:spPr>
          <a:xfrm>
            <a:off x="5074920" y="5449823"/>
            <a:ext cx="4754880" cy="18288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074920" y="5449823"/>
            <a:ext cx="1188720" cy="18288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976104" y="5404103"/>
            <a:ext cx="457200" cy="274320"/>
          </a:xfrm>
          <a:prstGeom prst="rect">
            <a:avLst/>
          </a:prstGeom>
          <a:noFill/>
        </p:spPr>
        <p:txBody>
          <a:bodyPr wrap="square" lIns="0" tIns="0" rIns="0" bIns="0" anchor="t">
            <a:spAutoFit/>
          </a:bodyPr>
          <a:lstStyle/>
          <a:p>
            <a:pPr>
              <a:spcBef>
                <a:spcPts val="0"/>
              </a:spcBef>
              <a:spcAft>
                <a:spcPts val="0"/>
              </a:spcAft>
            </a:pPr>
            <a:r>
              <a:rPr sz="1300" b="0" i="0">
                <a:solidFill>
                  <a:srgbClr val="6B7684"/>
                </a:solidFill>
                <a:latin typeface="Consolas"/>
              </a:rPr>
              <a:t>5</a:t>
            </a:r>
          </a:p>
        </p:txBody>
      </p:sp>
      <p:sp>
        <p:nvSpPr>
          <p:cNvPr id="54" name="TextBox 53"/>
          <p:cNvSpPr txBox="1"/>
          <p:nvPr/>
        </p:nvSpPr>
        <p:spPr>
          <a:xfrm>
            <a:off x="658368" y="5806440"/>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500" b="0" i="0">
                <a:solidFill>
                  <a:srgbClr val="151A21"/>
                </a:solidFill>
                <a:latin typeface="Calibri"/>
              </a:rPr>
              <a:t>Order dependency is the largest flaky category and bleeds into every other. By definition it is a property of what happens BETWEEN tests, which a body-only encoder can never see.</a:t>
            </a:r>
          </a:p>
        </p:txBody>
      </p:sp>
      <p:sp>
        <p:nvSpPr>
          <p:cNvPr id="55" name="TextBox 54"/>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EXHIBIT 1 · TESTDFSIO · 5 TESTS, ALL WRONG</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The fixture states the dependency in a comment</a:t>
            </a:r>
          </a:p>
        </p:txBody>
      </p:sp>
      <p:sp>
        <p:nvSpPr>
          <p:cNvPr id="4" name="Rectangle 3"/>
          <p:cNvSpPr/>
          <p:nvPr/>
        </p:nvSpPr>
        <p:spPr>
          <a:xfrm>
            <a:off x="658368" y="1417320"/>
            <a:ext cx="173736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17320"/>
            <a:ext cx="17373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order dependency</a:t>
            </a:r>
          </a:p>
        </p:txBody>
      </p:sp>
      <p:sp>
        <p:nvSpPr>
          <p:cNvPr id="6" name="TextBox 5"/>
          <p:cNvSpPr txBox="1"/>
          <p:nvPr/>
        </p:nvSpPr>
        <p:spPr>
          <a:xfrm>
            <a:off x="2487168" y="1417320"/>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7" name="Rectangle 6"/>
          <p:cNvSpPr/>
          <p:nvPr/>
        </p:nvSpPr>
        <p:spPr>
          <a:xfrm>
            <a:off x="3236976" y="1417320"/>
            <a:ext cx="585216"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36976" y="1417320"/>
            <a:ext cx="585216"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time</a:t>
            </a:r>
          </a:p>
        </p:txBody>
      </p:sp>
      <p:sp>
        <p:nvSpPr>
          <p:cNvPr id="9" name="TextBox 8"/>
          <p:cNvSpPr txBox="1"/>
          <p:nvPr/>
        </p:nvSpPr>
        <p:spPr>
          <a:xfrm>
            <a:off x="658368" y="1901952"/>
            <a:ext cx="534924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What the encoder receives — five lines, one local named execTime.</a:t>
            </a:r>
          </a:p>
        </p:txBody>
      </p:sp>
      <p:sp>
        <p:nvSpPr>
          <p:cNvPr id="10" name="Rectangle 9"/>
          <p:cNvSpPr/>
          <p:nvPr/>
        </p:nvSpPr>
        <p:spPr>
          <a:xfrm>
            <a:off x="658368" y="2249424"/>
            <a:ext cx="5349240" cy="1815655"/>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395728"/>
            <a:ext cx="5056631" cy="1523047"/>
          </a:xfrm>
          <a:prstGeom prst="rect">
            <a:avLst/>
          </a:prstGeom>
          <a:noFill/>
        </p:spPr>
        <p:txBody>
          <a:bodyPr wrap="square" lIns="0" tIns="0" rIns="0" bIns="0" anchor="t">
            <a:spAutoFit/>
          </a:bodyPr>
          <a:lstStyle/>
          <a:p>
            <a:pPr>
              <a:lnSpc>
                <a:spcPct val="130000"/>
              </a:lnSpc>
              <a:spcBef>
                <a:spcPts val="0"/>
              </a:spcBef>
              <a:spcAft>
                <a:spcPts val="0"/>
              </a:spcAft>
            </a:pPr>
            <a:r>
              <a:rPr sz="1250" b="0" i="0">
                <a:solidFill>
                  <a:srgbClr val="6B7684"/>
                </a:solidFill>
                <a:latin typeface="Consolas"/>
              </a:rPr>
              <a:t>@Test (timeout = 10000)</a:t>
            </a:r>
          </a:p>
          <a:p>
            <a:pPr>
              <a:lnSpc>
                <a:spcPct val="130000"/>
              </a:lnSpc>
              <a:spcBef>
                <a:spcPts val="0"/>
              </a:spcBef>
              <a:spcAft>
                <a:spcPts val="0"/>
              </a:spcAft>
            </a:pPr>
            <a:r>
              <a:rPr sz="1250" b="0" i="0">
                <a:solidFill>
                  <a:srgbClr val="3D4653"/>
                </a:solidFill>
                <a:latin typeface="Consolas"/>
              </a:rPr>
              <a:t>public void testRead() throws Exception {</a:t>
            </a:r>
          </a:p>
          <a:p>
            <a:pPr>
              <a:lnSpc>
                <a:spcPct val="130000"/>
              </a:lnSpc>
              <a:spcBef>
                <a:spcPts val="0"/>
              </a:spcBef>
              <a:spcAft>
                <a:spcPts val="0"/>
              </a:spcAft>
            </a:pPr>
            <a:r>
              <a:rPr sz="1250" b="0" i="0">
                <a:solidFill>
                  <a:srgbClr val="3D4653"/>
                </a:solidFill>
                <a:latin typeface="Consolas"/>
              </a:rPr>
              <a:t>  FileSystem fs = cluster.getFileSystem();</a:t>
            </a:r>
          </a:p>
          <a:p>
            <a:pPr>
              <a:lnSpc>
                <a:spcPct val="130000"/>
              </a:lnSpc>
              <a:spcBef>
                <a:spcPts val="0"/>
              </a:spcBef>
              <a:spcAft>
                <a:spcPts val="0"/>
              </a:spcAft>
            </a:pPr>
            <a:r>
              <a:rPr sz="1250" b="0" i="0">
                <a:solidFill>
                  <a:srgbClr val="3D4653"/>
                </a:solidFill>
                <a:latin typeface="Consolas"/>
              </a:rPr>
              <a:t>  long execTime = bench.readTest(fs);</a:t>
            </a:r>
          </a:p>
          <a:p>
            <a:pPr>
              <a:lnSpc>
                <a:spcPct val="130000"/>
              </a:lnSpc>
              <a:spcBef>
                <a:spcPts val="0"/>
              </a:spcBef>
              <a:spcAft>
                <a:spcPts val="0"/>
              </a:spcAft>
            </a:pPr>
            <a:r>
              <a:rPr sz="1250" b="0" i="0">
                <a:solidFill>
                  <a:srgbClr val="3D4653"/>
                </a:solidFill>
                <a:latin typeface="Consolas"/>
              </a:rPr>
              <a:t>  bench.analyzeResult(fs, TEST_TYPE_READ, execTime);</a:t>
            </a:r>
          </a:p>
          <a:p>
            <a:pPr>
              <a:lnSpc>
                <a:spcPct val="130000"/>
              </a:lnSpc>
              <a:spcBef>
                <a:spcPts val="0"/>
              </a:spcBef>
              <a:spcAft>
                <a:spcPts val="0"/>
              </a:spcAft>
            </a:pPr>
            <a:r>
              <a:rPr sz="1250" b="0" i="0">
                <a:solidFill>
                  <a:srgbClr val="3D4653"/>
                </a:solidFill>
                <a:latin typeface="Consolas"/>
              </a:rPr>
              <a:t>}</a:t>
            </a:r>
          </a:p>
        </p:txBody>
      </p:sp>
      <p:sp>
        <p:nvSpPr>
          <p:cNvPr id="12" name="TextBox 11"/>
          <p:cNvSpPr txBox="1"/>
          <p:nvPr/>
        </p:nvSpPr>
        <p:spPr>
          <a:xfrm>
            <a:off x="6327648" y="1901952"/>
            <a:ext cx="530352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Forty lines higher in the same file.</a:t>
            </a:r>
          </a:p>
        </p:txBody>
      </p:sp>
      <p:sp>
        <p:nvSpPr>
          <p:cNvPr id="13" name="Rectangle 12"/>
          <p:cNvSpPr/>
          <p:nvPr/>
        </p:nvSpPr>
        <p:spPr>
          <a:xfrm>
            <a:off x="6327648" y="2249424"/>
            <a:ext cx="5486400" cy="3216859"/>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2395728"/>
            <a:ext cx="5193792" cy="2924251"/>
          </a:xfrm>
          <a:prstGeom prst="rect">
            <a:avLst/>
          </a:prstGeom>
          <a:noFill/>
        </p:spPr>
        <p:txBody>
          <a:bodyPr wrap="square" lIns="0" tIns="0" rIns="0" bIns="0" anchor="t">
            <a:spAutoFit/>
          </a:bodyPr>
          <a:lstStyle/>
          <a:p>
            <a:pPr>
              <a:lnSpc>
                <a:spcPct val="130000"/>
              </a:lnSpc>
              <a:spcBef>
                <a:spcPts val="0"/>
              </a:spcBef>
              <a:spcAft>
                <a:spcPts val="0"/>
              </a:spcAft>
            </a:pPr>
            <a:r>
              <a:rPr sz="1200" b="1" i="0">
                <a:solidFill>
                  <a:srgbClr val="A8452B"/>
                </a:solidFill>
                <a:latin typeface="Consolas"/>
              </a:rPr>
              <a:t>private static MiniDFSCluster cluster;</a:t>
            </a:r>
          </a:p>
          <a:p>
            <a:pPr>
              <a:lnSpc>
                <a:spcPct val="130000"/>
              </a:lnSpc>
              <a:spcBef>
                <a:spcPts val="0"/>
              </a:spcBef>
              <a:spcAft>
                <a:spcPts val="0"/>
              </a:spcAft>
            </a:pPr>
            <a:r>
              <a:rPr sz="1200" b="1" i="0">
                <a:solidFill>
                  <a:srgbClr val="A8452B"/>
                </a:solidFill>
                <a:latin typeface="Consolas"/>
              </a:rPr>
              <a:t>private static TestDFSIO bench;</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1" i="0">
                <a:solidFill>
                  <a:srgbClr val="A8452B"/>
                </a:solidFill>
                <a:latin typeface="Consolas"/>
              </a:rPr>
              <a:t>@BeforeClass</a:t>
            </a:r>
          </a:p>
          <a:p>
            <a:pPr>
              <a:lnSpc>
                <a:spcPct val="130000"/>
              </a:lnSpc>
              <a:spcBef>
                <a:spcPts val="0"/>
              </a:spcBef>
              <a:spcAft>
                <a:spcPts val="0"/>
              </a:spcAft>
            </a:pPr>
            <a:r>
              <a:rPr sz="1200" b="0" i="0">
                <a:solidFill>
                  <a:srgbClr val="3D4653"/>
                </a:solidFill>
                <a:latin typeface="Consolas"/>
              </a:rPr>
              <a:t>public static void beforeClass() throws Exception {</a:t>
            </a:r>
          </a:p>
          <a:p>
            <a:pPr>
              <a:lnSpc>
                <a:spcPct val="130000"/>
              </a:lnSpc>
              <a:spcBef>
                <a:spcPts val="0"/>
              </a:spcBef>
              <a:spcAft>
                <a:spcPts val="0"/>
              </a:spcAft>
            </a:pPr>
            <a:r>
              <a:rPr sz="1200" b="0" i="0">
                <a:solidFill>
                  <a:srgbClr val="3D4653"/>
                </a:solidFill>
                <a:latin typeface="Consolas"/>
              </a:rPr>
              <a:t>  cluster = new MiniDFSCluster.Builder(...).build();</a:t>
            </a:r>
          </a:p>
          <a:p>
            <a:pPr>
              <a:lnSpc>
                <a:spcPct val="130000"/>
              </a:lnSpc>
              <a:spcBef>
                <a:spcPts val="0"/>
              </a:spcBef>
              <a:spcAft>
                <a:spcPts val="0"/>
              </a:spcAft>
            </a:pPr>
            <a:r>
              <a:rPr sz="1200" b="0" i="0">
                <a:solidFill>
                  <a:srgbClr val="3D4653"/>
                </a:solidFill>
                <a:latin typeface="Consolas"/>
              </a:rPr>
              <a:t>  bench.createControlFile(fs, ...);</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1">
                <a:solidFill>
                  <a:srgbClr val="6B7684"/>
                </a:solidFill>
                <a:latin typeface="Consolas"/>
              </a:rPr>
              <a:t>  /** Check write here, as it is</a:t>
            </a:r>
          </a:p>
          <a:p>
            <a:pPr>
              <a:lnSpc>
                <a:spcPct val="130000"/>
              </a:lnSpc>
              <a:spcBef>
                <a:spcPts val="0"/>
              </a:spcBef>
              <a:spcAft>
                <a:spcPts val="0"/>
              </a:spcAft>
            </a:pPr>
            <a:r>
              <a:rPr sz="1200" b="0" i="1">
                <a:solidFill>
                  <a:srgbClr val="6B7684"/>
                </a:solidFill>
                <a:latin typeface="Consolas"/>
              </a:rPr>
              <a:t>      required for other tests */</a:t>
            </a:r>
          </a:p>
          <a:p>
            <a:pPr>
              <a:lnSpc>
                <a:spcPct val="130000"/>
              </a:lnSpc>
              <a:spcBef>
                <a:spcPts val="0"/>
              </a:spcBef>
              <a:spcAft>
                <a:spcPts val="0"/>
              </a:spcAft>
            </a:pPr>
            <a:r>
              <a:rPr sz="1200" b="1" i="0">
                <a:solidFill>
                  <a:srgbClr val="A8452B"/>
                </a:solidFill>
                <a:latin typeface="Consolas"/>
              </a:rPr>
              <a:t>  testWrite();</a:t>
            </a:r>
          </a:p>
          <a:p>
            <a:pPr>
              <a:lnSpc>
                <a:spcPct val="130000"/>
              </a:lnSpc>
              <a:spcBef>
                <a:spcPts val="0"/>
              </a:spcBef>
              <a:spcAft>
                <a:spcPts val="0"/>
              </a:spcAft>
            </a:pPr>
            <a:r>
              <a:rPr sz="1200" b="0" i="0">
                <a:solidFill>
                  <a:srgbClr val="3D4653"/>
                </a:solidFill>
                <a:latin typeface="Consolas"/>
              </a:rPr>
              <a:t>}</a:t>
            </a:r>
          </a:p>
        </p:txBody>
      </p:sp>
      <p:sp>
        <p:nvSpPr>
          <p:cNvPr id="15" name="TextBox 14"/>
          <p:cNvSpPr txBox="1"/>
          <p:nvPr/>
        </p:nvSpPr>
        <p:spPr>
          <a:xfrm>
            <a:off x="658368" y="4224528"/>
            <a:ext cx="5349240" cy="822960"/>
          </a:xfrm>
          <a:prstGeom prst="rect">
            <a:avLst/>
          </a:prstGeom>
          <a:noFill/>
        </p:spPr>
        <p:txBody>
          <a:bodyPr wrap="square" lIns="0" tIns="0" rIns="0" bIns="0" anchor="t">
            <a:spAutoFit/>
          </a:bodyPr>
          <a:lstStyle/>
          <a:p>
            <a:pPr>
              <a:lnSpc>
                <a:spcPct val="128000"/>
              </a:lnSpc>
              <a:spcBef>
                <a:spcPts val="0"/>
              </a:spcBef>
              <a:spcAft>
                <a:spcPts val="0"/>
              </a:spcAft>
            </a:pPr>
            <a:r>
              <a:rPr sz="1450" b="0" i="0">
                <a:solidFill>
                  <a:srgbClr val="3D4653"/>
                </a:solidFill>
                <a:latin typeface="Calibri"/>
              </a:rPr>
              <a:t>Static cluster, built once, no per-test reset. The files testRead reads are produced by testWrite. A sibling test compounds it:</a:t>
            </a:r>
          </a:p>
        </p:txBody>
      </p:sp>
      <p:sp>
        <p:nvSpPr>
          <p:cNvPr id="16" name="Rectangle 15"/>
          <p:cNvSpPr/>
          <p:nvPr/>
        </p:nvSpPr>
        <p:spPr>
          <a:xfrm>
            <a:off x="658368" y="4956048"/>
            <a:ext cx="5349240" cy="1267358"/>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5102352"/>
            <a:ext cx="5056631" cy="974750"/>
          </a:xfrm>
          <a:prstGeom prst="rect">
            <a:avLst/>
          </a:prstGeom>
          <a:noFill/>
        </p:spPr>
        <p:txBody>
          <a:bodyPr wrap="square" lIns="0" tIns="0" rIns="0" bIns="0" anchor="t">
            <a:spAutoFit/>
          </a:bodyPr>
          <a:lstStyle/>
          <a:p>
            <a:pPr>
              <a:lnSpc>
                <a:spcPct val="130000"/>
              </a:lnSpc>
              <a:spcBef>
                <a:spcPts val="0"/>
              </a:spcBef>
              <a:spcAft>
                <a:spcPts val="0"/>
              </a:spcAft>
            </a:pPr>
            <a:r>
              <a:rPr sz="1200" b="0" i="0">
                <a:solidFill>
                  <a:srgbClr val="3D4653"/>
                </a:solidFill>
                <a:latin typeface="Consolas"/>
              </a:rPr>
              <a:t>public void testReadRandom() throws Exception {</a:t>
            </a:r>
          </a:p>
          <a:p>
            <a:pPr>
              <a:lnSpc>
                <a:spcPct val="130000"/>
              </a:lnSpc>
              <a:spcBef>
                <a:spcPts val="0"/>
              </a:spcBef>
              <a:spcAft>
                <a:spcPts val="0"/>
              </a:spcAft>
            </a:pPr>
            <a:r>
              <a:rPr sz="1200" b="1" i="0">
                <a:solidFill>
                  <a:srgbClr val="A8452B"/>
                </a:solidFill>
                <a:latin typeface="Consolas"/>
              </a:rPr>
              <a:t>  bench.getConf().setLong("test.io.skip.size", 0);</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0">
                <a:solidFill>
                  <a:srgbClr val="3D4653"/>
                </a:solidFill>
                <a:latin typeface="Consolas"/>
              </a:rPr>
              <a:t>}</a:t>
            </a:r>
          </a:p>
        </p:txBody>
      </p:sp>
      <p:sp>
        <p:nvSpPr>
          <p:cNvPr id="18" name="TextBox 17"/>
          <p:cNvSpPr txBox="1"/>
          <p:nvPr/>
        </p:nvSpPr>
        <p:spPr>
          <a:xfrm>
            <a:off x="658368" y="6327648"/>
            <a:ext cx="10972800" cy="320040"/>
          </a:xfrm>
          <a:prstGeom prst="rect">
            <a:avLst/>
          </a:prstGeom>
          <a:noFill/>
        </p:spPr>
        <p:txBody>
          <a:bodyPr wrap="square" lIns="0" tIns="0" rIns="0" bIns="0" anchor="t">
            <a:spAutoFit/>
          </a:bodyPr>
          <a:lstStyle/>
          <a:p>
            <a:pPr>
              <a:spcBef>
                <a:spcPts val="0"/>
              </a:spcBef>
              <a:spcAft>
                <a:spcPts val="0"/>
              </a:spcAft>
            </a:pPr>
            <a:r>
              <a:rPr sz="1250" b="1" i="0">
                <a:solidFill>
                  <a:srgbClr val="2F4858"/>
                </a:solidFill>
                <a:latin typeface="Consolas"/>
              </a:rPr>
              <a:t>EVIDENCE AT:  class fixture and static fields. Zero hops into production code.</a:t>
            </a:r>
          </a:p>
        </p:txBody>
      </p:sp>
      <p:sp>
        <p:nvSpPr>
          <p:cNvPr id="19" name="TextBox 18"/>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EXHIBIT 2 · TESTPATHDATA · 4 WRONG, 3 RIGHT, SAME CLASS</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A helper that refutes the prediction outright</a:t>
            </a:r>
          </a:p>
        </p:txBody>
      </p:sp>
      <p:sp>
        <p:nvSpPr>
          <p:cNvPr id="4" name="Rectangle 3"/>
          <p:cNvSpPr/>
          <p:nvPr/>
        </p:nvSpPr>
        <p:spPr>
          <a:xfrm>
            <a:off x="658368" y="1417320"/>
            <a:ext cx="173736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17320"/>
            <a:ext cx="17373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order dependency</a:t>
            </a:r>
          </a:p>
        </p:txBody>
      </p:sp>
      <p:sp>
        <p:nvSpPr>
          <p:cNvPr id="6" name="TextBox 5"/>
          <p:cNvSpPr txBox="1"/>
          <p:nvPr/>
        </p:nvSpPr>
        <p:spPr>
          <a:xfrm>
            <a:off x="2487168" y="1417320"/>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7" name="Rectangle 6"/>
          <p:cNvSpPr/>
          <p:nvPr/>
        </p:nvSpPr>
        <p:spPr>
          <a:xfrm>
            <a:off x="3236976" y="1417320"/>
            <a:ext cx="2217420"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36976" y="1417320"/>
            <a:ext cx="221742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unordered collections</a:t>
            </a:r>
          </a:p>
        </p:txBody>
      </p:sp>
      <p:sp>
        <p:nvSpPr>
          <p:cNvPr id="9" name="TextBox 8"/>
          <p:cNvSpPr txBox="1"/>
          <p:nvPr/>
        </p:nvSpPr>
        <p:spPr>
          <a:xfrm>
            <a:off x="658368" y="1901952"/>
            <a:ext cx="548640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The three misses list a directory and compare against an expected set.</a:t>
            </a:r>
          </a:p>
        </p:txBody>
      </p:sp>
      <p:sp>
        <p:nvSpPr>
          <p:cNvPr id="10" name="Rectangle 9"/>
          <p:cNvSpPr/>
          <p:nvPr/>
        </p:nvSpPr>
        <p:spPr>
          <a:xfrm>
            <a:off x="658368" y="2249424"/>
            <a:ext cx="5486400" cy="1754733"/>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395728"/>
            <a:ext cx="5193792" cy="1462125"/>
          </a:xfrm>
          <a:prstGeom prst="rect">
            <a:avLst/>
          </a:prstGeom>
          <a:noFill/>
        </p:spPr>
        <p:txBody>
          <a:bodyPr wrap="square" lIns="0" tIns="0" rIns="0" bIns="0" anchor="t">
            <a:spAutoFit/>
          </a:bodyPr>
          <a:lstStyle/>
          <a:p>
            <a:pPr>
              <a:lnSpc>
                <a:spcPct val="130000"/>
              </a:lnSpc>
              <a:spcBef>
                <a:spcPts val="0"/>
              </a:spcBef>
              <a:spcAft>
                <a:spcPts val="0"/>
              </a:spcAft>
            </a:pPr>
            <a:r>
              <a:rPr sz="1200" b="0" i="0">
                <a:solidFill>
                  <a:srgbClr val="3D4653"/>
                </a:solidFill>
                <a:latin typeface="Consolas"/>
              </a:rPr>
              <a:t>public void testCwdContents() throws Exception {</a:t>
            </a:r>
          </a:p>
          <a:p>
            <a:pPr>
              <a:lnSpc>
                <a:spcPct val="130000"/>
              </a:lnSpc>
              <a:spcBef>
                <a:spcPts val="0"/>
              </a:spcBef>
              <a:spcAft>
                <a:spcPts val="0"/>
              </a:spcAft>
            </a:pPr>
            <a:r>
              <a:rPr sz="1200" b="0" i="0">
                <a:solidFill>
                  <a:srgbClr val="3D4653"/>
                </a:solidFill>
                <a:latin typeface="Consolas"/>
              </a:rPr>
              <a:t>  PathData item = new PathData(Path.CUR_DIR, conf);</a:t>
            </a:r>
          </a:p>
          <a:p>
            <a:pPr>
              <a:lnSpc>
                <a:spcPct val="130000"/>
              </a:lnSpc>
              <a:spcBef>
                <a:spcPts val="0"/>
              </a:spcBef>
              <a:spcAft>
                <a:spcPts val="0"/>
              </a:spcAft>
            </a:pPr>
            <a:r>
              <a:rPr sz="1200" b="0" i="0">
                <a:solidFill>
                  <a:srgbClr val="3D4653"/>
                </a:solidFill>
                <a:latin typeface="Consolas"/>
              </a:rPr>
              <a:t>  PathData[] items = item.getDirectoryContents();</a:t>
            </a:r>
          </a:p>
          <a:p>
            <a:pPr>
              <a:lnSpc>
                <a:spcPct val="130000"/>
              </a:lnSpc>
              <a:spcBef>
                <a:spcPts val="0"/>
              </a:spcBef>
              <a:spcAft>
                <a:spcPts val="0"/>
              </a:spcAft>
            </a:pPr>
            <a:r>
              <a:rPr sz="1200" b="0" i="0">
                <a:solidFill>
                  <a:srgbClr val="3D4653"/>
                </a:solidFill>
                <a:latin typeface="Consolas"/>
              </a:rPr>
              <a:t>  assertEquals(sortedString("d1", "d2"),</a:t>
            </a:r>
          </a:p>
          <a:p>
            <a:pPr>
              <a:lnSpc>
                <a:spcPct val="130000"/>
              </a:lnSpc>
              <a:spcBef>
                <a:spcPts val="0"/>
              </a:spcBef>
              <a:spcAft>
                <a:spcPts val="0"/>
              </a:spcAft>
            </a:pPr>
            <a:r>
              <a:rPr sz="1200" b="0" i="0">
                <a:solidFill>
                  <a:srgbClr val="3D4653"/>
                </a:solidFill>
                <a:latin typeface="Consolas"/>
              </a:rPr>
              <a:t>               sortedString(items));</a:t>
            </a:r>
          </a:p>
          <a:p>
            <a:pPr>
              <a:lnSpc>
                <a:spcPct val="130000"/>
              </a:lnSpc>
              <a:spcBef>
                <a:spcPts val="0"/>
              </a:spcBef>
              <a:spcAft>
                <a:spcPts val="0"/>
              </a:spcAft>
            </a:pPr>
            <a:r>
              <a:rPr sz="1200" b="0" i="0">
                <a:solidFill>
                  <a:srgbClr val="3D4653"/>
                </a:solidFill>
                <a:latin typeface="Consolas"/>
              </a:rPr>
              <a:t>}</a:t>
            </a:r>
          </a:p>
        </p:txBody>
      </p:sp>
      <p:sp>
        <p:nvSpPr>
          <p:cNvPr id="12" name="TextBox 11"/>
          <p:cNvSpPr txBox="1"/>
          <p:nvPr/>
        </p:nvSpPr>
        <p:spPr>
          <a:xfrm>
            <a:off x="6464807" y="1901952"/>
            <a:ext cx="512064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The helper it calls twice, same file, private.</a:t>
            </a:r>
          </a:p>
        </p:txBody>
      </p:sp>
      <p:sp>
        <p:nvSpPr>
          <p:cNvPr id="13" name="Rectangle 12"/>
          <p:cNvSpPr/>
          <p:nvPr/>
        </p:nvSpPr>
        <p:spPr>
          <a:xfrm>
            <a:off x="6464807" y="2249424"/>
            <a:ext cx="5349240" cy="1998421"/>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11112" y="2395728"/>
            <a:ext cx="5056631" cy="1705813"/>
          </a:xfrm>
          <a:prstGeom prst="rect">
            <a:avLst/>
          </a:prstGeom>
          <a:noFill/>
        </p:spPr>
        <p:txBody>
          <a:bodyPr wrap="square" lIns="0" tIns="0" rIns="0" bIns="0" anchor="t">
            <a:spAutoFit/>
          </a:bodyPr>
          <a:lstStyle/>
          <a:p>
            <a:pPr>
              <a:lnSpc>
                <a:spcPct val="130000"/>
              </a:lnSpc>
              <a:spcBef>
                <a:spcPts val="0"/>
              </a:spcBef>
              <a:spcAft>
                <a:spcPts val="0"/>
              </a:spcAft>
            </a:pPr>
            <a:r>
              <a:rPr sz="1200" b="0" i="0">
                <a:solidFill>
                  <a:srgbClr val="3D4653"/>
                </a:solidFill>
                <a:latin typeface="Consolas"/>
              </a:rPr>
              <a:t>private static String sortedString(Object ... list) {</a:t>
            </a:r>
          </a:p>
          <a:p>
            <a:pPr>
              <a:lnSpc>
                <a:spcPct val="130000"/>
              </a:lnSpc>
              <a:spcBef>
                <a:spcPts val="0"/>
              </a:spcBef>
              <a:spcAft>
                <a:spcPts val="0"/>
              </a:spcAft>
            </a:pPr>
            <a:r>
              <a:rPr sz="1200" b="0" i="0">
                <a:solidFill>
                  <a:srgbClr val="3D4653"/>
                </a:solidFill>
                <a:latin typeface="Consolas"/>
              </a:rPr>
              <a:t>  String[] strings = new String[list.length];</a:t>
            </a:r>
          </a:p>
          <a:p>
            <a:pPr>
              <a:lnSpc>
                <a:spcPct val="130000"/>
              </a:lnSpc>
              <a:spcBef>
                <a:spcPts val="0"/>
              </a:spcBef>
              <a:spcAft>
                <a:spcPts val="0"/>
              </a:spcAft>
            </a:pPr>
            <a:r>
              <a:rPr sz="1200" b="0" i="0">
                <a:solidFill>
                  <a:srgbClr val="3D4653"/>
                </a:solidFill>
                <a:latin typeface="Consolas"/>
              </a:rPr>
              <a:t>  for (int i=0; i &lt; list.length; i++)</a:t>
            </a:r>
          </a:p>
          <a:p>
            <a:pPr>
              <a:lnSpc>
                <a:spcPct val="130000"/>
              </a:lnSpc>
              <a:spcBef>
                <a:spcPts val="0"/>
              </a:spcBef>
              <a:spcAft>
                <a:spcPts val="0"/>
              </a:spcAft>
            </a:pPr>
            <a:r>
              <a:rPr sz="1200" b="0" i="0">
                <a:solidFill>
                  <a:srgbClr val="3D4653"/>
                </a:solidFill>
                <a:latin typeface="Consolas"/>
              </a:rPr>
              <a:t>    strings[i] = String.valueOf(list[i]);</a:t>
            </a:r>
          </a:p>
          <a:p>
            <a:pPr>
              <a:lnSpc>
                <a:spcPct val="130000"/>
              </a:lnSpc>
              <a:spcBef>
                <a:spcPts val="0"/>
              </a:spcBef>
              <a:spcAft>
                <a:spcPts val="0"/>
              </a:spcAft>
            </a:pPr>
            <a:r>
              <a:rPr sz="1200" b="1" i="0">
                <a:solidFill>
                  <a:srgbClr val="A8452B"/>
                </a:solidFill>
                <a:latin typeface="Consolas"/>
              </a:rPr>
              <a:t>  Arrays.sort(strings);</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0">
                <a:solidFill>
                  <a:srgbClr val="3D4653"/>
                </a:solidFill>
                <a:latin typeface="Consolas"/>
              </a:rPr>
              <a:t>}</a:t>
            </a:r>
          </a:p>
        </p:txBody>
      </p:sp>
      <p:sp>
        <p:nvSpPr>
          <p:cNvPr id="15" name="TextBox 14"/>
          <p:cNvSpPr txBox="1"/>
          <p:nvPr/>
        </p:nvSpPr>
        <p:spPr>
          <a:xfrm>
            <a:off x="658368" y="4370832"/>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500" b="0" i="0">
                <a:solidFill>
                  <a:srgbClr val="151A21"/>
                </a:solidFill>
                <a:latin typeface="Calibri"/>
              </a:rPr>
              <a:t>The test sorts BOTH sides. Iteration order cannot flake it. The real dependency is in the fixture, on a FileSystem that Hadoop hands out from a process-wide cache:</a:t>
            </a:r>
          </a:p>
        </p:txBody>
      </p:sp>
      <p:sp>
        <p:nvSpPr>
          <p:cNvPr id="16" name="Rectangle 15"/>
          <p:cNvSpPr/>
          <p:nvPr/>
        </p:nvSpPr>
        <p:spPr>
          <a:xfrm>
            <a:off x="658368" y="4901184"/>
            <a:ext cx="7680960" cy="1436065"/>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5047488"/>
            <a:ext cx="7388352" cy="1143457"/>
          </a:xfrm>
          <a:prstGeom prst="rect">
            <a:avLst/>
          </a:prstGeom>
          <a:noFill/>
        </p:spPr>
        <p:txBody>
          <a:bodyPr wrap="square" lIns="0" tIns="0" rIns="0" bIns="0" anchor="t">
            <a:spAutoFit/>
          </a:bodyPr>
          <a:lstStyle/>
          <a:p>
            <a:pPr>
              <a:lnSpc>
                <a:spcPct val="122000"/>
              </a:lnSpc>
              <a:spcBef>
                <a:spcPts val="0"/>
              </a:spcBef>
              <a:spcAft>
                <a:spcPts val="0"/>
              </a:spcAft>
            </a:pPr>
            <a:r>
              <a:rPr sz="1200" b="0" i="0">
                <a:solidFill>
                  <a:srgbClr val="3D4653"/>
                </a:solidFill>
                <a:latin typeface="Consolas"/>
              </a:rPr>
              <a:t>public void initialize() throws Exception {   // @Before</a:t>
            </a:r>
          </a:p>
          <a:p>
            <a:pPr>
              <a:lnSpc>
                <a:spcPct val="122000"/>
              </a:lnSpc>
              <a:spcBef>
                <a:spcPts val="0"/>
              </a:spcBef>
              <a:spcAft>
                <a:spcPts val="0"/>
              </a:spcAft>
            </a:pPr>
            <a:r>
              <a:rPr sz="1200" b="0" i="1">
                <a:solidFill>
                  <a:srgbClr val="6B7684"/>
                </a:solidFill>
                <a:latin typeface="Consolas"/>
              </a:rPr>
              <a:t>  fs = FileSystem.getLocal(conf);      // process-wide cache</a:t>
            </a:r>
          </a:p>
          <a:p>
            <a:pPr>
              <a:lnSpc>
                <a:spcPct val="122000"/>
              </a:lnSpc>
              <a:spcBef>
                <a:spcPts val="0"/>
              </a:spcBef>
              <a:spcAft>
                <a:spcPts val="0"/>
              </a:spcAft>
            </a:pPr>
            <a:r>
              <a:rPr sz="1200" b="1" i="0">
                <a:solidFill>
                  <a:srgbClr val="A8452B"/>
                </a:solidFill>
                <a:latin typeface="Consolas"/>
              </a:rPr>
              <a:t>  FileSystem.setDefaultUri(conf, fs.getUri());</a:t>
            </a:r>
          </a:p>
          <a:p>
            <a:pPr>
              <a:lnSpc>
                <a:spcPct val="122000"/>
              </a:lnSpc>
              <a:spcBef>
                <a:spcPts val="0"/>
              </a:spcBef>
              <a:spcAft>
                <a:spcPts val="0"/>
              </a:spcAft>
            </a:pPr>
            <a:r>
              <a:rPr sz="1200" b="1" i="0">
                <a:solidFill>
                  <a:srgbClr val="A8452B"/>
                </a:solidFill>
                <a:latin typeface="Consolas"/>
              </a:rPr>
              <a:t>  fs.setWorkingDirectory(testDir);</a:t>
            </a:r>
          </a:p>
          <a:p>
            <a:pPr>
              <a:lnSpc>
                <a:spcPct val="122000"/>
              </a:lnSpc>
              <a:spcBef>
                <a:spcPts val="0"/>
              </a:spcBef>
              <a:spcAft>
                <a:spcPts val="0"/>
              </a:spcAft>
            </a:pPr>
            <a:r>
              <a:rPr sz="1200" b="0" i="0">
                <a:solidFill>
                  <a:srgbClr val="3D4653"/>
                </a:solidFill>
                <a:latin typeface="Consolas"/>
              </a:rPr>
              <a:t>}</a:t>
            </a:r>
          </a:p>
        </p:txBody>
      </p:sp>
      <p:sp>
        <p:nvSpPr>
          <p:cNvPr id="18" name="TextBox 17"/>
          <p:cNvSpPr txBox="1"/>
          <p:nvPr/>
        </p:nvSpPr>
        <p:spPr>
          <a:xfrm>
            <a:off x="658368" y="6382512"/>
            <a:ext cx="10972800" cy="320040"/>
          </a:xfrm>
          <a:prstGeom prst="rect">
            <a:avLst/>
          </a:prstGeom>
          <a:noFill/>
        </p:spPr>
        <p:txBody>
          <a:bodyPr wrap="square" lIns="0" tIns="0" rIns="0" bIns="0" anchor="t">
            <a:spAutoFit/>
          </a:bodyPr>
          <a:lstStyle/>
          <a:p>
            <a:pPr>
              <a:spcBef>
                <a:spcPts val="0"/>
              </a:spcBef>
              <a:spcAft>
                <a:spcPts val="0"/>
              </a:spcAft>
            </a:pPr>
            <a:r>
              <a:rPr sz="1250" b="1" i="0">
                <a:solidFill>
                  <a:srgbClr val="2F4858"/>
                </a:solidFill>
                <a:latin typeface="Consolas"/>
              </a:rPr>
              <a:t>EVIDENCE AT:  same-file helper rules OUT the prediction; fixture supplies the truth.</a:t>
            </a:r>
          </a:p>
        </p:txBody>
      </p:sp>
      <p:sp>
        <p:nvSpPr>
          <p:cNvPr id="19" name="TextBox 18"/>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EXHIBIT 3 · TESTMETRICSSYSTEMIMPL</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Two hops from the body to the hash map</a:t>
            </a:r>
          </a:p>
        </p:txBody>
      </p:sp>
      <p:sp>
        <p:nvSpPr>
          <p:cNvPr id="4" name="Rectangle 3"/>
          <p:cNvSpPr/>
          <p:nvPr/>
        </p:nvSpPr>
        <p:spPr>
          <a:xfrm>
            <a:off x="658368" y="1417320"/>
            <a:ext cx="221742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17320"/>
            <a:ext cx="221742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unordered collections</a:t>
            </a:r>
          </a:p>
        </p:txBody>
      </p:sp>
      <p:sp>
        <p:nvSpPr>
          <p:cNvPr id="6" name="TextBox 5"/>
          <p:cNvSpPr txBox="1"/>
          <p:nvPr/>
        </p:nvSpPr>
        <p:spPr>
          <a:xfrm>
            <a:off x="2967228" y="1417320"/>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7" name="Rectangle 6"/>
          <p:cNvSpPr/>
          <p:nvPr/>
        </p:nvSpPr>
        <p:spPr>
          <a:xfrm>
            <a:off x="3717036" y="1417320"/>
            <a:ext cx="1161288"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17036" y="1417320"/>
            <a:ext cx="1161288"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async wait</a:t>
            </a:r>
          </a:p>
        </p:txBody>
      </p:sp>
      <p:sp>
        <p:nvSpPr>
          <p:cNvPr id="9" name="TextBox 8"/>
          <p:cNvSpPr txBox="1"/>
          <p:nvPr/>
        </p:nvSpPr>
        <p:spPr>
          <a:xfrm>
            <a:off x="658368" y="1901952"/>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Body ends on a Mockito timeout, a strong async token, and holds no collection.</a:t>
            </a:r>
          </a:p>
        </p:txBody>
      </p:sp>
      <p:sp>
        <p:nvSpPr>
          <p:cNvPr id="10" name="Rectangle 9"/>
          <p:cNvSpPr/>
          <p:nvPr/>
        </p:nvSpPr>
        <p:spPr>
          <a:xfrm>
            <a:off x="658368" y="2231136"/>
            <a:ext cx="10881360" cy="1007268"/>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377440"/>
            <a:ext cx="10588752" cy="714660"/>
          </a:xfrm>
          <a:prstGeom prst="rect">
            <a:avLst/>
          </a:prstGeom>
          <a:noFill/>
        </p:spPr>
        <p:txBody>
          <a:bodyPr wrap="square" lIns="0" tIns="0" rIns="0" bIns="0" anchor="t">
            <a:spAutoFit/>
          </a:bodyPr>
          <a:lstStyle/>
          <a:p>
            <a:pPr>
              <a:lnSpc>
                <a:spcPct val="122000"/>
              </a:lnSpc>
              <a:spcBef>
                <a:spcPts val="0"/>
              </a:spcBef>
              <a:spcAft>
                <a:spcPts val="0"/>
              </a:spcAft>
            </a:pPr>
            <a:r>
              <a:rPr sz="1250" b="0" i="0">
                <a:solidFill>
                  <a:srgbClr val="3D4653"/>
                </a:solidFill>
                <a:latin typeface="Consolas"/>
              </a:rPr>
              <a:t>verify(sink1, timeout(200).times(2)).putMetrics(r1.capture());</a:t>
            </a:r>
          </a:p>
          <a:p>
            <a:pPr>
              <a:lnSpc>
                <a:spcPct val="122000"/>
              </a:lnSpc>
              <a:spcBef>
                <a:spcPts val="0"/>
              </a:spcBef>
              <a:spcAft>
                <a:spcPts val="0"/>
              </a:spcAft>
            </a:pPr>
            <a:r>
              <a:rPr sz="1250" b="0" i="0">
                <a:solidFill>
                  <a:srgbClr val="3D4653"/>
                </a:solidFill>
                <a:latin typeface="Consolas"/>
              </a:rPr>
              <a:t>List&lt;MetricsRecord&gt; mr1 = r1.getAllValues();</a:t>
            </a:r>
          </a:p>
          <a:p>
            <a:pPr>
              <a:lnSpc>
                <a:spcPct val="122000"/>
              </a:lnSpc>
              <a:spcBef>
                <a:spcPts val="0"/>
              </a:spcBef>
              <a:spcAft>
                <a:spcPts val="0"/>
              </a:spcAft>
            </a:pPr>
            <a:r>
              <a:rPr sz="1250" b="1" i="0">
                <a:solidFill>
                  <a:srgbClr val="2F4858"/>
                </a:solidFill>
                <a:latin typeface="Consolas"/>
              </a:rPr>
              <a:t>checkMetricsRecords(mr1);</a:t>
            </a:r>
          </a:p>
        </p:txBody>
      </p:sp>
      <p:sp>
        <p:nvSpPr>
          <p:cNvPr id="12" name="TextBox 11"/>
          <p:cNvSpPr txBox="1"/>
          <p:nvPr/>
        </p:nvSpPr>
        <p:spPr>
          <a:xfrm>
            <a:off x="658368" y="3255264"/>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Hop 1 — the helper asserts against fixed positions in that list.</a:t>
            </a:r>
          </a:p>
        </p:txBody>
      </p:sp>
      <p:sp>
        <p:nvSpPr>
          <p:cNvPr id="13" name="Rectangle 12"/>
          <p:cNvSpPr/>
          <p:nvPr/>
        </p:nvSpPr>
        <p:spPr>
          <a:xfrm>
            <a:off x="658368" y="3584448"/>
            <a:ext cx="10881360" cy="1483709"/>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3730752"/>
            <a:ext cx="10588752" cy="1191101"/>
          </a:xfrm>
          <a:prstGeom prst="rect">
            <a:avLst/>
          </a:prstGeom>
          <a:noFill/>
        </p:spPr>
        <p:txBody>
          <a:bodyPr wrap="square" lIns="0" tIns="0" rIns="0" bIns="0" anchor="t">
            <a:spAutoFit/>
          </a:bodyPr>
          <a:lstStyle/>
          <a:p>
            <a:pPr>
              <a:lnSpc>
                <a:spcPct val="122000"/>
              </a:lnSpc>
              <a:spcBef>
                <a:spcPts val="0"/>
              </a:spcBef>
              <a:spcAft>
                <a:spcPts val="0"/>
              </a:spcAft>
            </a:pPr>
            <a:r>
              <a:rPr sz="1250" b="0" i="0">
                <a:solidFill>
                  <a:srgbClr val="3D4653"/>
                </a:solidFill>
                <a:latin typeface="Consolas"/>
              </a:rPr>
              <a:t>private void checkMetricsRecords(List&lt;MetricsRecord&gt; recs) {</a:t>
            </a:r>
          </a:p>
          <a:p>
            <a:pPr>
              <a:lnSpc>
                <a:spcPct val="122000"/>
              </a:lnSpc>
              <a:spcBef>
                <a:spcPts val="0"/>
              </a:spcBef>
              <a:spcAft>
                <a:spcPts val="0"/>
              </a:spcAft>
            </a:pPr>
            <a:r>
              <a:rPr sz="1250" b="1" i="0">
                <a:solidFill>
                  <a:srgbClr val="A8452B"/>
                </a:solidFill>
                <a:latin typeface="Consolas"/>
              </a:rPr>
              <a:t>  MetricsRecord r = recs.get(0);</a:t>
            </a:r>
          </a:p>
          <a:p>
            <a:pPr>
              <a:lnSpc>
                <a:spcPct val="122000"/>
              </a:lnSpc>
              <a:spcBef>
                <a:spcPts val="0"/>
              </a:spcBef>
              <a:spcAft>
                <a:spcPts val="0"/>
              </a:spcAft>
            </a:pPr>
            <a:r>
              <a:rPr sz="1250" b="0" i="0">
                <a:solidFill>
                  <a:srgbClr val="3D4653"/>
                </a:solidFill>
                <a:latin typeface="Consolas"/>
              </a:rPr>
              <a:t>  assertEquals("name", "s1rec", r.name());</a:t>
            </a:r>
          </a:p>
          <a:p>
            <a:pPr>
              <a:lnSpc>
                <a:spcPct val="122000"/>
              </a:lnSpc>
              <a:spcBef>
                <a:spcPts val="0"/>
              </a:spcBef>
              <a:spcAft>
                <a:spcPts val="0"/>
              </a:spcAft>
            </a:pPr>
            <a:r>
              <a:rPr sz="1250" b="1" i="0">
                <a:solidFill>
                  <a:srgbClr val="A8452B"/>
                </a:solidFill>
                <a:latin typeface="Consolas"/>
              </a:rPr>
              <a:t>  r = recs.get(1);</a:t>
            </a:r>
          </a:p>
          <a:p>
            <a:pPr>
              <a:lnSpc>
                <a:spcPct val="122000"/>
              </a:lnSpc>
              <a:spcBef>
                <a:spcPts val="0"/>
              </a:spcBef>
              <a:spcAft>
                <a:spcPts val="0"/>
              </a:spcAft>
            </a:pPr>
            <a:r>
              <a:rPr sz="1250" b="0" i="0">
                <a:solidFill>
                  <a:srgbClr val="3D4653"/>
                </a:solidFill>
                <a:latin typeface="Consolas"/>
              </a:rPr>
              <a:t>}</a:t>
            </a:r>
          </a:p>
        </p:txBody>
      </p:sp>
      <p:sp>
        <p:nvSpPr>
          <p:cNvPr id="15" name="TextBox 14"/>
          <p:cNvSpPr txBox="1"/>
          <p:nvPr/>
        </p:nvSpPr>
        <p:spPr>
          <a:xfrm>
            <a:off x="658368" y="5029200"/>
            <a:ext cx="10874959"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Hop 2 — the production class says what fills those positions.</a:t>
            </a:r>
          </a:p>
        </p:txBody>
      </p:sp>
      <p:sp>
        <p:nvSpPr>
          <p:cNvPr id="16" name="Rectangle 15"/>
          <p:cNvSpPr/>
          <p:nvPr/>
        </p:nvSpPr>
        <p:spPr>
          <a:xfrm>
            <a:off x="658368" y="5358384"/>
            <a:ext cx="10881360" cy="1007268"/>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5504688"/>
            <a:ext cx="10588752" cy="714660"/>
          </a:xfrm>
          <a:prstGeom prst="rect">
            <a:avLst/>
          </a:prstGeom>
          <a:noFill/>
        </p:spPr>
        <p:txBody>
          <a:bodyPr wrap="square" lIns="0" tIns="0" rIns="0" bIns="0" anchor="t">
            <a:spAutoFit/>
          </a:bodyPr>
          <a:lstStyle/>
          <a:p>
            <a:pPr>
              <a:lnSpc>
                <a:spcPct val="122000"/>
              </a:lnSpc>
              <a:spcBef>
                <a:spcPts val="0"/>
              </a:spcBef>
              <a:spcAft>
                <a:spcPts val="0"/>
              </a:spcAft>
            </a:pPr>
            <a:r>
              <a:rPr sz="1250" b="0" i="1">
                <a:solidFill>
                  <a:srgbClr val="6B7684"/>
                </a:solidFill>
                <a:latin typeface="Consolas"/>
              </a:rPr>
              <a:t>// MetricsSystemImpl.java</a:t>
            </a:r>
          </a:p>
          <a:p>
            <a:pPr>
              <a:lnSpc>
                <a:spcPct val="122000"/>
              </a:lnSpc>
              <a:spcBef>
                <a:spcPts val="0"/>
              </a:spcBef>
              <a:spcAft>
                <a:spcPts val="0"/>
              </a:spcAft>
            </a:pPr>
            <a:r>
              <a:rPr sz="1250" b="1" i="0">
                <a:solidFill>
                  <a:srgbClr val="A8452B"/>
                </a:solidFill>
                <a:latin typeface="Consolas"/>
              </a:rPr>
              <a:t>allSources = Maps.newHashMap();</a:t>
            </a:r>
          </a:p>
          <a:p>
            <a:pPr>
              <a:lnSpc>
                <a:spcPct val="122000"/>
              </a:lnSpc>
              <a:spcBef>
                <a:spcPts val="0"/>
              </a:spcBef>
              <a:spcAft>
                <a:spcPts val="0"/>
              </a:spcAft>
            </a:pPr>
            <a:r>
              <a:rPr sz="1250" b="1" i="0">
                <a:solidFill>
                  <a:srgbClr val="A8452B"/>
                </a:solidFill>
                <a:latin typeface="Consolas"/>
              </a:rPr>
              <a:t>for (Entry&lt;String, MetricsSourceAdapter&gt; entry : sources.entrySet()) { ... }</a:t>
            </a:r>
          </a:p>
        </p:txBody>
      </p:sp>
      <p:sp>
        <p:nvSpPr>
          <p:cNvPr id="18" name="TextBox 17"/>
          <p:cNvSpPr txBox="1"/>
          <p:nvPr/>
        </p:nvSpPr>
        <p:spPr>
          <a:xfrm>
            <a:off x="658368" y="6382512"/>
            <a:ext cx="10972800" cy="320040"/>
          </a:xfrm>
          <a:prstGeom prst="rect">
            <a:avLst/>
          </a:prstGeom>
          <a:noFill/>
        </p:spPr>
        <p:txBody>
          <a:bodyPr wrap="square" lIns="0" tIns="0" rIns="0" bIns="0" anchor="t">
            <a:spAutoFit/>
          </a:bodyPr>
          <a:lstStyle/>
          <a:p>
            <a:pPr>
              <a:spcBef>
                <a:spcPts val="0"/>
              </a:spcBef>
              <a:spcAft>
                <a:spcPts val="0"/>
              </a:spcAft>
            </a:pPr>
            <a:r>
              <a:rPr sz="1300" b="1" i="0">
                <a:solidFill>
                  <a:srgbClr val="2F4858"/>
                </a:solidFill>
                <a:latin typeface="Calibri"/>
              </a:rPr>
              <a:t>A hash map decides which record lands at index zero, and the test asserts on index zero.</a:t>
            </a:r>
          </a:p>
        </p:txBody>
      </p:sp>
      <p:sp>
        <p:nvSpPr>
          <p:cNvPr id="19" name="TextBox 18"/>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EXHIBIT 4 · TESTPEERCACHE · 3 TESTS, ALL WRONG</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Nothing in the test class carries it</a:t>
            </a:r>
          </a:p>
        </p:txBody>
      </p:sp>
      <p:sp>
        <p:nvSpPr>
          <p:cNvPr id="4" name="Rectangle 3"/>
          <p:cNvSpPr/>
          <p:nvPr/>
        </p:nvSpPr>
        <p:spPr>
          <a:xfrm>
            <a:off x="658368" y="1417320"/>
            <a:ext cx="173736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417320"/>
            <a:ext cx="17373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order dependency</a:t>
            </a:r>
          </a:p>
        </p:txBody>
      </p:sp>
      <p:sp>
        <p:nvSpPr>
          <p:cNvPr id="6" name="TextBox 5"/>
          <p:cNvSpPr txBox="1"/>
          <p:nvPr/>
        </p:nvSpPr>
        <p:spPr>
          <a:xfrm>
            <a:off x="2487168" y="1417320"/>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7" name="Rectangle 6"/>
          <p:cNvSpPr/>
          <p:nvPr/>
        </p:nvSpPr>
        <p:spPr>
          <a:xfrm>
            <a:off x="3236976" y="1417320"/>
            <a:ext cx="1161288"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36976" y="1417320"/>
            <a:ext cx="1161288"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async wait</a:t>
            </a:r>
          </a:p>
        </p:txBody>
      </p:sp>
      <p:sp>
        <p:nvSpPr>
          <p:cNvPr id="9" name="TextBox 8"/>
          <p:cNvSpPr txBox="1"/>
          <p:nvPr/>
        </p:nvSpPr>
        <p:spPr>
          <a:xfrm>
            <a:off x="658368" y="1901952"/>
            <a:ext cx="534924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No static field, no fixture, no threading vocabulary in the test class.</a:t>
            </a:r>
          </a:p>
        </p:txBody>
      </p:sp>
      <p:sp>
        <p:nvSpPr>
          <p:cNvPr id="10" name="Rectangle 9"/>
          <p:cNvSpPr/>
          <p:nvPr/>
        </p:nvSpPr>
        <p:spPr>
          <a:xfrm>
            <a:off x="658368" y="2249424"/>
            <a:ext cx="5349240" cy="1754733"/>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395728"/>
            <a:ext cx="5056631" cy="1462125"/>
          </a:xfrm>
          <a:prstGeom prst="rect">
            <a:avLst/>
          </a:prstGeom>
          <a:noFill/>
        </p:spPr>
        <p:txBody>
          <a:bodyPr wrap="square" lIns="0" tIns="0" rIns="0" bIns="0" anchor="t">
            <a:spAutoFit/>
          </a:bodyPr>
          <a:lstStyle/>
          <a:p>
            <a:pPr>
              <a:lnSpc>
                <a:spcPct val="130000"/>
              </a:lnSpc>
              <a:spcBef>
                <a:spcPts val="0"/>
              </a:spcBef>
              <a:spcAft>
                <a:spcPts val="0"/>
              </a:spcAft>
            </a:pPr>
            <a:r>
              <a:rPr sz="1200" b="0" i="0">
                <a:solidFill>
                  <a:srgbClr val="3D4653"/>
                </a:solidFill>
                <a:latin typeface="Consolas"/>
              </a:rPr>
              <a:t>public void testAddAndRetrieve() throws Exception {</a:t>
            </a:r>
          </a:p>
          <a:p>
            <a:pPr>
              <a:lnSpc>
                <a:spcPct val="130000"/>
              </a:lnSpc>
              <a:spcBef>
                <a:spcPts val="0"/>
              </a:spcBef>
              <a:spcAft>
                <a:spcPts val="0"/>
              </a:spcAft>
            </a:pPr>
            <a:r>
              <a:rPr sz="1200" b="0" i="0">
                <a:solidFill>
                  <a:srgbClr val="3D4653"/>
                </a:solidFill>
                <a:latin typeface="Consolas"/>
              </a:rPr>
              <a:t>  PeerCache cache = new PeerCache(3, 100000);</a:t>
            </a:r>
          </a:p>
          <a:p>
            <a:pPr>
              <a:lnSpc>
                <a:spcPct val="130000"/>
              </a:lnSpc>
              <a:spcBef>
                <a:spcPts val="0"/>
              </a:spcBef>
              <a:spcAft>
                <a:spcPts val="0"/>
              </a:spcAft>
            </a:pPr>
            <a:r>
              <a:rPr sz="1200" b="0" i="0">
                <a:solidFill>
                  <a:srgbClr val="3D4653"/>
                </a:solidFill>
                <a:latin typeface="Consolas"/>
              </a:rPr>
              <a:t>  cache.put(dnId, peer);</a:t>
            </a:r>
          </a:p>
          <a:p>
            <a:pPr>
              <a:lnSpc>
                <a:spcPct val="130000"/>
              </a:lnSpc>
              <a:spcBef>
                <a:spcPts val="0"/>
              </a:spcBef>
              <a:spcAft>
                <a:spcPts val="0"/>
              </a:spcAft>
            </a:pPr>
            <a:r>
              <a:rPr sz="1200" b="0" i="0">
                <a:solidFill>
                  <a:srgbClr val="3D4653"/>
                </a:solidFill>
                <a:latin typeface="Consolas"/>
              </a:rPr>
              <a:t>  assertEquals(1, cache.size());</a:t>
            </a:r>
          </a:p>
          <a:p>
            <a:pPr>
              <a:lnSpc>
                <a:spcPct val="130000"/>
              </a:lnSpc>
              <a:spcBef>
                <a:spcPts val="0"/>
              </a:spcBef>
              <a:spcAft>
                <a:spcPts val="0"/>
              </a:spcAft>
            </a:pPr>
            <a:r>
              <a:rPr sz="1200" b="0" i="0">
                <a:solidFill>
                  <a:srgbClr val="3D4653"/>
                </a:solidFill>
                <a:latin typeface="Consolas"/>
              </a:rPr>
              <a:t>  assertEquals(peer, cache.get(dnId, false));</a:t>
            </a:r>
          </a:p>
          <a:p>
            <a:pPr>
              <a:lnSpc>
                <a:spcPct val="130000"/>
              </a:lnSpc>
              <a:spcBef>
                <a:spcPts val="0"/>
              </a:spcBef>
              <a:spcAft>
                <a:spcPts val="0"/>
              </a:spcAft>
            </a:pPr>
            <a:r>
              <a:rPr sz="1200" b="0" i="0">
                <a:solidFill>
                  <a:srgbClr val="3D4653"/>
                </a:solidFill>
                <a:latin typeface="Consolas"/>
              </a:rPr>
              <a:t>}</a:t>
            </a:r>
          </a:p>
        </p:txBody>
      </p:sp>
      <p:sp>
        <p:nvSpPr>
          <p:cNvPr id="12" name="TextBox 11"/>
          <p:cNvSpPr txBox="1"/>
          <p:nvPr/>
        </p:nvSpPr>
        <p:spPr>
          <a:xfrm>
            <a:off x="6327648" y="1901952"/>
            <a:ext cx="530352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PeerCache.java, one call away.</a:t>
            </a:r>
          </a:p>
        </p:txBody>
      </p:sp>
      <p:sp>
        <p:nvSpPr>
          <p:cNvPr id="13" name="Rectangle 12"/>
          <p:cNvSpPr/>
          <p:nvPr/>
        </p:nvSpPr>
        <p:spPr>
          <a:xfrm>
            <a:off x="6327648" y="2249424"/>
            <a:ext cx="5486400" cy="3460546"/>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2395728"/>
            <a:ext cx="5193792" cy="3167938"/>
          </a:xfrm>
          <a:prstGeom prst="rect">
            <a:avLst/>
          </a:prstGeom>
          <a:noFill/>
        </p:spPr>
        <p:txBody>
          <a:bodyPr wrap="square" lIns="0" tIns="0" rIns="0" bIns="0" anchor="t">
            <a:spAutoFit/>
          </a:bodyPr>
          <a:lstStyle/>
          <a:p>
            <a:pPr>
              <a:lnSpc>
                <a:spcPct val="130000"/>
              </a:lnSpc>
              <a:spcBef>
                <a:spcPts val="0"/>
              </a:spcBef>
              <a:spcAft>
                <a:spcPts val="0"/>
              </a:spcAft>
            </a:pPr>
            <a:r>
              <a:rPr sz="1200" b="1" i="0">
                <a:solidFill>
                  <a:srgbClr val="A8452B"/>
                </a:solidFill>
                <a:latin typeface="Consolas"/>
              </a:rPr>
              <a:t>private synchronized void startExpiryDaemon() {</a:t>
            </a:r>
          </a:p>
          <a:p>
            <a:pPr>
              <a:lnSpc>
                <a:spcPct val="130000"/>
              </a:lnSpc>
              <a:spcBef>
                <a:spcPts val="0"/>
              </a:spcBef>
              <a:spcAft>
                <a:spcPts val="0"/>
              </a:spcAft>
            </a:pPr>
            <a:r>
              <a:rPr sz="1200" b="0" i="0">
                <a:solidFill>
                  <a:srgbClr val="3D4653"/>
                </a:solidFill>
                <a:latin typeface="Consolas"/>
              </a:rPr>
              <a:t>  if (isDaemonStarted()) return;</a:t>
            </a:r>
          </a:p>
          <a:p>
            <a:pPr>
              <a:lnSpc>
                <a:spcPct val="130000"/>
              </a:lnSpc>
              <a:spcBef>
                <a:spcPts val="0"/>
              </a:spcBef>
              <a:spcAft>
                <a:spcPts val="0"/>
              </a:spcAft>
            </a:pPr>
            <a:r>
              <a:rPr sz="1200" b="1" i="0">
                <a:solidFill>
                  <a:srgbClr val="A8452B"/>
                </a:solidFill>
                <a:latin typeface="Consolas"/>
              </a:rPr>
              <a:t>  daemon = new Daemon(new Runnable() { ... });</a:t>
            </a:r>
          </a:p>
          <a:p>
            <a:pPr>
              <a:lnSpc>
                <a:spcPct val="130000"/>
              </a:lnSpc>
              <a:spcBef>
                <a:spcPts val="0"/>
              </a:spcBef>
              <a:spcAft>
                <a:spcPts val="0"/>
              </a:spcAft>
            </a:pPr>
            <a:r>
              <a:rPr sz="1200" b="1" i="0">
                <a:solidFill>
                  <a:srgbClr val="A8452B"/>
                </a:solidFill>
                <a:latin typeface="Consolas"/>
              </a:rPr>
              <a:t>  daemon.start();</a:t>
            </a:r>
          </a:p>
          <a:p>
            <a:pPr>
              <a:lnSpc>
                <a:spcPct val="130000"/>
              </a:lnSpc>
              <a:spcBef>
                <a:spcPts val="0"/>
              </a:spcBef>
              <a:spcAft>
                <a:spcPts val="0"/>
              </a:spcAft>
            </a:pPr>
            <a:r>
              <a:rPr sz="1200" b="0" i="0">
                <a:solidFill>
                  <a:srgbClr val="3D4653"/>
                </a:solidFill>
                <a:latin typeface="Consolas"/>
              </a:rPr>
              <a:t>}</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0">
                <a:solidFill>
                  <a:srgbClr val="3D4653"/>
                </a:solidFill>
                <a:latin typeface="Consolas"/>
              </a:rPr>
              <a:t>private void run() throws InterruptedException {</a:t>
            </a:r>
          </a:p>
          <a:p>
            <a:pPr>
              <a:lnSpc>
                <a:spcPct val="130000"/>
              </a:lnSpc>
              <a:spcBef>
                <a:spcPts val="0"/>
              </a:spcBef>
              <a:spcAft>
                <a:spcPts val="0"/>
              </a:spcAft>
            </a:pPr>
            <a:r>
              <a:rPr sz="1200" b="0" i="0">
                <a:solidFill>
                  <a:srgbClr val="3D4653"/>
                </a:solidFill>
                <a:latin typeface="Consolas"/>
              </a:rPr>
              <a:t>  for(long t = Time.monotonicNow();</a:t>
            </a:r>
          </a:p>
          <a:p>
            <a:pPr>
              <a:lnSpc>
                <a:spcPct val="130000"/>
              </a:lnSpc>
              <a:spcBef>
                <a:spcPts val="0"/>
              </a:spcBef>
              <a:spcAft>
                <a:spcPts val="0"/>
              </a:spcAft>
            </a:pPr>
            <a:r>
              <a:rPr sz="1200" b="0" i="0">
                <a:solidFill>
                  <a:srgbClr val="3D4653"/>
                </a:solidFill>
                <a:latin typeface="Consolas"/>
              </a:rPr>
              <a:t>      !Thread.interrupted();</a:t>
            </a:r>
          </a:p>
          <a:p>
            <a:pPr>
              <a:lnSpc>
                <a:spcPct val="130000"/>
              </a:lnSpc>
              <a:spcBef>
                <a:spcPts val="0"/>
              </a:spcBef>
              <a:spcAft>
                <a:spcPts val="0"/>
              </a:spcAft>
            </a:pPr>
            <a:r>
              <a:rPr sz="1200" b="1" i="0">
                <a:solidFill>
                  <a:srgbClr val="A8452B"/>
                </a:solidFill>
                <a:latin typeface="Consolas"/>
              </a:rPr>
              <a:t>      Thread.sleep(expiryPeriod)) {</a:t>
            </a:r>
          </a:p>
          <a:p>
            <a:pPr>
              <a:lnSpc>
                <a:spcPct val="130000"/>
              </a:lnSpc>
              <a:spcBef>
                <a:spcPts val="0"/>
              </a:spcBef>
              <a:spcAft>
                <a:spcPts val="0"/>
              </a:spcAft>
            </a:pPr>
            <a:r>
              <a:rPr sz="1200" b="0" i="0">
                <a:solidFill>
                  <a:srgbClr val="3D4653"/>
                </a:solidFill>
                <a:latin typeface="Consolas"/>
              </a:rPr>
              <a:t>    evictExpired(expiryPeriod);</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0">
                <a:solidFill>
                  <a:srgbClr val="3D4653"/>
                </a:solidFill>
                <a:latin typeface="Consolas"/>
              </a:rPr>
              <a:t>}</a:t>
            </a:r>
          </a:p>
        </p:txBody>
      </p:sp>
      <p:sp>
        <p:nvSpPr>
          <p:cNvPr id="15" name="TextBox 14"/>
          <p:cNvSpPr txBox="1"/>
          <p:nvPr/>
        </p:nvSpPr>
        <p:spPr>
          <a:xfrm>
            <a:off x="658368" y="4480560"/>
            <a:ext cx="5349240" cy="822960"/>
          </a:xfrm>
          <a:prstGeom prst="rect">
            <a:avLst/>
          </a:prstGeom>
          <a:noFill/>
        </p:spPr>
        <p:txBody>
          <a:bodyPr wrap="square" lIns="0" tIns="0" rIns="0" bIns="0" anchor="t">
            <a:spAutoFit/>
          </a:bodyPr>
          <a:lstStyle/>
          <a:p>
            <a:pPr>
              <a:lnSpc>
                <a:spcPct val="128000"/>
              </a:lnSpc>
              <a:spcBef>
                <a:spcPts val="0"/>
              </a:spcBef>
              <a:spcAft>
                <a:spcPts val="0"/>
              </a:spcAft>
            </a:pPr>
            <a:r>
              <a:rPr sz="1500" b="0" i="0">
                <a:solidFill>
                  <a:srgbClr val="151A21"/>
                </a:solidFill>
                <a:latin typeface="Calibri"/>
              </a:rPr>
              <a:t>A background daemon evicts on a timer, every accessor is synchronized, and only one of the three tests calls close() to stop its daemon.</a:t>
            </a:r>
          </a:p>
        </p:txBody>
      </p:sp>
      <p:sp>
        <p:nvSpPr>
          <p:cNvPr id="16" name="Rectangle 15"/>
          <p:cNvSpPr/>
          <p:nvPr/>
        </p:nvSpPr>
        <p:spPr>
          <a:xfrm>
            <a:off x="658368" y="5440680"/>
            <a:ext cx="5349240" cy="86868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 y="5596128"/>
            <a:ext cx="4937760" cy="640080"/>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A8452B"/>
                </a:solidFill>
                <a:latin typeface="Calibri"/>
              </a:rPr>
              <a:t>From the body alone, this is indistinguishable from an async-wait test. No body-derived feature can separate them.</a:t>
            </a:r>
          </a:p>
        </p:txBody>
      </p:sp>
      <p:sp>
        <p:nvSpPr>
          <p:cNvPr id="18" name="TextBox 17"/>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EXHIBIT 5 · TESTRPCCOMPATIBILITY AND TESTDELEGATIONTOKENFORPROXYUSER</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Two fixtures that name the dependency almost outright</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755648"/>
            <a:ext cx="534924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Resetting a global cache each test implies it leaks across tests.</a:t>
            </a:r>
          </a:p>
        </p:txBody>
      </p:sp>
      <p:sp>
        <p:nvSpPr>
          <p:cNvPr id="6" name="Rectangle 5"/>
          <p:cNvSpPr/>
          <p:nvPr/>
        </p:nvSpPr>
        <p:spPr>
          <a:xfrm>
            <a:off x="658368" y="2121408"/>
            <a:ext cx="5349240" cy="1348587"/>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2267712"/>
            <a:ext cx="5056631" cy="1055979"/>
          </a:xfrm>
          <a:prstGeom prst="rect">
            <a:avLst/>
          </a:prstGeom>
          <a:noFill/>
        </p:spPr>
        <p:txBody>
          <a:bodyPr wrap="square" lIns="0" tIns="0" rIns="0" bIns="0" anchor="t">
            <a:spAutoFit/>
          </a:bodyPr>
          <a:lstStyle/>
          <a:p>
            <a:pPr>
              <a:lnSpc>
                <a:spcPct val="130000"/>
              </a:lnSpc>
              <a:spcBef>
                <a:spcPts val="0"/>
              </a:spcBef>
              <a:spcAft>
                <a:spcPts val="0"/>
              </a:spcAft>
            </a:pPr>
            <a:r>
              <a:rPr sz="1300" b="0" i="0">
                <a:solidFill>
                  <a:srgbClr val="6B7684"/>
                </a:solidFill>
                <a:latin typeface="Consolas"/>
              </a:rPr>
              <a:t>@Before</a:t>
            </a:r>
          </a:p>
          <a:p>
            <a:pPr>
              <a:lnSpc>
                <a:spcPct val="130000"/>
              </a:lnSpc>
              <a:spcBef>
                <a:spcPts val="0"/>
              </a:spcBef>
              <a:spcAft>
                <a:spcPts val="0"/>
              </a:spcAft>
            </a:pPr>
            <a:r>
              <a:rPr sz="1300" b="0" i="0">
                <a:solidFill>
                  <a:srgbClr val="3D4653"/>
                </a:solidFill>
                <a:latin typeface="Consolas"/>
              </a:rPr>
              <a:t>public void setUp() {</a:t>
            </a:r>
          </a:p>
          <a:p>
            <a:pPr>
              <a:lnSpc>
                <a:spcPct val="130000"/>
              </a:lnSpc>
              <a:spcBef>
                <a:spcPts val="0"/>
              </a:spcBef>
              <a:spcAft>
                <a:spcPts val="0"/>
              </a:spcAft>
            </a:pPr>
            <a:r>
              <a:rPr sz="1300" b="1" i="0">
                <a:solidFill>
                  <a:srgbClr val="A8452B"/>
                </a:solidFill>
                <a:latin typeface="Consolas"/>
              </a:rPr>
              <a:t>  ProtocolSignature.resetCache();</a:t>
            </a:r>
          </a:p>
          <a:p>
            <a:pPr>
              <a:lnSpc>
                <a:spcPct val="130000"/>
              </a:lnSpc>
              <a:spcBef>
                <a:spcPts val="0"/>
              </a:spcBef>
              <a:spcAft>
                <a:spcPts val="0"/>
              </a:spcAft>
            </a:pPr>
            <a:r>
              <a:rPr sz="1300" b="0" i="0">
                <a:solidFill>
                  <a:srgbClr val="3D4653"/>
                </a:solidFill>
                <a:latin typeface="Consolas"/>
              </a:rPr>
              <a:t>}</a:t>
            </a:r>
          </a:p>
        </p:txBody>
      </p:sp>
      <p:sp>
        <p:nvSpPr>
          <p:cNvPr id="8" name="TextBox 7"/>
          <p:cNvSpPr txBox="1"/>
          <p:nvPr/>
        </p:nvSpPr>
        <p:spPr>
          <a:xfrm>
            <a:off x="6327648" y="1755648"/>
            <a:ext cx="5303520" cy="82296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6B7684"/>
                </a:solidFill>
                <a:latin typeface="Calibri"/>
              </a:rPr>
              <a:t>Five static fields, and process-global registries written once for the class.</a:t>
            </a:r>
          </a:p>
        </p:txBody>
      </p:sp>
      <p:sp>
        <p:nvSpPr>
          <p:cNvPr id="9" name="Rectangle 8"/>
          <p:cNvSpPr/>
          <p:nvPr/>
        </p:nvSpPr>
        <p:spPr>
          <a:xfrm>
            <a:off x="6327648" y="2121408"/>
            <a:ext cx="5486400" cy="2729484"/>
          </a:xfrm>
          <a:prstGeom prst="rect">
            <a:avLst/>
          </a:prstGeom>
          <a:solidFill>
            <a:srgbClr val="F1F3F6"/>
          </a:solidFill>
          <a:ln w="9525">
            <a:solidFill>
              <a:srgbClr val="DC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73952" y="2267712"/>
            <a:ext cx="5193792" cy="2436876"/>
          </a:xfrm>
          <a:prstGeom prst="rect">
            <a:avLst/>
          </a:prstGeom>
          <a:noFill/>
        </p:spPr>
        <p:txBody>
          <a:bodyPr wrap="square" lIns="0" tIns="0" rIns="0" bIns="0" anchor="t">
            <a:spAutoFit/>
          </a:bodyPr>
          <a:lstStyle/>
          <a:p>
            <a:pPr>
              <a:lnSpc>
                <a:spcPct val="130000"/>
              </a:lnSpc>
              <a:spcBef>
                <a:spcPts val="0"/>
              </a:spcBef>
              <a:spcAft>
                <a:spcPts val="0"/>
              </a:spcAft>
            </a:pPr>
            <a:r>
              <a:rPr sz="1200" b="1" i="0">
                <a:solidFill>
                  <a:srgbClr val="A8452B"/>
                </a:solidFill>
                <a:latin typeface="Consolas"/>
              </a:rPr>
              <a:t>private static MiniDFSCluster cluster;</a:t>
            </a:r>
          </a:p>
          <a:p>
            <a:pPr>
              <a:lnSpc>
                <a:spcPct val="130000"/>
              </a:lnSpc>
              <a:spcBef>
                <a:spcPts val="0"/>
              </a:spcBef>
              <a:spcAft>
                <a:spcPts val="0"/>
              </a:spcAft>
            </a:pPr>
            <a:r>
              <a:rPr sz="1200" b="1" i="0">
                <a:solidFill>
                  <a:srgbClr val="A8452B"/>
                </a:solidFill>
                <a:latin typeface="Consolas"/>
              </a:rPr>
              <a:t>private static Configuration config;</a:t>
            </a:r>
          </a:p>
          <a:p>
            <a:pPr>
              <a:lnSpc>
                <a:spcPct val="130000"/>
              </a:lnSpc>
              <a:spcBef>
                <a:spcPts val="0"/>
              </a:spcBef>
              <a:spcAft>
                <a:spcPts val="0"/>
              </a:spcAft>
            </a:pPr>
            <a:r>
              <a:rPr sz="1200" b="1" i="0">
                <a:solidFill>
                  <a:srgbClr val="A8452B"/>
                </a:solidFill>
                <a:latin typeface="Consolas"/>
              </a:rPr>
              <a:t>private static UserGroupInformation ugi, proxyUgi;</a:t>
            </a:r>
          </a:p>
          <a:p>
            <a:pPr>
              <a:lnSpc>
                <a:spcPct val="130000"/>
              </a:lnSpc>
              <a:spcBef>
                <a:spcPts val="0"/>
              </a:spcBef>
              <a:spcAft>
                <a:spcPts val="0"/>
              </a:spcAft>
            </a:pPr>
            <a:r>
              <a:rPr sz="1200" b="0" i="0">
                <a:solidFill>
                  <a:srgbClr val="3D4653"/>
                </a:solidFill>
                <a:latin typeface="Consolas"/>
              </a:rPr>
              <a:t> </a:t>
            </a:r>
          </a:p>
          <a:p>
            <a:pPr>
              <a:lnSpc>
                <a:spcPct val="130000"/>
              </a:lnSpc>
              <a:spcBef>
                <a:spcPts val="0"/>
              </a:spcBef>
              <a:spcAft>
                <a:spcPts val="0"/>
              </a:spcAft>
            </a:pPr>
            <a:r>
              <a:rPr sz="1200" b="0" i="0">
                <a:solidFill>
                  <a:srgbClr val="6B7684"/>
                </a:solidFill>
                <a:latin typeface="Consolas"/>
              </a:rPr>
              <a:t>@BeforeClass</a:t>
            </a:r>
          </a:p>
          <a:p>
            <a:pPr>
              <a:lnSpc>
                <a:spcPct val="130000"/>
              </a:lnSpc>
              <a:spcBef>
                <a:spcPts val="0"/>
              </a:spcBef>
              <a:spcAft>
                <a:spcPts val="0"/>
              </a:spcAft>
            </a:pPr>
            <a:r>
              <a:rPr sz="1200" b="0" i="0">
                <a:solidFill>
                  <a:srgbClr val="3D4653"/>
                </a:solidFill>
                <a:latin typeface="Consolas"/>
              </a:rPr>
              <a:t>public static void setUp() throws Exception {</a:t>
            </a:r>
          </a:p>
          <a:p>
            <a:pPr>
              <a:lnSpc>
                <a:spcPct val="130000"/>
              </a:lnSpc>
              <a:spcBef>
                <a:spcPts val="0"/>
              </a:spcBef>
              <a:spcAft>
                <a:spcPts val="0"/>
              </a:spcAft>
            </a:pPr>
            <a:r>
              <a:rPr sz="1200" b="1" i="0">
                <a:solidFill>
                  <a:srgbClr val="A8452B"/>
                </a:solidFill>
                <a:latin typeface="Consolas"/>
              </a:rPr>
              <a:t>  config.setLong(TOKEN_MAX_LIFETIME_KEY, 10000);</a:t>
            </a:r>
          </a:p>
          <a:p>
            <a:pPr>
              <a:lnSpc>
                <a:spcPct val="130000"/>
              </a:lnSpc>
              <a:spcBef>
                <a:spcPts val="0"/>
              </a:spcBef>
              <a:spcAft>
                <a:spcPts val="0"/>
              </a:spcAft>
            </a:pPr>
            <a:r>
              <a:rPr sz="1200" b="1" i="0">
                <a:solidFill>
                  <a:srgbClr val="A8452B"/>
                </a:solidFill>
                <a:latin typeface="Consolas"/>
              </a:rPr>
              <a:t>  FileSystem.setDefaultUri(config, "hdfs://...");</a:t>
            </a:r>
          </a:p>
          <a:p>
            <a:pPr>
              <a:lnSpc>
                <a:spcPct val="130000"/>
              </a:lnSpc>
              <a:spcBef>
                <a:spcPts val="0"/>
              </a:spcBef>
              <a:spcAft>
                <a:spcPts val="0"/>
              </a:spcAft>
            </a:pPr>
            <a:r>
              <a:rPr sz="1200" b="1" i="0">
                <a:solidFill>
                  <a:srgbClr val="A8452B"/>
                </a:solidFill>
                <a:latin typeface="Consolas"/>
              </a:rPr>
              <a:t>  ProxyUsers.refreshSuperUserGroups(config);</a:t>
            </a:r>
          </a:p>
          <a:p>
            <a:pPr>
              <a:lnSpc>
                <a:spcPct val="130000"/>
              </a:lnSpc>
              <a:spcBef>
                <a:spcPts val="0"/>
              </a:spcBef>
              <a:spcAft>
                <a:spcPts val="0"/>
              </a:spcAft>
            </a:pPr>
            <a:r>
              <a:rPr sz="1200" b="0" i="0">
                <a:solidFill>
                  <a:srgbClr val="3D4653"/>
                </a:solidFill>
                <a:latin typeface="Consolas"/>
              </a:rPr>
              <a:t>}</a:t>
            </a:r>
          </a:p>
        </p:txBody>
      </p:sp>
      <p:sp>
        <p:nvSpPr>
          <p:cNvPr id="11" name="Rectangle 10"/>
          <p:cNvSpPr/>
          <p:nvPr/>
        </p:nvSpPr>
        <p:spPr>
          <a:xfrm>
            <a:off x="658368" y="3767328"/>
            <a:ext cx="173736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3767328"/>
            <a:ext cx="17373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order dependency</a:t>
            </a:r>
          </a:p>
        </p:txBody>
      </p:sp>
      <p:sp>
        <p:nvSpPr>
          <p:cNvPr id="13" name="TextBox 12"/>
          <p:cNvSpPr txBox="1"/>
          <p:nvPr/>
        </p:nvSpPr>
        <p:spPr>
          <a:xfrm>
            <a:off x="2487168" y="3767328"/>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14" name="Rectangle 13"/>
          <p:cNvSpPr/>
          <p:nvPr/>
        </p:nvSpPr>
        <p:spPr>
          <a:xfrm>
            <a:off x="3236976" y="3767328"/>
            <a:ext cx="1161288"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36976" y="3767328"/>
            <a:ext cx="1161288"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async wait</a:t>
            </a:r>
          </a:p>
        </p:txBody>
      </p:sp>
      <p:sp>
        <p:nvSpPr>
          <p:cNvPr id="16" name="Rectangle 15"/>
          <p:cNvSpPr/>
          <p:nvPr/>
        </p:nvSpPr>
        <p:spPr>
          <a:xfrm>
            <a:off x="6327648" y="5074920"/>
            <a:ext cx="1737360" cy="274320"/>
          </a:xfrm>
          <a:prstGeom prst="rect">
            <a:avLst/>
          </a:prstGeom>
          <a:solidFill>
            <a:srgbClr val="E3E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5074920"/>
            <a:ext cx="17373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3A6650"/>
                </a:solidFill>
                <a:latin typeface="Consolas"/>
              </a:rPr>
              <a:t>order dependency</a:t>
            </a:r>
          </a:p>
        </p:txBody>
      </p:sp>
      <p:sp>
        <p:nvSpPr>
          <p:cNvPr id="18" name="TextBox 17"/>
          <p:cNvSpPr txBox="1"/>
          <p:nvPr/>
        </p:nvSpPr>
        <p:spPr>
          <a:xfrm>
            <a:off x="8156448" y="5074920"/>
            <a:ext cx="777240" cy="274320"/>
          </a:xfrm>
          <a:prstGeom prst="rect">
            <a:avLst/>
          </a:prstGeom>
          <a:noFill/>
        </p:spPr>
        <p:txBody>
          <a:bodyPr wrap="square" lIns="0" tIns="0" rIns="0" bIns="0" anchor="ctr">
            <a:spAutoFit/>
          </a:bodyPr>
          <a:lstStyle/>
          <a:p>
            <a:pPr>
              <a:spcBef>
                <a:spcPts val="0"/>
              </a:spcBef>
              <a:spcAft>
                <a:spcPts val="0"/>
              </a:spcAft>
            </a:pPr>
            <a:r>
              <a:rPr sz="1100" b="0" i="1">
                <a:solidFill>
                  <a:srgbClr val="6B7684"/>
                </a:solidFill>
                <a:latin typeface="Calibri"/>
              </a:rPr>
              <a:t>read as</a:t>
            </a:r>
          </a:p>
        </p:txBody>
      </p:sp>
      <p:sp>
        <p:nvSpPr>
          <p:cNvPr id="19" name="Rectangle 18"/>
          <p:cNvSpPr/>
          <p:nvPr/>
        </p:nvSpPr>
        <p:spPr>
          <a:xfrm>
            <a:off x="8906256" y="5074920"/>
            <a:ext cx="1257300" cy="274320"/>
          </a:xfrm>
          <a:prstGeom prst="rect">
            <a:avLst/>
          </a:prstGeom>
          <a:solidFill>
            <a:srgbClr val="F6E7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06256" y="5074920"/>
            <a:ext cx="125730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A8452B"/>
                </a:solidFill>
                <a:latin typeface="Consolas"/>
              </a:rPr>
              <a:t>concurrency</a:t>
            </a:r>
          </a:p>
        </p:txBody>
      </p:sp>
      <p:sp>
        <p:nvSpPr>
          <p:cNvPr id="21" name="Rectangle 20"/>
          <p:cNvSpPr/>
          <p:nvPr/>
        </p:nvSpPr>
        <p:spPr>
          <a:xfrm>
            <a:off x="658368" y="5742432"/>
            <a:ext cx="10874959" cy="786384"/>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58368" y="5742432"/>
            <a:ext cx="45720" cy="786384"/>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 y="5925312"/>
            <a:ext cx="10972800" cy="457200"/>
          </a:xfrm>
          <a:prstGeom prst="rect">
            <a:avLst/>
          </a:prstGeom>
          <a:noFill/>
        </p:spPr>
        <p:txBody>
          <a:bodyPr wrap="square" lIns="0" tIns="0" rIns="0" bIns="0" anchor="t">
            <a:spAutoFit/>
          </a:bodyPr>
          <a:lstStyle/>
          <a:p>
            <a:pPr>
              <a:lnSpc>
                <a:spcPct val="126000"/>
              </a:lnSpc>
              <a:spcBef>
                <a:spcPts val="0"/>
              </a:spcBef>
              <a:spcAft>
                <a:spcPts val="0"/>
              </a:spcAft>
            </a:pPr>
            <a:r>
              <a:rPr sz="1550" b="1" i="0">
                <a:solidFill>
                  <a:srgbClr val="2F4858"/>
                </a:solidFill>
                <a:latin typeface="Calibri"/>
              </a:rPr>
              <a:t>Both are the cheapest possible extraction: static field declarations and fixture bodies. No symbol resolution, no call graph, no successful build.</a:t>
            </a:r>
          </a:p>
        </p:txBody>
      </p:sp>
      <p:sp>
        <p:nvSpPr>
          <p:cNvPr id="24" name="TextBox 23"/>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ALL 17 MISSES</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Where the deciding fact sits</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47088"/>
            <a:ext cx="10874959" cy="36576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920240"/>
            <a:ext cx="3566160" cy="256032"/>
          </a:xfrm>
          <a:prstGeom prst="rect">
            <a:avLst/>
          </a:prstGeom>
          <a:noFill/>
        </p:spPr>
        <p:txBody>
          <a:bodyPr wrap="square" lIns="0" tIns="0" rIns="0" bIns="0" anchor="t">
            <a:spAutoFit/>
          </a:bodyPr>
          <a:lstStyle/>
          <a:p>
            <a:pPr>
              <a:spcBef>
                <a:spcPts val="0"/>
              </a:spcBef>
              <a:spcAft>
                <a:spcPts val="0"/>
              </a:spcAft>
            </a:pPr>
            <a:r>
              <a:rPr sz="1100" b="1" i="0">
                <a:solidFill>
                  <a:srgbClr val="6B7684"/>
                </a:solidFill>
                <a:latin typeface="Consolas"/>
              </a:rPr>
              <a:t>CLASS</a:t>
            </a:r>
          </a:p>
        </p:txBody>
      </p:sp>
      <p:sp>
        <p:nvSpPr>
          <p:cNvPr id="7" name="TextBox 6"/>
          <p:cNvSpPr txBox="1"/>
          <p:nvPr/>
        </p:nvSpPr>
        <p:spPr>
          <a:xfrm>
            <a:off x="4745736" y="1920240"/>
            <a:ext cx="3566160" cy="256032"/>
          </a:xfrm>
          <a:prstGeom prst="rect">
            <a:avLst/>
          </a:prstGeom>
          <a:noFill/>
        </p:spPr>
        <p:txBody>
          <a:bodyPr wrap="square" lIns="0" tIns="0" rIns="0" bIns="0" anchor="t">
            <a:spAutoFit/>
          </a:bodyPr>
          <a:lstStyle/>
          <a:p>
            <a:pPr>
              <a:spcBef>
                <a:spcPts val="0"/>
              </a:spcBef>
              <a:spcAft>
                <a:spcPts val="0"/>
              </a:spcAft>
            </a:pPr>
            <a:r>
              <a:rPr sz="1100" b="1" i="0">
                <a:solidFill>
                  <a:srgbClr val="6B7684"/>
                </a:solidFill>
                <a:latin typeface="Consolas"/>
              </a:rPr>
              <a:t>COUNT</a:t>
            </a:r>
          </a:p>
        </p:txBody>
      </p:sp>
      <p:sp>
        <p:nvSpPr>
          <p:cNvPr id="8" name="TextBox 7"/>
          <p:cNvSpPr txBox="1"/>
          <p:nvPr/>
        </p:nvSpPr>
        <p:spPr>
          <a:xfrm>
            <a:off x="5751576" y="1920240"/>
            <a:ext cx="3566160" cy="256032"/>
          </a:xfrm>
          <a:prstGeom prst="rect">
            <a:avLst/>
          </a:prstGeom>
          <a:noFill/>
        </p:spPr>
        <p:txBody>
          <a:bodyPr wrap="square" lIns="0" tIns="0" rIns="0" bIns="0" anchor="t">
            <a:spAutoFit/>
          </a:bodyPr>
          <a:lstStyle/>
          <a:p>
            <a:pPr>
              <a:spcBef>
                <a:spcPts val="0"/>
              </a:spcBef>
              <a:spcAft>
                <a:spcPts val="0"/>
              </a:spcAft>
            </a:pPr>
            <a:r>
              <a:rPr sz="1100" b="1" i="0">
                <a:solidFill>
                  <a:srgbClr val="6B7684"/>
                </a:solidFill>
                <a:latin typeface="Consolas"/>
              </a:rPr>
              <a:t>TRUE</a:t>
            </a:r>
          </a:p>
        </p:txBody>
      </p:sp>
      <p:sp>
        <p:nvSpPr>
          <p:cNvPr id="9" name="TextBox 8"/>
          <p:cNvSpPr txBox="1"/>
          <p:nvPr/>
        </p:nvSpPr>
        <p:spPr>
          <a:xfrm>
            <a:off x="6757416" y="1920240"/>
            <a:ext cx="3566160" cy="256032"/>
          </a:xfrm>
          <a:prstGeom prst="rect">
            <a:avLst/>
          </a:prstGeom>
          <a:noFill/>
        </p:spPr>
        <p:txBody>
          <a:bodyPr wrap="square" lIns="0" tIns="0" rIns="0" bIns="0" anchor="t">
            <a:spAutoFit/>
          </a:bodyPr>
          <a:lstStyle/>
          <a:p>
            <a:pPr>
              <a:spcBef>
                <a:spcPts val="0"/>
              </a:spcBef>
              <a:spcAft>
                <a:spcPts val="0"/>
              </a:spcAft>
            </a:pPr>
            <a:r>
              <a:rPr sz="1100" b="1" i="0">
                <a:solidFill>
                  <a:srgbClr val="6B7684"/>
                </a:solidFill>
                <a:latin typeface="Consolas"/>
              </a:rPr>
              <a:t>PREDICTED</a:t>
            </a:r>
          </a:p>
        </p:txBody>
      </p:sp>
      <p:sp>
        <p:nvSpPr>
          <p:cNvPr id="10" name="TextBox 9"/>
          <p:cNvSpPr txBox="1"/>
          <p:nvPr/>
        </p:nvSpPr>
        <p:spPr>
          <a:xfrm>
            <a:off x="8037575" y="1920240"/>
            <a:ext cx="3566160" cy="256032"/>
          </a:xfrm>
          <a:prstGeom prst="rect">
            <a:avLst/>
          </a:prstGeom>
          <a:noFill/>
        </p:spPr>
        <p:txBody>
          <a:bodyPr wrap="square" lIns="0" tIns="0" rIns="0" bIns="0" anchor="t">
            <a:spAutoFit/>
          </a:bodyPr>
          <a:lstStyle/>
          <a:p>
            <a:pPr>
              <a:spcBef>
                <a:spcPts val="0"/>
              </a:spcBef>
              <a:spcAft>
                <a:spcPts val="0"/>
              </a:spcAft>
            </a:pPr>
            <a:r>
              <a:rPr sz="1100" b="1" i="0">
                <a:solidFill>
                  <a:srgbClr val="6B7684"/>
                </a:solidFill>
                <a:latin typeface="Consolas"/>
              </a:rPr>
              <a:t>EVIDENCE LOCATION</a:t>
            </a:r>
          </a:p>
        </p:txBody>
      </p:sp>
      <p:sp>
        <p:nvSpPr>
          <p:cNvPr id="11" name="TextBox 10"/>
          <p:cNvSpPr txBox="1"/>
          <p:nvPr/>
        </p:nvSpPr>
        <p:spPr>
          <a:xfrm>
            <a:off x="768096" y="2286000"/>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TestDFSIO</a:t>
            </a:r>
          </a:p>
        </p:txBody>
      </p:sp>
      <p:sp>
        <p:nvSpPr>
          <p:cNvPr id="12" name="TextBox 11"/>
          <p:cNvSpPr txBox="1"/>
          <p:nvPr/>
        </p:nvSpPr>
        <p:spPr>
          <a:xfrm>
            <a:off x="4745736" y="2286000"/>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5 tests</a:t>
            </a:r>
          </a:p>
        </p:txBody>
      </p:sp>
      <p:sp>
        <p:nvSpPr>
          <p:cNvPr id="13" name="TextBox 12"/>
          <p:cNvSpPr txBox="1"/>
          <p:nvPr/>
        </p:nvSpPr>
        <p:spPr>
          <a:xfrm>
            <a:off x="5751576" y="2286000"/>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OD</a:t>
            </a:r>
          </a:p>
        </p:txBody>
      </p:sp>
      <p:sp>
        <p:nvSpPr>
          <p:cNvPr id="14" name="TextBox 13"/>
          <p:cNvSpPr txBox="1"/>
          <p:nvPr/>
        </p:nvSpPr>
        <p:spPr>
          <a:xfrm>
            <a:off x="6757416" y="2286000"/>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time</a:t>
            </a:r>
          </a:p>
        </p:txBody>
      </p:sp>
      <p:sp>
        <p:nvSpPr>
          <p:cNvPr id="15" name="TextBox 14"/>
          <p:cNvSpPr txBox="1"/>
          <p:nvPr/>
        </p:nvSpPr>
        <p:spPr>
          <a:xfrm>
            <a:off x="8037575" y="2286000"/>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Fixture + static field / sibling test</a:t>
            </a:r>
          </a:p>
        </p:txBody>
      </p:sp>
      <p:sp>
        <p:nvSpPr>
          <p:cNvPr id="16" name="Rectangle 15"/>
          <p:cNvSpPr/>
          <p:nvPr/>
        </p:nvSpPr>
        <p:spPr>
          <a:xfrm>
            <a:off x="658368" y="2606040"/>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2688336"/>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TestPathData</a:t>
            </a:r>
          </a:p>
        </p:txBody>
      </p:sp>
      <p:sp>
        <p:nvSpPr>
          <p:cNvPr id="18" name="TextBox 17"/>
          <p:cNvSpPr txBox="1"/>
          <p:nvPr/>
        </p:nvSpPr>
        <p:spPr>
          <a:xfrm>
            <a:off x="4745736" y="2688336"/>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4 tests</a:t>
            </a:r>
          </a:p>
        </p:txBody>
      </p:sp>
      <p:sp>
        <p:nvSpPr>
          <p:cNvPr id="19" name="TextBox 18"/>
          <p:cNvSpPr txBox="1"/>
          <p:nvPr/>
        </p:nvSpPr>
        <p:spPr>
          <a:xfrm>
            <a:off x="5751576" y="2688336"/>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OD</a:t>
            </a:r>
          </a:p>
        </p:txBody>
      </p:sp>
      <p:sp>
        <p:nvSpPr>
          <p:cNvPr id="20" name="TextBox 19"/>
          <p:cNvSpPr txBox="1"/>
          <p:nvPr/>
        </p:nvSpPr>
        <p:spPr>
          <a:xfrm>
            <a:off x="6757416" y="2688336"/>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UC</a:t>
            </a:r>
          </a:p>
        </p:txBody>
      </p:sp>
      <p:sp>
        <p:nvSpPr>
          <p:cNvPr id="21" name="TextBox 20"/>
          <p:cNvSpPr txBox="1"/>
          <p:nvPr/>
        </p:nvSpPr>
        <p:spPr>
          <a:xfrm>
            <a:off x="8037575" y="2688336"/>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Same-file helper + fixture</a:t>
            </a:r>
          </a:p>
        </p:txBody>
      </p:sp>
      <p:sp>
        <p:nvSpPr>
          <p:cNvPr id="22" name="Rectangle 21"/>
          <p:cNvSpPr/>
          <p:nvPr/>
        </p:nvSpPr>
        <p:spPr>
          <a:xfrm>
            <a:off x="658368" y="3008376"/>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8096" y="3090672"/>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TestPeerCache</a:t>
            </a:r>
          </a:p>
        </p:txBody>
      </p:sp>
      <p:sp>
        <p:nvSpPr>
          <p:cNvPr id="24" name="TextBox 23"/>
          <p:cNvSpPr txBox="1"/>
          <p:nvPr/>
        </p:nvSpPr>
        <p:spPr>
          <a:xfrm>
            <a:off x="4745736" y="3090672"/>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3 tests</a:t>
            </a:r>
          </a:p>
        </p:txBody>
      </p:sp>
      <p:sp>
        <p:nvSpPr>
          <p:cNvPr id="25" name="TextBox 24"/>
          <p:cNvSpPr txBox="1"/>
          <p:nvPr/>
        </p:nvSpPr>
        <p:spPr>
          <a:xfrm>
            <a:off x="5751576" y="3090672"/>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OD</a:t>
            </a:r>
          </a:p>
        </p:txBody>
      </p:sp>
      <p:sp>
        <p:nvSpPr>
          <p:cNvPr id="26" name="TextBox 25"/>
          <p:cNvSpPr txBox="1"/>
          <p:nvPr/>
        </p:nvSpPr>
        <p:spPr>
          <a:xfrm>
            <a:off x="6757416" y="3090672"/>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async</a:t>
            </a:r>
          </a:p>
        </p:txBody>
      </p:sp>
      <p:sp>
        <p:nvSpPr>
          <p:cNvPr id="27" name="TextBox 26"/>
          <p:cNvSpPr txBox="1"/>
          <p:nvPr/>
        </p:nvSpPr>
        <p:spPr>
          <a:xfrm>
            <a:off x="8037575" y="3090672"/>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Production callee, depth 1</a:t>
            </a:r>
          </a:p>
        </p:txBody>
      </p:sp>
      <p:sp>
        <p:nvSpPr>
          <p:cNvPr id="28" name="Rectangle 27"/>
          <p:cNvSpPr/>
          <p:nvPr/>
        </p:nvSpPr>
        <p:spPr>
          <a:xfrm>
            <a:off x="658368" y="341071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8096" y="3493008"/>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TestDelegationTokenForProxyUser</a:t>
            </a:r>
          </a:p>
        </p:txBody>
      </p:sp>
      <p:sp>
        <p:nvSpPr>
          <p:cNvPr id="30" name="TextBox 29"/>
          <p:cNvSpPr txBox="1"/>
          <p:nvPr/>
        </p:nvSpPr>
        <p:spPr>
          <a:xfrm>
            <a:off x="4745736" y="3493008"/>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2 tests</a:t>
            </a:r>
          </a:p>
        </p:txBody>
      </p:sp>
      <p:sp>
        <p:nvSpPr>
          <p:cNvPr id="31" name="TextBox 30"/>
          <p:cNvSpPr txBox="1"/>
          <p:nvPr/>
        </p:nvSpPr>
        <p:spPr>
          <a:xfrm>
            <a:off x="5751576" y="3493008"/>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OD</a:t>
            </a:r>
          </a:p>
        </p:txBody>
      </p:sp>
      <p:sp>
        <p:nvSpPr>
          <p:cNvPr id="32" name="TextBox 31"/>
          <p:cNvSpPr txBox="1"/>
          <p:nvPr/>
        </p:nvSpPr>
        <p:spPr>
          <a:xfrm>
            <a:off x="6757416" y="3493008"/>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conc</a:t>
            </a:r>
          </a:p>
        </p:txBody>
      </p:sp>
      <p:sp>
        <p:nvSpPr>
          <p:cNvPr id="33" name="TextBox 32"/>
          <p:cNvSpPr txBox="1"/>
          <p:nvPr/>
        </p:nvSpPr>
        <p:spPr>
          <a:xfrm>
            <a:off x="8037575" y="3493008"/>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Fixture + static field</a:t>
            </a:r>
          </a:p>
        </p:txBody>
      </p:sp>
      <p:sp>
        <p:nvSpPr>
          <p:cNvPr id="34" name="Rectangle 33"/>
          <p:cNvSpPr/>
          <p:nvPr/>
        </p:nvSpPr>
        <p:spPr>
          <a:xfrm>
            <a:off x="658368" y="3813048"/>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68096" y="3895344"/>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TestRPCCompatibility</a:t>
            </a:r>
          </a:p>
        </p:txBody>
      </p:sp>
      <p:sp>
        <p:nvSpPr>
          <p:cNvPr id="36" name="TextBox 35"/>
          <p:cNvSpPr txBox="1"/>
          <p:nvPr/>
        </p:nvSpPr>
        <p:spPr>
          <a:xfrm>
            <a:off x="4745736" y="3895344"/>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1 test</a:t>
            </a:r>
          </a:p>
        </p:txBody>
      </p:sp>
      <p:sp>
        <p:nvSpPr>
          <p:cNvPr id="37" name="TextBox 36"/>
          <p:cNvSpPr txBox="1"/>
          <p:nvPr/>
        </p:nvSpPr>
        <p:spPr>
          <a:xfrm>
            <a:off x="5751576" y="3895344"/>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OD</a:t>
            </a:r>
          </a:p>
        </p:txBody>
      </p:sp>
      <p:sp>
        <p:nvSpPr>
          <p:cNvPr id="38" name="TextBox 37"/>
          <p:cNvSpPr txBox="1"/>
          <p:nvPr/>
        </p:nvSpPr>
        <p:spPr>
          <a:xfrm>
            <a:off x="6757416" y="3895344"/>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async</a:t>
            </a:r>
          </a:p>
        </p:txBody>
      </p:sp>
      <p:sp>
        <p:nvSpPr>
          <p:cNvPr id="39" name="TextBox 38"/>
          <p:cNvSpPr txBox="1"/>
          <p:nvPr/>
        </p:nvSpPr>
        <p:spPr>
          <a:xfrm>
            <a:off x="8037575" y="3895344"/>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Class fixture</a:t>
            </a:r>
          </a:p>
        </p:txBody>
      </p:sp>
      <p:sp>
        <p:nvSpPr>
          <p:cNvPr id="40" name="Rectangle 39"/>
          <p:cNvSpPr/>
          <p:nvPr/>
        </p:nvSpPr>
        <p:spPr>
          <a:xfrm>
            <a:off x="658368" y="4215384"/>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68096" y="4297680"/>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TestMetricsSystemImpl</a:t>
            </a:r>
          </a:p>
        </p:txBody>
      </p:sp>
      <p:sp>
        <p:nvSpPr>
          <p:cNvPr id="42" name="TextBox 41"/>
          <p:cNvSpPr txBox="1"/>
          <p:nvPr/>
        </p:nvSpPr>
        <p:spPr>
          <a:xfrm>
            <a:off x="4745736" y="4297680"/>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1 test</a:t>
            </a:r>
          </a:p>
        </p:txBody>
      </p:sp>
      <p:sp>
        <p:nvSpPr>
          <p:cNvPr id="43" name="TextBox 42"/>
          <p:cNvSpPr txBox="1"/>
          <p:nvPr/>
        </p:nvSpPr>
        <p:spPr>
          <a:xfrm>
            <a:off x="5751576" y="4297680"/>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UC</a:t>
            </a:r>
          </a:p>
        </p:txBody>
      </p:sp>
      <p:sp>
        <p:nvSpPr>
          <p:cNvPr id="44" name="TextBox 43"/>
          <p:cNvSpPr txBox="1"/>
          <p:nvPr/>
        </p:nvSpPr>
        <p:spPr>
          <a:xfrm>
            <a:off x="6757416" y="4297680"/>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async</a:t>
            </a:r>
          </a:p>
        </p:txBody>
      </p:sp>
      <p:sp>
        <p:nvSpPr>
          <p:cNvPr id="45" name="TextBox 44"/>
          <p:cNvSpPr txBox="1"/>
          <p:nvPr/>
        </p:nvSpPr>
        <p:spPr>
          <a:xfrm>
            <a:off x="8037575" y="4297680"/>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Helper + production callee</a:t>
            </a:r>
          </a:p>
        </p:txBody>
      </p:sp>
      <p:sp>
        <p:nvSpPr>
          <p:cNvPr id="46" name="Rectangle 45"/>
          <p:cNvSpPr/>
          <p:nvPr/>
        </p:nvSpPr>
        <p:spPr>
          <a:xfrm>
            <a:off x="658368" y="4617720"/>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68096" y="4700016"/>
            <a:ext cx="3749039" cy="274320"/>
          </a:xfrm>
          <a:prstGeom prst="rect">
            <a:avLst/>
          </a:prstGeom>
          <a:noFill/>
        </p:spPr>
        <p:txBody>
          <a:bodyPr wrap="square" lIns="0" tIns="0" rIns="0" bIns="0" anchor="t">
            <a:spAutoFit/>
          </a:bodyPr>
          <a:lstStyle/>
          <a:p>
            <a:pPr>
              <a:spcBef>
                <a:spcPts val="0"/>
              </a:spcBef>
              <a:spcAft>
                <a:spcPts val="0"/>
              </a:spcAft>
            </a:pPr>
            <a:r>
              <a:rPr sz="1350" b="0" i="0">
                <a:solidFill>
                  <a:srgbClr val="151A21"/>
                </a:solidFill>
                <a:latin typeface="Consolas"/>
              </a:rPr>
              <a:t>TestDelegationToken</a:t>
            </a:r>
          </a:p>
        </p:txBody>
      </p:sp>
      <p:sp>
        <p:nvSpPr>
          <p:cNvPr id="48" name="TextBox 47"/>
          <p:cNvSpPr txBox="1"/>
          <p:nvPr/>
        </p:nvSpPr>
        <p:spPr>
          <a:xfrm>
            <a:off x="4745736" y="4700016"/>
            <a:ext cx="914400" cy="274320"/>
          </a:xfrm>
          <a:prstGeom prst="rect">
            <a:avLst/>
          </a:prstGeom>
          <a:noFill/>
        </p:spPr>
        <p:txBody>
          <a:bodyPr wrap="square" lIns="0" tIns="0" rIns="0" bIns="0" anchor="t">
            <a:spAutoFit/>
          </a:bodyPr>
          <a:lstStyle/>
          <a:p>
            <a:pPr>
              <a:spcBef>
                <a:spcPts val="0"/>
              </a:spcBef>
              <a:spcAft>
                <a:spcPts val="0"/>
              </a:spcAft>
            </a:pPr>
            <a:r>
              <a:rPr sz="1350" b="0" i="0">
                <a:solidFill>
                  <a:srgbClr val="6B7684"/>
                </a:solidFill>
                <a:latin typeface="Calibri"/>
              </a:rPr>
              <a:t>1 test</a:t>
            </a:r>
          </a:p>
        </p:txBody>
      </p:sp>
      <p:sp>
        <p:nvSpPr>
          <p:cNvPr id="49" name="TextBox 48"/>
          <p:cNvSpPr txBox="1"/>
          <p:nvPr/>
        </p:nvSpPr>
        <p:spPr>
          <a:xfrm>
            <a:off x="5751576" y="4700016"/>
            <a:ext cx="914400" cy="274320"/>
          </a:xfrm>
          <a:prstGeom prst="rect">
            <a:avLst/>
          </a:prstGeom>
          <a:noFill/>
        </p:spPr>
        <p:txBody>
          <a:bodyPr wrap="square" lIns="0" tIns="0" rIns="0" bIns="0" anchor="t">
            <a:spAutoFit/>
          </a:bodyPr>
          <a:lstStyle/>
          <a:p>
            <a:pPr>
              <a:spcBef>
                <a:spcPts val="0"/>
              </a:spcBef>
              <a:spcAft>
                <a:spcPts val="0"/>
              </a:spcAft>
            </a:pPr>
            <a:r>
              <a:rPr sz="1350" b="1" i="0">
                <a:solidFill>
                  <a:srgbClr val="3A6650"/>
                </a:solidFill>
                <a:latin typeface="Consolas"/>
              </a:rPr>
              <a:t>conc</a:t>
            </a:r>
          </a:p>
        </p:txBody>
      </p:sp>
      <p:sp>
        <p:nvSpPr>
          <p:cNvPr id="50" name="TextBox 49"/>
          <p:cNvSpPr txBox="1"/>
          <p:nvPr/>
        </p:nvSpPr>
        <p:spPr>
          <a:xfrm>
            <a:off x="6757416" y="4700016"/>
            <a:ext cx="1188720" cy="274320"/>
          </a:xfrm>
          <a:prstGeom prst="rect">
            <a:avLst/>
          </a:prstGeom>
          <a:noFill/>
        </p:spPr>
        <p:txBody>
          <a:bodyPr wrap="square" lIns="0" tIns="0" rIns="0" bIns="0" anchor="t">
            <a:spAutoFit/>
          </a:bodyPr>
          <a:lstStyle/>
          <a:p>
            <a:pPr>
              <a:spcBef>
                <a:spcPts val="0"/>
              </a:spcBef>
              <a:spcAft>
                <a:spcPts val="0"/>
              </a:spcAft>
            </a:pPr>
            <a:r>
              <a:rPr sz="1350" b="1" i="0">
                <a:solidFill>
                  <a:srgbClr val="A8452B"/>
                </a:solidFill>
                <a:latin typeface="Consolas"/>
              </a:rPr>
              <a:t>async</a:t>
            </a:r>
          </a:p>
        </p:txBody>
      </p:sp>
      <p:sp>
        <p:nvSpPr>
          <p:cNvPr id="51" name="TextBox 50"/>
          <p:cNvSpPr txBox="1"/>
          <p:nvPr/>
        </p:nvSpPr>
        <p:spPr>
          <a:xfrm>
            <a:off x="8037575" y="4700016"/>
            <a:ext cx="3840480" cy="274320"/>
          </a:xfrm>
          <a:prstGeom prst="rect">
            <a:avLst/>
          </a:prstGeom>
          <a:noFill/>
        </p:spPr>
        <p:txBody>
          <a:bodyPr wrap="square" lIns="0" tIns="0" rIns="0" bIns="0" anchor="t">
            <a:spAutoFit/>
          </a:bodyPr>
          <a:lstStyle/>
          <a:p>
            <a:pPr>
              <a:spcBef>
                <a:spcPts val="0"/>
              </a:spcBef>
              <a:spcAft>
                <a:spcPts val="0"/>
              </a:spcAft>
            </a:pPr>
            <a:r>
              <a:rPr sz="1350" b="0" i="0">
                <a:solidFill>
                  <a:srgbClr val="3D4653"/>
                </a:solidFill>
                <a:latin typeface="Calibri"/>
              </a:rPr>
              <a:t>Production callee, depth 1</a:t>
            </a:r>
          </a:p>
        </p:txBody>
      </p:sp>
      <p:sp>
        <p:nvSpPr>
          <p:cNvPr id="52" name="Rectangle 51"/>
          <p:cNvSpPr/>
          <p:nvPr/>
        </p:nvSpPr>
        <p:spPr>
          <a:xfrm>
            <a:off x="658368" y="5020056"/>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58368" y="5303520"/>
            <a:ext cx="1188720" cy="274320"/>
          </a:xfrm>
          <a:prstGeom prst="rect">
            <a:avLst/>
          </a:prstGeom>
          <a:noFill/>
        </p:spPr>
        <p:txBody>
          <a:bodyPr wrap="square" lIns="0" tIns="0" rIns="0" bIns="0" anchor="t">
            <a:spAutoFit/>
          </a:bodyPr>
          <a:lstStyle/>
          <a:p>
            <a:pPr>
              <a:spcBef>
                <a:spcPts val="0"/>
              </a:spcBef>
              <a:spcAft>
                <a:spcPts val="0"/>
              </a:spcAft>
            </a:pPr>
            <a:r>
              <a:rPr sz="1400" b="1" i="0">
                <a:solidFill>
                  <a:srgbClr val="2F4858"/>
                </a:solidFill>
                <a:latin typeface="Consolas"/>
              </a:rPr>
              <a:t>9 of 17</a:t>
            </a:r>
          </a:p>
        </p:txBody>
      </p:sp>
      <p:sp>
        <p:nvSpPr>
          <p:cNvPr id="54" name="TextBox 53"/>
          <p:cNvSpPr txBox="1"/>
          <p:nvPr/>
        </p:nvSpPr>
        <p:spPr>
          <a:xfrm>
            <a:off x="1892808" y="5303520"/>
            <a:ext cx="9144000" cy="274320"/>
          </a:xfrm>
          <a:prstGeom prst="rect">
            <a:avLst/>
          </a:prstGeom>
          <a:noFill/>
        </p:spPr>
        <p:txBody>
          <a:bodyPr wrap="square" lIns="0" tIns="0" rIns="0" bIns="0" anchor="t">
            <a:spAutoFit/>
          </a:bodyPr>
          <a:lstStyle/>
          <a:p>
            <a:pPr>
              <a:spcBef>
                <a:spcPts val="0"/>
              </a:spcBef>
              <a:spcAft>
                <a:spcPts val="0"/>
              </a:spcAft>
            </a:pPr>
            <a:r>
              <a:rPr sz="1400" b="0" i="0">
                <a:solidFill>
                  <a:srgbClr val="3D4653"/>
                </a:solidFill>
                <a:latin typeface="Calibri"/>
              </a:rPr>
              <a:t>reachable from the class fixture and static fields alone</a:t>
            </a:r>
          </a:p>
        </p:txBody>
      </p:sp>
      <p:sp>
        <p:nvSpPr>
          <p:cNvPr id="55" name="TextBox 54"/>
          <p:cNvSpPr txBox="1"/>
          <p:nvPr/>
        </p:nvSpPr>
        <p:spPr>
          <a:xfrm>
            <a:off x="658368" y="5632704"/>
            <a:ext cx="1188720" cy="274320"/>
          </a:xfrm>
          <a:prstGeom prst="rect">
            <a:avLst/>
          </a:prstGeom>
          <a:noFill/>
        </p:spPr>
        <p:txBody>
          <a:bodyPr wrap="square" lIns="0" tIns="0" rIns="0" bIns="0" anchor="t">
            <a:spAutoFit/>
          </a:bodyPr>
          <a:lstStyle/>
          <a:p>
            <a:pPr>
              <a:spcBef>
                <a:spcPts val="0"/>
              </a:spcBef>
              <a:spcAft>
                <a:spcPts val="0"/>
              </a:spcAft>
            </a:pPr>
            <a:r>
              <a:rPr sz="1400" b="1" i="0">
                <a:solidFill>
                  <a:srgbClr val="2F4858"/>
                </a:solidFill>
                <a:latin typeface="Consolas"/>
              </a:rPr>
              <a:t>4 of 17</a:t>
            </a:r>
          </a:p>
        </p:txBody>
      </p:sp>
      <p:sp>
        <p:nvSpPr>
          <p:cNvPr id="56" name="TextBox 55"/>
          <p:cNvSpPr txBox="1"/>
          <p:nvPr/>
        </p:nvSpPr>
        <p:spPr>
          <a:xfrm>
            <a:off x="1892808" y="5632704"/>
            <a:ext cx="9144000" cy="274320"/>
          </a:xfrm>
          <a:prstGeom prst="rect">
            <a:avLst/>
          </a:prstGeom>
          <a:noFill/>
        </p:spPr>
        <p:txBody>
          <a:bodyPr wrap="square" lIns="0" tIns="0" rIns="0" bIns="0" anchor="t">
            <a:spAutoFit/>
          </a:bodyPr>
          <a:lstStyle/>
          <a:p>
            <a:pPr>
              <a:spcBef>
                <a:spcPts val="0"/>
              </a:spcBef>
              <a:spcAft>
                <a:spcPts val="0"/>
              </a:spcAft>
            </a:pPr>
            <a:r>
              <a:rPr sz="1400" b="0" i="0">
                <a:solidFill>
                  <a:srgbClr val="3D4653"/>
                </a:solidFill>
                <a:latin typeface="Calibri"/>
              </a:rPr>
              <a:t>need a same-file private helper</a:t>
            </a:r>
          </a:p>
        </p:txBody>
      </p:sp>
      <p:sp>
        <p:nvSpPr>
          <p:cNvPr id="57" name="TextBox 56"/>
          <p:cNvSpPr txBox="1"/>
          <p:nvPr/>
        </p:nvSpPr>
        <p:spPr>
          <a:xfrm>
            <a:off x="658368" y="5961888"/>
            <a:ext cx="1188720" cy="274320"/>
          </a:xfrm>
          <a:prstGeom prst="rect">
            <a:avLst/>
          </a:prstGeom>
          <a:noFill/>
        </p:spPr>
        <p:txBody>
          <a:bodyPr wrap="square" lIns="0" tIns="0" rIns="0" bIns="0" anchor="t">
            <a:spAutoFit/>
          </a:bodyPr>
          <a:lstStyle/>
          <a:p>
            <a:pPr>
              <a:spcBef>
                <a:spcPts val="0"/>
              </a:spcBef>
              <a:spcAft>
                <a:spcPts val="0"/>
              </a:spcAft>
            </a:pPr>
            <a:r>
              <a:rPr sz="1400" b="1" i="0">
                <a:solidFill>
                  <a:srgbClr val="2F4858"/>
                </a:solidFill>
                <a:latin typeface="Consolas"/>
              </a:rPr>
              <a:t>4 of 17</a:t>
            </a:r>
          </a:p>
        </p:txBody>
      </p:sp>
      <p:sp>
        <p:nvSpPr>
          <p:cNvPr id="58" name="TextBox 57"/>
          <p:cNvSpPr txBox="1"/>
          <p:nvPr/>
        </p:nvSpPr>
        <p:spPr>
          <a:xfrm>
            <a:off x="1892808" y="5961888"/>
            <a:ext cx="9144000" cy="274320"/>
          </a:xfrm>
          <a:prstGeom prst="rect">
            <a:avLst/>
          </a:prstGeom>
          <a:noFill/>
        </p:spPr>
        <p:txBody>
          <a:bodyPr wrap="square" lIns="0" tIns="0" rIns="0" bIns="0" anchor="t">
            <a:spAutoFit/>
          </a:bodyPr>
          <a:lstStyle/>
          <a:p>
            <a:pPr>
              <a:spcBef>
                <a:spcPts val="0"/>
              </a:spcBef>
              <a:spcAft>
                <a:spcPts val="0"/>
              </a:spcAft>
            </a:pPr>
            <a:r>
              <a:rPr sz="1400" b="0" i="0">
                <a:solidFill>
                  <a:srgbClr val="3D4653"/>
                </a:solidFill>
                <a:latin typeface="Calibri"/>
              </a:rPr>
              <a:t>need a production callee at depth 1</a:t>
            </a:r>
          </a:p>
        </p:txBody>
      </p:sp>
      <p:sp>
        <p:nvSpPr>
          <p:cNvPr id="59" name="TextBox 58"/>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IMPLICATION</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What to extract, cheapest first</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865376"/>
            <a:ext cx="365760" cy="32004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1</a:t>
            </a:r>
          </a:p>
        </p:txBody>
      </p:sp>
      <p:sp>
        <p:nvSpPr>
          <p:cNvPr id="6" name="TextBox 5"/>
          <p:cNvSpPr txBox="1"/>
          <p:nvPr/>
        </p:nvSpPr>
        <p:spPr>
          <a:xfrm>
            <a:off x="1069848" y="1847088"/>
            <a:ext cx="7863840" cy="320040"/>
          </a:xfrm>
          <a:prstGeom prst="rect">
            <a:avLst/>
          </a:prstGeom>
          <a:noFill/>
        </p:spPr>
        <p:txBody>
          <a:bodyPr wrap="square" lIns="0" tIns="0" rIns="0" bIns="0" anchor="t">
            <a:spAutoFit/>
          </a:bodyPr>
          <a:lstStyle/>
          <a:p>
            <a:pPr>
              <a:spcBef>
                <a:spcPts val="0"/>
              </a:spcBef>
              <a:spcAft>
                <a:spcPts val="0"/>
              </a:spcAft>
            </a:pPr>
            <a:r>
              <a:rPr sz="1750" b="1" i="0">
                <a:solidFill>
                  <a:srgbClr val="151A21"/>
                </a:solidFill>
                <a:latin typeface="Calibri"/>
              </a:rPr>
              <a:t>Static fields and fixture bodies</a:t>
            </a:r>
          </a:p>
        </p:txBody>
      </p:sp>
      <p:sp>
        <p:nvSpPr>
          <p:cNvPr id="7" name="Rectangle 6"/>
          <p:cNvSpPr/>
          <p:nvPr/>
        </p:nvSpPr>
        <p:spPr>
          <a:xfrm>
            <a:off x="10481767" y="1865376"/>
            <a:ext cx="1051560"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481767" y="1865376"/>
            <a:ext cx="10515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2F4858"/>
                </a:solidFill>
                <a:latin typeface="Consolas"/>
              </a:rPr>
              <a:t>9 of 17</a:t>
            </a:r>
          </a:p>
        </p:txBody>
      </p:sp>
      <p:sp>
        <p:nvSpPr>
          <p:cNvPr id="9" name="TextBox 8"/>
          <p:cNvSpPr txBox="1"/>
          <p:nvPr/>
        </p:nvSpPr>
        <p:spPr>
          <a:xfrm>
            <a:off x="1069848" y="2212848"/>
            <a:ext cx="10149840" cy="658368"/>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Static field declarations, every setup and teardown body, and whether a per-test reset exists at all. A parse away. No symbol resolution, no call graph, no build.</a:t>
            </a:r>
          </a:p>
        </p:txBody>
      </p:sp>
      <p:sp>
        <p:nvSpPr>
          <p:cNvPr id="10" name="Rectangle 9"/>
          <p:cNvSpPr/>
          <p:nvPr/>
        </p:nvSpPr>
        <p:spPr>
          <a:xfrm>
            <a:off x="658368" y="2798064"/>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980944"/>
            <a:ext cx="365760" cy="32004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2</a:t>
            </a:r>
          </a:p>
        </p:txBody>
      </p:sp>
      <p:sp>
        <p:nvSpPr>
          <p:cNvPr id="12" name="TextBox 11"/>
          <p:cNvSpPr txBox="1"/>
          <p:nvPr/>
        </p:nvSpPr>
        <p:spPr>
          <a:xfrm>
            <a:off x="1069848" y="2962656"/>
            <a:ext cx="7863840" cy="320040"/>
          </a:xfrm>
          <a:prstGeom prst="rect">
            <a:avLst/>
          </a:prstGeom>
          <a:noFill/>
        </p:spPr>
        <p:txBody>
          <a:bodyPr wrap="square" lIns="0" tIns="0" rIns="0" bIns="0" anchor="t">
            <a:spAutoFit/>
          </a:bodyPr>
          <a:lstStyle/>
          <a:p>
            <a:pPr>
              <a:spcBef>
                <a:spcPts val="0"/>
              </a:spcBef>
              <a:spcAft>
                <a:spcPts val="0"/>
              </a:spcAft>
            </a:pPr>
            <a:r>
              <a:rPr sz="1750" b="1" i="0">
                <a:solidFill>
                  <a:srgbClr val="151A21"/>
                </a:solidFill>
                <a:latin typeface="Calibri"/>
              </a:rPr>
              <a:t>Same-file helper bodies</a:t>
            </a:r>
          </a:p>
        </p:txBody>
      </p:sp>
      <p:sp>
        <p:nvSpPr>
          <p:cNvPr id="13" name="Rectangle 12"/>
          <p:cNvSpPr/>
          <p:nvPr/>
        </p:nvSpPr>
        <p:spPr>
          <a:xfrm>
            <a:off x="10481767" y="2980944"/>
            <a:ext cx="1051560"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481767" y="2980944"/>
            <a:ext cx="10515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2F4858"/>
                </a:solidFill>
                <a:latin typeface="Consolas"/>
              </a:rPr>
              <a:t>+4</a:t>
            </a:r>
          </a:p>
        </p:txBody>
      </p:sp>
      <p:sp>
        <p:nvSpPr>
          <p:cNvPr id="15" name="TextBox 14"/>
          <p:cNvSpPr txBox="1"/>
          <p:nvPr/>
        </p:nvSpPr>
        <p:spPr>
          <a:xfrm>
            <a:off x="1069848" y="3328416"/>
            <a:ext cx="10149840" cy="658368"/>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Private methods the test invokes. Includes the one case where the helper actively refutes the predicted category. Name-and-arity matching inside one file is enough.</a:t>
            </a:r>
          </a:p>
        </p:txBody>
      </p:sp>
      <p:sp>
        <p:nvSpPr>
          <p:cNvPr id="16" name="Rectangle 15"/>
          <p:cNvSpPr/>
          <p:nvPr/>
        </p:nvSpPr>
        <p:spPr>
          <a:xfrm>
            <a:off x="658368" y="391363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4096511"/>
            <a:ext cx="365760" cy="32004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3</a:t>
            </a:r>
          </a:p>
        </p:txBody>
      </p:sp>
      <p:sp>
        <p:nvSpPr>
          <p:cNvPr id="18" name="TextBox 17"/>
          <p:cNvSpPr txBox="1"/>
          <p:nvPr/>
        </p:nvSpPr>
        <p:spPr>
          <a:xfrm>
            <a:off x="1069848" y="4078224"/>
            <a:ext cx="7863840" cy="320040"/>
          </a:xfrm>
          <a:prstGeom prst="rect">
            <a:avLst/>
          </a:prstGeom>
          <a:noFill/>
        </p:spPr>
        <p:txBody>
          <a:bodyPr wrap="square" lIns="0" tIns="0" rIns="0" bIns="0" anchor="t">
            <a:spAutoFit/>
          </a:bodyPr>
          <a:lstStyle/>
          <a:p>
            <a:pPr>
              <a:spcBef>
                <a:spcPts val="0"/>
              </a:spcBef>
              <a:spcAft>
                <a:spcPts val="0"/>
              </a:spcAft>
            </a:pPr>
            <a:r>
              <a:rPr sz="1750" b="1" i="0">
                <a:solidFill>
                  <a:srgbClr val="151A21"/>
                </a:solidFill>
                <a:latin typeface="Calibri"/>
              </a:rPr>
              <a:t>Sibling-test writes to shared state</a:t>
            </a:r>
          </a:p>
        </p:txBody>
      </p:sp>
      <p:sp>
        <p:nvSpPr>
          <p:cNvPr id="19" name="TextBox 18"/>
          <p:cNvSpPr txBox="1"/>
          <p:nvPr/>
        </p:nvSpPr>
        <p:spPr>
          <a:xfrm>
            <a:off x="1069848" y="4443984"/>
            <a:ext cx="10149840" cy="658368"/>
          </a:xfrm>
          <a:prstGeom prst="rect">
            <a:avLst/>
          </a:prstGeom>
          <a:noFill/>
        </p:spPr>
        <p:txBody>
          <a:bodyPr wrap="square" lIns="0" tIns="0" rIns="0" bIns="0" anchor="t">
            <a:spAutoFit/>
          </a:bodyPr>
          <a:lstStyle/>
          <a:p>
            <a:pPr>
              <a:lnSpc>
                <a:spcPct val="126000"/>
              </a:lnSpc>
              <a:spcBef>
                <a:spcPts val="0"/>
              </a:spcBef>
              <a:spcAft>
                <a:spcPts val="0"/>
              </a:spcAft>
            </a:pPr>
            <a:r>
              <a:rPr sz="1400" b="0" i="0">
                <a:solidFill>
                  <a:srgbClr val="3D4653"/>
                </a:solidFill>
                <a:latin typeface="Calibri"/>
              </a:rPr>
              <a:t>Which other tests in the class assign to the static fields this test reads. The single feature no body-only representation can approximate.</a:t>
            </a:r>
          </a:p>
        </p:txBody>
      </p:sp>
      <p:sp>
        <p:nvSpPr>
          <p:cNvPr id="20" name="Rectangle 19"/>
          <p:cNvSpPr/>
          <p:nvPr/>
        </p:nvSpPr>
        <p:spPr>
          <a:xfrm>
            <a:off x="658368" y="5029200"/>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5212079"/>
            <a:ext cx="365760" cy="320040"/>
          </a:xfrm>
          <a:prstGeom prst="rect">
            <a:avLst/>
          </a:prstGeom>
          <a:noFill/>
        </p:spPr>
        <p:txBody>
          <a:bodyPr wrap="square" lIns="0" tIns="0" rIns="0" bIns="0" anchor="t">
            <a:spAutoFit/>
          </a:bodyPr>
          <a:lstStyle/>
          <a:p>
            <a:pPr>
              <a:spcBef>
                <a:spcPts val="0"/>
              </a:spcBef>
              <a:spcAft>
                <a:spcPts val="0"/>
              </a:spcAft>
            </a:pPr>
            <a:r>
              <a:rPr sz="1500" b="0" i="0">
                <a:solidFill>
                  <a:srgbClr val="6B7684"/>
                </a:solidFill>
                <a:latin typeface="Consolas"/>
              </a:rPr>
              <a:t>4</a:t>
            </a:r>
          </a:p>
        </p:txBody>
      </p:sp>
      <p:sp>
        <p:nvSpPr>
          <p:cNvPr id="22" name="TextBox 21"/>
          <p:cNvSpPr txBox="1"/>
          <p:nvPr/>
        </p:nvSpPr>
        <p:spPr>
          <a:xfrm>
            <a:off x="1069848" y="5193792"/>
            <a:ext cx="7863840" cy="320040"/>
          </a:xfrm>
          <a:prstGeom prst="rect">
            <a:avLst/>
          </a:prstGeom>
          <a:noFill/>
        </p:spPr>
        <p:txBody>
          <a:bodyPr wrap="square" lIns="0" tIns="0" rIns="0" bIns="0" anchor="t">
            <a:spAutoFit/>
          </a:bodyPr>
          <a:lstStyle/>
          <a:p>
            <a:pPr>
              <a:spcBef>
                <a:spcPts val="0"/>
              </a:spcBef>
              <a:spcAft>
                <a:spcPts val="0"/>
              </a:spcAft>
            </a:pPr>
            <a:r>
              <a:rPr sz="1750" b="1" i="0">
                <a:solidFill>
                  <a:srgbClr val="151A21"/>
                </a:solidFill>
                <a:latin typeface="Calibri"/>
              </a:rPr>
              <a:t>Production callees at depth 1</a:t>
            </a:r>
          </a:p>
        </p:txBody>
      </p:sp>
      <p:sp>
        <p:nvSpPr>
          <p:cNvPr id="23" name="Rectangle 22"/>
          <p:cNvSpPr/>
          <p:nvPr/>
        </p:nvSpPr>
        <p:spPr>
          <a:xfrm>
            <a:off x="10481767" y="5212079"/>
            <a:ext cx="1051560" cy="274320"/>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81767" y="5212079"/>
            <a:ext cx="1051560" cy="274320"/>
          </a:xfrm>
          <a:prstGeom prst="rect">
            <a:avLst/>
          </a:prstGeom>
          <a:noFill/>
        </p:spPr>
        <p:txBody>
          <a:bodyPr wrap="square" lIns="0" tIns="0" rIns="0" bIns="0" anchor="ctr">
            <a:spAutoFit/>
          </a:bodyPr>
          <a:lstStyle/>
          <a:p>
            <a:pPr algn="ctr">
              <a:spcBef>
                <a:spcPts val="0"/>
              </a:spcBef>
              <a:spcAft>
                <a:spcPts val="0"/>
              </a:spcAft>
            </a:pPr>
            <a:r>
              <a:rPr sz="1100" b="1" i="0">
                <a:solidFill>
                  <a:srgbClr val="2F4858"/>
                </a:solidFill>
                <a:latin typeface="Consolas"/>
              </a:rPr>
              <a:t>+4</a:t>
            </a:r>
          </a:p>
        </p:txBody>
      </p:sp>
      <p:sp>
        <p:nvSpPr>
          <p:cNvPr id="25" name="TextBox 24"/>
          <p:cNvSpPr txBox="1"/>
          <p:nvPr/>
        </p:nvSpPr>
        <p:spPr>
          <a:xfrm>
            <a:off x="1069848" y="5559552"/>
            <a:ext cx="10149840" cy="658368"/>
          </a:xfrm>
          <a:prstGeom prst="rect">
            <a:avLst/>
          </a:prstGeom>
          <a:noFill/>
        </p:spPr>
        <p:txBody>
          <a:bodyPr wrap="square" lIns="0" tIns="0" rIns="0" bIns="0" anchor="t">
            <a:spAutoFit/>
          </a:bodyPr>
          <a:lstStyle/>
          <a:p>
            <a:pPr>
              <a:lnSpc>
                <a:spcPct val="126000"/>
              </a:lnSpc>
              <a:spcBef>
                <a:spcPts val="0"/>
              </a:spcBef>
              <a:spcAft>
                <a:spcPts val="0"/>
              </a:spcAft>
            </a:pPr>
            <a:r>
              <a:rPr sz="1400" b="0" i="0" dirty="0">
                <a:solidFill>
                  <a:srgbClr val="3D4653"/>
                </a:solidFill>
                <a:latin typeface="Calibri"/>
              </a:rPr>
              <a:t>The focal-method expansion already in the plan. All four hinge on a background thread, a synchronized accessor, or a hash container in the class under test.</a:t>
            </a:r>
          </a:p>
        </p:txBody>
      </p:sp>
      <p:sp>
        <p:nvSpPr>
          <p:cNvPr id="26" name="Rectangle 25"/>
          <p:cNvSpPr/>
          <p:nvPr/>
        </p:nvSpPr>
        <p:spPr>
          <a:xfrm>
            <a:off x="649224" y="6099049"/>
            <a:ext cx="10874959" cy="658368"/>
          </a:xfrm>
          <a:prstGeom prst="rect">
            <a:avLst/>
          </a:prstGeom>
          <a:solidFill>
            <a:srgbClr val="E3EA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67817" y="6071616"/>
            <a:ext cx="45720" cy="658368"/>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1248" y="6245352"/>
            <a:ext cx="10972800" cy="365760"/>
          </a:xfrm>
          <a:prstGeom prst="rect">
            <a:avLst/>
          </a:prstGeom>
          <a:noFill/>
        </p:spPr>
        <p:txBody>
          <a:bodyPr wrap="square" lIns="0" tIns="0" rIns="0" bIns="0" anchor="t">
            <a:spAutoFit/>
          </a:bodyPr>
          <a:lstStyle/>
          <a:p>
            <a:pPr>
              <a:spcBef>
                <a:spcPts val="0"/>
              </a:spcBef>
              <a:spcAft>
                <a:spcPts val="0"/>
              </a:spcAft>
            </a:pPr>
            <a:r>
              <a:rPr sz="1500" b="1" i="0" dirty="0">
                <a:solidFill>
                  <a:srgbClr val="2F4858"/>
                </a:solidFill>
                <a:latin typeface="Calibri"/>
              </a:rPr>
              <a:t>Steps 1 to 3 use only the test file already downloaded for the benchmark. Only step 4 needs Spoon, and only to depth 1.</a:t>
            </a:r>
          </a:p>
        </p:txBody>
      </p:sp>
      <p:sp>
        <p:nvSpPr>
          <p:cNvPr id="29" name="TextBox 28"/>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NEXT</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How to test whether it actually helps</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74519"/>
            <a:ext cx="5394960" cy="278892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103120"/>
            <a:ext cx="4846320" cy="365760"/>
          </a:xfrm>
          <a:prstGeom prst="rect">
            <a:avLst/>
          </a:prstGeom>
          <a:noFill/>
        </p:spPr>
        <p:txBody>
          <a:bodyPr wrap="square" lIns="0" tIns="0" rIns="0" bIns="0" anchor="t">
            <a:spAutoFit/>
          </a:bodyPr>
          <a:lstStyle/>
          <a:p>
            <a:pPr>
              <a:spcBef>
                <a:spcPts val="0"/>
              </a:spcBef>
              <a:spcAft>
                <a:spcPts val="0"/>
              </a:spcAft>
            </a:pPr>
            <a:r>
              <a:rPr sz="1200" b="1" i="0">
                <a:solidFill>
                  <a:srgbClr val="6B7684"/>
                </a:solidFill>
                <a:latin typeface="Consolas"/>
              </a:rPr>
              <a:t>Cheap · this week</a:t>
            </a:r>
          </a:p>
        </p:txBody>
      </p:sp>
      <p:sp>
        <p:nvSpPr>
          <p:cNvPr id="7" name="TextBox 6"/>
          <p:cNvSpPr txBox="1"/>
          <p:nvPr/>
        </p:nvSpPr>
        <p:spPr>
          <a:xfrm>
            <a:off x="932688" y="2468880"/>
            <a:ext cx="4846320" cy="457200"/>
          </a:xfrm>
          <a:prstGeom prst="rect">
            <a:avLst/>
          </a:prstGeom>
          <a:noFill/>
        </p:spPr>
        <p:txBody>
          <a:bodyPr wrap="square" lIns="0" tIns="0" rIns="0" bIns="0" anchor="t">
            <a:spAutoFit/>
          </a:bodyPr>
          <a:lstStyle/>
          <a:p>
            <a:pPr>
              <a:spcBef>
                <a:spcPts val="0"/>
              </a:spcBef>
              <a:spcAft>
                <a:spcPts val="0"/>
              </a:spcAft>
            </a:pPr>
            <a:r>
              <a:rPr sz="2000" b="1" i="0">
                <a:solidFill>
                  <a:srgbClr val="151A21"/>
                </a:solidFill>
                <a:latin typeface="Calibri"/>
              </a:rPr>
              <a:t>No training, no GPU</a:t>
            </a:r>
          </a:p>
        </p:txBody>
      </p:sp>
      <p:sp>
        <p:nvSpPr>
          <p:cNvPr id="8" name="TextBox 7"/>
          <p:cNvSpPr txBox="1"/>
          <p:nvPr/>
        </p:nvSpPr>
        <p:spPr>
          <a:xfrm>
            <a:off x="932688" y="2999232"/>
            <a:ext cx="4846320" cy="146304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3D4653"/>
                </a:solidFill>
                <a:latin typeface="Calibri"/>
              </a:rPr>
              <a:t>Run the existing zero-shot prompt on the 280 flaky tests twice: body alone, then body plus class fixture, static fields and called helpers. Count how many of the 105 errors flip. The prompt is already in the repo.</a:t>
            </a:r>
          </a:p>
        </p:txBody>
      </p:sp>
      <p:sp>
        <p:nvSpPr>
          <p:cNvPr id="9" name="Rectangle 8"/>
          <p:cNvSpPr/>
          <p:nvPr/>
        </p:nvSpPr>
        <p:spPr>
          <a:xfrm>
            <a:off x="6327648" y="1874519"/>
            <a:ext cx="5394960" cy="2788920"/>
          </a:xfrm>
          <a:prstGeom prst="rect">
            <a:avLst/>
          </a:prstGeom>
          <a:solidFill>
            <a:srgbClr val="ED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2103120"/>
            <a:ext cx="4846320" cy="365760"/>
          </a:xfrm>
          <a:prstGeom prst="rect">
            <a:avLst/>
          </a:prstGeom>
          <a:noFill/>
        </p:spPr>
        <p:txBody>
          <a:bodyPr wrap="square" lIns="0" tIns="0" rIns="0" bIns="0" anchor="t">
            <a:spAutoFit/>
          </a:bodyPr>
          <a:lstStyle/>
          <a:p>
            <a:pPr>
              <a:spcBef>
                <a:spcPts val="0"/>
              </a:spcBef>
              <a:spcAft>
                <a:spcPts val="0"/>
              </a:spcAft>
            </a:pPr>
            <a:r>
              <a:rPr sz="1200" b="1" i="0">
                <a:solidFill>
                  <a:srgbClr val="6B7684"/>
                </a:solidFill>
                <a:latin typeface="Consolas"/>
              </a:rPr>
              <a:t>Real · after that</a:t>
            </a:r>
          </a:p>
        </p:txBody>
      </p:sp>
      <p:sp>
        <p:nvSpPr>
          <p:cNvPr id="11" name="TextBox 10"/>
          <p:cNvSpPr txBox="1"/>
          <p:nvPr/>
        </p:nvSpPr>
        <p:spPr>
          <a:xfrm>
            <a:off x="6601968" y="2468880"/>
            <a:ext cx="4846320" cy="457200"/>
          </a:xfrm>
          <a:prstGeom prst="rect">
            <a:avLst/>
          </a:prstGeom>
          <a:noFill/>
        </p:spPr>
        <p:txBody>
          <a:bodyPr wrap="square" lIns="0" tIns="0" rIns="0" bIns="0" anchor="t">
            <a:spAutoFit/>
          </a:bodyPr>
          <a:lstStyle/>
          <a:p>
            <a:pPr>
              <a:spcBef>
                <a:spcPts val="0"/>
              </a:spcBef>
              <a:spcAft>
                <a:spcPts val="0"/>
              </a:spcAft>
            </a:pPr>
            <a:r>
              <a:rPr sz="2000" b="1" i="0">
                <a:solidFill>
                  <a:srgbClr val="151A21"/>
                </a:solidFill>
                <a:latin typeface="Calibri"/>
              </a:rPr>
              <a:t>Retrain on the same folds</a:t>
            </a:r>
          </a:p>
        </p:txBody>
      </p:sp>
      <p:sp>
        <p:nvSpPr>
          <p:cNvPr id="12" name="TextBox 11"/>
          <p:cNvSpPr txBox="1"/>
          <p:nvPr/>
        </p:nvSpPr>
        <p:spPr>
          <a:xfrm>
            <a:off x="6601968" y="2999232"/>
            <a:ext cx="4846320" cy="1463040"/>
          </a:xfrm>
          <a:prstGeom prst="rect">
            <a:avLst/>
          </a:prstGeom>
          <a:noFill/>
        </p:spPr>
        <p:txBody>
          <a:bodyPr wrap="square" lIns="0" tIns="0" rIns="0" bIns="0" anchor="t">
            <a:spAutoFit/>
          </a:bodyPr>
          <a:lstStyle/>
          <a:p>
            <a:pPr>
              <a:lnSpc>
                <a:spcPct val="128000"/>
              </a:lnSpc>
              <a:spcBef>
                <a:spcPts val="0"/>
              </a:spcBef>
              <a:spcAft>
                <a:spcPts val="0"/>
              </a:spcAft>
            </a:pPr>
            <a:r>
              <a:rPr sz="1400" b="0" i="0">
                <a:solidFill>
                  <a:srgbClr val="3D4653"/>
                </a:solidFill>
                <a:latin typeface="Calibri"/>
              </a:rPr>
              <a:t>Fine-tune the same encoder with context appended and report the delta. The existing weights cannot be reused: they were trained on bodies only, so feeding them context measures distribution shift, not information gain.</a:t>
            </a:r>
          </a:p>
        </p:txBody>
      </p:sp>
      <p:sp>
        <p:nvSpPr>
          <p:cNvPr id="13" name="Rectangle 12"/>
          <p:cNvSpPr/>
          <p:nvPr/>
        </p:nvSpPr>
        <p:spPr>
          <a:xfrm>
            <a:off x="658368" y="4937760"/>
            <a:ext cx="10874959" cy="868680"/>
          </a:xfrm>
          <a:prstGeom prst="rect">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 y="4937760"/>
            <a:ext cx="45720" cy="86868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50976" y="5120640"/>
            <a:ext cx="10972800" cy="640080"/>
          </a:xfrm>
          <a:prstGeom prst="rect">
            <a:avLst/>
          </a:prstGeom>
          <a:noFill/>
        </p:spPr>
        <p:txBody>
          <a:bodyPr wrap="square" lIns="0" tIns="0" rIns="0" bIns="0" anchor="t">
            <a:spAutoFit/>
          </a:bodyPr>
          <a:lstStyle/>
          <a:p>
            <a:pPr>
              <a:lnSpc>
                <a:spcPct val="126000"/>
              </a:lnSpc>
              <a:spcBef>
                <a:spcPts val="0"/>
              </a:spcBef>
              <a:spcAft>
                <a:spcPts val="0"/>
              </a:spcAft>
            </a:pPr>
            <a:r>
              <a:rPr sz="1500" b="1" i="0">
                <a:solidFill>
                  <a:srgbClr val="151A21"/>
                </a:solidFill>
                <a:latin typeface="Calibri"/>
              </a:rPr>
              <a:t>Both must report flaky-subset macro-F1 and full-benchmark macro-F1 separately. The 8,294 non-flaky tests are already perfect, so context can only cost accuracy there.</a:t>
            </a:r>
          </a:p>
        </p:txBody>
      </p:sp>
      <p:sp>
        <p:nvSpPr>
          <p:cNvPr id="16" name="TextBox 15"/>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10058400" cy="274320"/>
          </a:xfrm>
          <a:prstGeom prst="rect">
            <a:avLst/>
          </a:prstGeom>
          <a:noFill/>
        </p:spPr>
        <p:txBody>
          <a:bodyPr wrap="square" lIns="0" tIns="0" rIns="0" bIns="0" anchor="t">
            <a:spAutoFit/>
          </a:bodyPr>
          <a:lstStyle/>
          <a:p>
            <a:pPr>
              <a:spcBef>
                <a:spcPts val="0"/>
              </a:spcBef>
              <a:spcAft>
                <a:spcPts val="0"/>
              </a:spcAft>
            </a:pPr>
            <a:r>
              <a:rPr sz="1050" b="0" i="0">
                <a:solidFill>
                  <a:srgbClr val="6B7684"/>
                </a:solidFill>
                <a:latin typeface="Consolas"/>
              </a:rPr>
              <a:t>CAVEATS</a:t>
            </a:r>
          </a:p>
        </p:txBody>
      </p:sp>
      <p:sp>
        <p:nvSpPr>
          <p:cNvPr id="3" name="TextBox 2"/>
          <p:cNvSpPr txBox="1"/>
          <p:nvPr/>
        </p:nvSpPr>
        <p:spPr>
          <a:xfrm>
            <a:off x="658368" y="713232"/>
            <a:ext cx="10881360" cy="822960"/>
          </a:xfrm>
          <a:prstGeom prst="rect">
            <a:avLst/>
          </a:prstGeom>
          <a:noFill/>
        </p:spPr>
        <p:txBody>
          <a:bodyPr wrap="square" lIns="0" tIns="0" rIns="0" bIns="0" anchor="t">
            <a:spAutoFit/>
          </a:bodyPr>
          <a:lstStyle/>
          <a:p>
            <a:pPr>
              <a:lnSpc>
                <a:spcPct val="105000"/>
              </a:lnSpc>
              <a:spcBef>
                <a:spcPts val="0"/>
              </a:spcBef>
              <a:spcAft>
                <a:spcPts val="0"/>
              </a:spcAft>
            </a:pPr>
            <a:r>
              <a:rPr sz="3000" b="1" i="0">
                <a:solidFill>
                  <a:srgbClr val="151A21"/>
                </a:solidFill>
                <a:latin typeface="Calibri"/>
              </a:rPr>
              <a:t>What this does not yet show</a:t>
            </a:r>
          </a:p>
        </p:txBody>
      </p:sp>
      <p:sp>
        <p:nvSpPr>
          <p:cNvPr id="4" name="Rectangle 3"/>
          <p:cNvSpPr/>
          <p:nvPr/>
        </p:nvSpPr>
        <p:spPr>
          <a:xfrm>
            <a:off x="658368" y="1536192"/>
            <a:ext cx="10874959" cy="12700"/>
          </a:xfrm>
          <a:prstGeom prst="rect">
            <a:avLst/>
          </a:prstGeom>
          <a:solidFill>
            <a:srgbClr val="DCE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58368" y="184708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28800"/>
            <a:ext cx="10424160" cy="320040"/>
          </a:xfrm>
          <a:prstGeom prst="rect">
            <a:avLst/>
          </a:prstGeom>
          <a:noFill/>
        </p:spPr>
        <p:txBody>
          <a:bodyPr wrap="square" lIns="0" tIns="0" rIns="0" bIns="0" anchor="t">
            <a:spAutoFit/>
          </a:bodyPr>
          <a:lstStyle/>
          <a:p>
            <a:pPr>
              <a:spcBef>
                <a:spcPts val="0"/>
              </a:spcBef>
              <a:spcAft>
                <a:spcPts val="0"/>
              </a:spcAft>
            </a:pPr>
            <a:r>
              <a:rPr sz="1650" b="1" i="0">
                <a:solidFill>
                  <a:srgbClr val="151A21"/>
                </a:solidFill>
                <a:latin typeface="Calibri"/>
              </a:rPr>
              <a:t>6 of 33 did not resolve</a:t>
            </a:r>
          </a:p>
        </p:txBody>
      </p:sp>
      <p:sp>
        <p:nvSpPr>
          <p:cNvPr id="7" name="TextBox 6"/>
          <p:cNvSpPr txBox="1"/>
          <p:nvPr/>
        </p:nvSpPr>
        <p:spPr>
          <a:xfrm>
            <a:off x="914400" y="2157984"/>
            <a:ext cx="10332720" cy="685800"/>
          </a:xfrm>
          <a:prstGeom prst="rect">
            <a:avLst/>
          </a:prstGeom>
          <a:noFill/>
        </p:spPr>
        <p:txBody>
          <a:bodyPr wrap="square" lIns="0" tIns="0" rIns="0" bIns="0" anchor="t">
            <a:spAutoFit/>
          </a:bodyPr>
          <a:lstStyle/>
          <a:p>
            <a:pPr>
              <a:lnSpc>
                <a:spcPct val="124000"/>
              </a:lnSpc>
              <a:spcBef>
                <a:spcPts val="0"/>
              </a:spcBef>
              <a:spcAft>
                <a:spcPts val="0"/>
              </a:spcAft>
            </a:pPr>
            <a:r>
              <a:rPr sz="1350" b="0" i="0">
                <a:solidFill>
                  <a:srgbClr val="3D4653"/>
                </a:solidFill>
                <a:latin typeface="Calibri"/>
              </a:rPr>
              <a:t>TestHftpFileSystem (3) and TestBlockFixer name classes absent from all three commits, TestFairScheduler.testContinuousScheduling is missing from a class that exists, and one benchmark row carries a bare method name with no class. An 18% localisation failure on one project is a schedule risk for extraction at scale.</a:t>
            </a:r>
          </a:p>
        </p:txBody>
      </p:sp>
      <p:sp>
        <p:nvSpPr>
          <p:cNvPr id="8" name="Rectangle 7"/>
          <p:cNvSpPr/>
          <p:nvPr/>
        </p:nvSpPr>
        <p:spPr>
          <a:xfrm>
            <a:off x="658368" y="294436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926079"/>
            <a:ext cx="10424160" cy="320040"/>
          </a:xfrm>
          <a:prstGeom prst="rect">
            <a:avLst/>
          </a:prstGeom>
          <a:noFill/>
        </p:spPr>
        <p:txBody>
          <a:bodyPr wrap="square" lIns="0" tIns="0" rIns="0" bIns="0" anchor="t">
            <a:spAutoFit/>
          </a:bodyPr>
          <a:lstStyle/>
          <a:p>
            <a:pPr>
              <a:spcBef>
                <a:spcPts val="0"/>
              </a:spcBef>
              <a:spcAft>
                <a:spcPts val="0"/>
              </a:spcAft>
            </a:pPr>
            <a:r>
              <a:rPr sz="1650" b="1" i="0">
                <a:solidFill>
                  <a:srgbClr val="151A21"/>
                </a:solidFill>
                <a:latin typeface="Calibri"/>
              </a:rPr>
              <a:t>One project</a:t>
            </a:r>
          </a:p>
        </p:txBody>
      </p:sp>
      <p:sp>
        <p:nvSpPr>
          <p:cNvPr id="10" name="TextBox 9"/>
          <p:cNvSpPr txBox="1"/>
          <p:nvPr/>
        </p:nvSpPr>
        <p:spPr>
          <a:xfrm>
            <a:off x="914400" y="3255263"/>
            <a:ext cx="10332720" cy="685800"/>
          </a:xfrm>
          <a:prstGeom prst="rect">
            <a:avLst/>
          </a:prstGeom>
          <a:noFill/>
        </p:spPr>
        <p:txBody>
          <a:bodyPr wrap="square" lIns="0" tIns="0" rIns="0" bIns="0" anchor="t">
            <a:spAutoFit/>
          </a:bodyPr>
          <a:lstStyle/>
          <a:p>
            <a:pPr>
              <a:lnSpc>
                <a:spcPct val="124000"/>
              </a:lnSpc>
              <a:spcBef>
                <a:spcPts val="0"/>
              </a:spcBef>
              <a:spcAft>
                <a:spcPts val="0"/>
              </a:spcAft>
            </a:pPr>
            <a:r>
              <a:rPr sz="1350" b="0" i="0">
                <a:solidFill>
                  <a:srgbClr val="3D4653"/>
                </a:solidFill>
                <a:latin typeface="Calibri"/>
              </a:rPr>
              <a:t>Hadoop is the worst project in the benchmark and was chosen for that reason. cdap misses 8 of 11 and is the obvious second.</a:t>
            </a:r>
          </a:p>
        </p:txBody>
      </p:sp>
      <p:sp>
        <p:nvSpPr>
          <p:cNvPr id="11" name="Rectangle 10"/>
          <p:cNvSpPr/>
          <p:nvPr/>
        </p:nvSpPr>
        <p:spPr>
          <a:xfrm>
            <a:off x="658368" y="404164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023360"/>
            <a:ext cx="10424160" cy="320040"/>
          </a:xfrm>
          <a:prstGeom prst="rect">
            <a:avLst/>
          </a:prstGeom>
          <a:noFill/>
        </p:spPr>
        <p:txBody>
          <a:bodyPr wrap="square" lIns="0" tIns="0" rIns="0" bIns="0" anchor="t">
            <a:spAutoFit/>
          </a:bodyPr>
          <a:lstStyle/>
          <a:p>
            <a:pPr>
              <a:spcBef>
                <a:spcPts val="0"/>
              </a:spcBef>
              <a:spcAft>
                <a:spcPts val="0"/>
              </a:spcAft>
            </a:pPr>
            <a:r>
              <a:rPr sz="1650" b="1" i="0">
                <a:solidFill>
                  <a:srgbClr val="151A21"/>
                </a:solidFill>
                <a:latin typeface="Calibri"/>
              </a:rPr>
              <a:t>Evidence location is my reading</a:t>
            </a:r>
          </a:p>
        </p:txBody>
      </p:sp>
      <p:sp>
        <p:nvSpPr>
          <p:cNvPr id="13" name="TextBox 12"/>
          <p:cNvSpPr txBox="1"/>
          <p:nvPr/>
        </p:nvSpPr>
        <p:spPr>
          <a:xfrm>
            <a:off x="914400" y="4352544"/>
            <a:ext cx="10332720" cy="685800"/>
          </a:xfrm>
          <a:prstGeom prst="rect">
            <a:avLst/>
          </a:prstGeom>
          <a:noFill/>
        </p:spPr>
        <p:txBody>
          <a:bodyPr wrap="square" lIns="0" tIns="0" rIns="0" bIns="0" anchor="t">
            <a:spAutoFit/>
          </a:bodyPr>
          <a:lstStyle/>
          <a:p>
            <a:pPr>
              <a:lnSpc>
                <a:spcPct val="124000"/>
              </a:lnSpc>
              <a:spcBef>
                <a:spcPts val="0"/>
              </a:spcBef>
              <a:spcAft>
                <a:spcPts val="0"/>
              </a:spcAft>
            </a:pPr>
            <a:r>
              <a:rPr sz="1350" b="0" i="0">
                <a:solidFill>
                  <a:srgbClr val="3D4653"/>
                </a:solidFill>
                <a:latin typeface="Calibri"/>
              </a:rPr>
              <a:t>Each assignment traces to lines quoted here, but a second reader should check the 17 before this becomes a paper claim.</a:t>
            </a:r>
          </a:p>
        </p:txBody>
      </p:sp>
      <p:sp>
        <p:nvSpPr>
          <p:cNvPr id="14" name="Rectangle 13"/>
          <p:cNvSpPr/>
          <p:nvPr/>
        </p:nvSpPr>
        <p:spPr>
          <a:xfrm>
            <a:off x="658368" y="5138928"/>
            <a:ext cx="45720" cy="841248"/>
          </a:xfrm>
          <a:prstGeom prst="rect">
            <a:avLst/>
          </a:prstGeom>
          <a:solidFill>
            <a:srgbClr val="A84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120640"/>
            <a:ext cx="10424160" cy="320040"/>
          </a:xfrm>
          <a:prstGeom prst="rect">
            <a:avLst/>
          </a:prstGeom>
          <a:noFill/>
        </p:spPr>
        <p:txBody>
          <a:bodyPr wrap="square" lIns="0" tIns="0" rIns="0" bIns="0" anchor="t">
            <a:spAutoFit/>
          </a:bodyPr>
          <a:lstStyle/>
          <a:p>
            <a:pPr>
              <a:spcBef>
                <a:spcPts val="0"/>
              </a:spcBef>
              <a:spcAft>
                <a:spcPts val="0"/>
              </a:spcAft>
            </a:pPr>
            <a:r>
              <a:rPr sz="1650" b="1" i="0">
                <a:solidFill>
                  <a:srgbClr val="151A21"/>
                </a:solidFill>
                <a:latin typeface="Calibri"/>
              </a:rPr>
              <a:t>Label noise is not ruled out</a:t>
            </a:r>
          </a:p>
        </p:txBody>
      </p:sp>
      <p:sp>
        <p:nvSpPr>
          <p:cNvPr id="16" name="TextBox 15"/>
          <p:cNvSpPr txBox="1"/>
          <p:nvPr/>
        </p:nvSpPr>
        <p:spPr>
          <a:xfrm>
            <a:off x="914400" y="5449824"/>
            <a:ext cx="10332720" cy="685800"/>
          </a:xfrm>
          <a:prstGeom prst="rect">
            <a:avLst/>
          </a:prstGeom>
          <a:noFill/>
        </p:spPr>
        <p:txBody>
          <a:bodyPr wrap="square" lIns="0" tIns="0" rIns="0" bIns="0" anchor="t">
            <a:spAutoFit/>
          </a:bodyPr>
          <a:lstStyle/>
          <a:p>
            <a:pPr>
              <a:lnSpc>
                <a:spcPct val="124000"/>
              </a:lnSpc>
              <a:spcBef>
                <a:spcPts val="0"/>
              </a:spcBef>
              <a:spcAft>
                <a:spcPts val="0"/>
              </a:spcAft>
            </a:pPr>
            <a:r>
              <a:rPr sz="1350" b="0" i="0">
                <a:solidFill>
                  <a:srgbClr val="3D4653"/>
                </a:solidFill>
                <a:latin typeface="Calibri"/>
              </a:rPr>
              <a:t>TestPeerCache is labelled order dependency, yet the production code reads closer to concurrency. If some labels are wrong, no program analysis recovers them. Worth sampling before the extraction work is scoped.</a:t>
            </a:r>
          </a:p>
        </p:txBody>
      </p:sp>
      <p:sp>
        <p:nvSpPr>
          <p:cNvPr id="17" name="TextBox 16"/>
          <p:cNvSpPr txBox="1"/>
          <p:nvPr/>
        </p:nvSpPr>
        <p:spPr>
          <a:xfrm>
            <a:off x="658368" y="6355080"/>
            <a:ext cx="11155680" cy="320040"/>
          </a:xfrm>
          <a:prstGeom prst="rect">
            <a:avLst/>
          </a:prstGeom>
          <a:noFill/>
        </p:spPr>
        <p:txBody>
          <a:bodyPr wrap="square" lIns="0" tIns="0" rIns="0" bIns="0" anchor="t">
            <a:spAutoFit/>
          </a:bodyPr>
          <a:lstStyle/>
          <a:p>
            <a:pPr>
              <a:spcBef>
                <a:spcPts val="0"/>
              </a:spcBef>
              <a:spcAft>
                <a:spcPts val="0"/>
              </a:spcAft>
            </a:pPr>
            <a:r>
              <a:rPr sz="1250" b="0" i="0">
                <a:solidFill>
                  <a:srgbClr val="6B7684"/>
                </a:solidFill>
                <a:latin typeface="Consolas"/>
              </a:rPr>
              <a:t>Full report, tables and extracted sources:  docs/investigation/</a:t>
            </a:r>
          </a:p>
        </p:txBody>
      </p:sp>
      <p:sp>
        <p:nvSpPr>
          <p:cNvPr id="18" name="TextBox 17"/>
          <p:cNvSpPr txBox="1"/>
          <p:nvPr/>
        </p:nvSpPr>
        <p:spPr>
          <a:xfrm>
            <a:off x="10820095" y="6382512"/>
            <a:ext cx="822960" cy="274320"/>
          </a:xfrm>
          <a:prstGeom prst="rect">
            <a:avLst/>
          </a:prstGeom>
          <a:noFill/>
        </p:spPr>
        <p:txBody>
          <a:bodyPr wrap="square" lIns="0" tIns="0" rIns="0" bIns="0" anchor="t">
            <a:spAutoFit/>
          </a:bodyPr>
          <a:lstStyle/>
          <a:p>
            <a:pPr algn="r">
              <a:spcBef>
                <a:spcPts val="0"/>
              </a:spcBef>
              <a:spcAft>
                <a:spcPts val="0"/>
              </a:spcAft>
            </a:pPr>
            <a:r>
              <a:rPr sz="1000" b="0" i="0">
                <a:solidFill>
                  <a:srgbClr val="6B7684"/>
                </a:solidFill>
                <a:latin typeface="Consola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2058</Words>
  <Application>Microsoft Office PowerPoint</Application>
  <PresentationFormat>Widescreen</PresentationFormat>
  <Paragraphs>296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Jacob D'Rozario</cp:lastModifiedBy>
  <cp:revision>2</cp:revision>
  <dcterms:created xsi:type="dcterms:W3CDTF">2013-01-27T09:14:16Z</dcterms:created>
  <dcterms:modified xsi:type="dcterms:W3CDTF">2026-09-03T18:47:11Z</dcterms:modified>
  <cp:category/>
</cp:coreProperties>
</file>