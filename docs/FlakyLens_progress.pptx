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48640"/>
            <a:ext cx="10515600" cy="274320"/>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FLAKYLENS · PROGRESS REPORT · 4 SEPTEMBER 2026</a:t>
            </a:r>
          </a:p>
        </p:txBody>
      </p:sp>
      <p:sp>
        <p:nvSpPr>
          <p:cNvPr id="3" name="TextBox 2"/>
          <p:cNvSpPr txBox="1"/>
          <p:nvPr/>
        </p:nvSpPr>
        <p:spPr>
          <a:xfrm>
            <a:off x="777240" y="1005840"/>
            <a:ext cx="10515600" cy="640080"/>
          </a:xfrm>
          <a:prstGeom prst="rect">
            <a:avLst/>
          </a:prstGeom>
          <a:noFill/>
        </p:spPr>
        <p:txBody>
          <a:bodyPr wrap="square" lIns="0" rIns="0" tIns="0" bIns="0" anchor="t">
            <a:spAutoFit/>
          </a:bodyPr>
          <a:lstStyle/>
          <a:p>
            <a:pPr>
              <a:spcBef>
                <a:spcPts val="0"/>
              </a:spcBef>
              <a:spcAft>
                <a:spcPts val="0"/>
              </a:spcAft>
            </a:pPr>
            <a:r>
              <a:rPr sz="3400" b="1" i="0">
                <a:solidFill>
                  <a:srgbClr val="151A21"/>
                </a:solidFill>
                <a:latin typeface="Calibri"/>
              </a:rPr>
              <a:t>What I did so far</a:t>
            </a:r>
          </a:p>
        </p:txBody>
      </p:sp>
      <p:sp>
        <p:nvSpPr>
          <p:cNvPr id="4" name="Rectangle 3"/>
          <p:cNvSpPr/>
          <p:nvPr/>
        </p:nvSpPr>
        <p:spPr>
          <a:xfrm>
            <a:off x="777240" y="1783080"/>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5740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600" b="0" i="0">
                <a:solidFill>
                  <a:srgbClr val="151A21"/>
                </a:solidFill>
                <a:latin typeface="Calibri"/>
              </a:rPr>
              <a:t>Manually read 27 flaky tests from apache/hadoop at the commits pinned in the benchmark, and asked one question of each: where in the project is the fact that makes the true label true?</a:t>
            </a:r>
          </a:p>
        </p:txBody>
      </p:sp>
      <p:sp>
        <p:nvSpPr>
          <p:cNvPr id="6" name="TextBox 5"/>
          <p:cNvSpPr txBox="1"/>
          <p:nvPr/>
        </p:nvSpPr>
        <p:spPr>
          <a:xfrm>
            <a:off x="777240" y="2926080"/>
            <a:ext cx="10515600" cy="274320"/>
          </a:xfrm>
          <a:prstGeom prst="rect">
            <a:avLst/>
          </a:prstGeom>
          <a:noFill/>
        </p:spPr>
        <p:txBody>
          <a:bodyPr wrap="square" lIns="0" rIns="0" tIns="0" bIns="0" anchor="t">
            <a:spAutoFit/>
          </a:bodyPr>
          <a:lstStyle/>
          <a:p>
            <a:pPr>
              <a:spcBef>
                <a:spcPts val="0"/>
              </a:spcBef>
              <a:spcAft>
                <a:spcPts val="0"/>
              </a:spcAft>
            </a:pPr>
            <a:r>
              <a:rPr sz="1500" b="0" i="0">
                <a:solidFill>
                  <a:srgbClr val="3D4653"/>
                </a:solidFill>
                <a:latin typeface="Calibri"/>
              </a:rPr>
              <a:t>Four kinds of context turned up, none of them in the test method the model reads:</a:t>
            </a:r>
          </a:p>
        </p:txBody>
      </p:sp>
      <p:sp>
        <p:nvSpPr>
          <p:cNvPr id="7" name="TextBox 6"/>
          <p:cNvSpPr txBox="1"/>
          <p:nvPr/>
        </p:nvSpPr>
        <p:spPr>
          <a:xfrm>
            <a:off x="777240" y="3520440"/>
            <a:ext cx="365760" cy="274320"/>
          </a:xfrm>
          <a:prstGeom prst="rect">
            <a:avLst/>
          </a:prstGeom>
          <a:noFill/>
        </p:spPr>
        <p:txBody>
          <a:bodyPr wrap="square" lIns="0" rIns="0" tIns="0" bIns="0" anchor="t">
            <a:spAutoFit/>
          </a:bodyPr>
          <a:lstStyle/>
          <a:p>
            <a:pPr>
              <a:spcBef>
                <a:spcPts val="0"/>
              </a:spcBef>
              <a:spcAft>
                <a:spcPts val="0"/>
              </a:spcAft>
            </a:pPr>
            <a:r>
              <a:rPr sz="1400" b="0" i="0">
                <a:solidFill>
                  <a:srgbClr val="6B7684"/>
                </a:solidFill>
                <a:latin typeface="Consolas"/>
              </a:rPr>
              <a:t>1</a:t>
            </a:r>
          </a:p>
        </p:txBody>
      </p:sp>
      <p:sp>
        <p:nvSpPr>
          <p:cNvPr id="8" name="TextBox 7"/>
          <p:cNvSpPr txBox="1"/>
          <p:nvPr/>
        </p:nvSpPr>
        <p:spPr>
          <a:xfrm>
            <a:off x="1188720" y="3493008"/>
            <a:ext cx="246888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Fields</a:t>
            </a:r>
          </a:p>
        </p:txBody>
      </p:sp>
      <p:sp>
        <p:nvSpPr>
          <p:cNvPr id="9" name="TextBox 8"/>
          <p:cNvSpPr txBox="1"/>
          <p:nvPr/>
        </p:nvSpPr>
        <p:spPr>
          <a:xfrm>
            <a:off x="3794759" y="3502152"/>
            <a:ext cx="7498079" cy="274320"/>
          </a:xfrm>
          <a:prstGeom prst="rect">
            <a:avLst/>
          </a:prstGeom>
          <a:noFill/>
        </p:spPr>
        <p:txBody>
          <a:bodyPr wrap="square" lIns="0" rIns="0" tIns="0" bIns="0" anchor="t">
            <a:spAutoFit/>
          </a:bodyPr>
          <a:lstStyle/>
          <a:p>
            <a:pPr>
              <a:spcBef>
                <a:spcPts val="0"/>
              </a:spcBef>
              <a:spcAft>
                <a:spcPts val="0"/>
              </a:spcAft>
            </a:pPr>
            <a:r>
              <a:rPr sz="1450" b="0" i="0">
                <a:solidFill>
                  <a:srgbClr val="3D4653"/>
                </a:solidFill>
                <a:latin typeface="Calibri"/>
              </a:rPr>
              <a:t>class-level declarations, especially static ones, shared by every test</a:t>
            </a:r>
          </a:p>
        </p:txBody>
      </p:sp>
      <p:sp>
        <p:nvSpPr>
          <p:cNvPr id="10" name="TextBox 9"/>
          <p:cNvSpPr txBox="1"/>
          <p:nvPr/>
        </p:nvSpPr>
        <p:spPr>
          <a:xfrm>
            <a:off x="777240" y="4023360"/>
            <a:ext cx="365760" cy="274320"/>
          </a:xfrm>
          <a:prstGeom prst="rect">
            <a:avLst/>
          </a:prstGeom>
          <a:noFill/>
        </p:spPr>
        <p:txBody>
          <a:bodyPr wrap="square" lIns="0" rIns="0" tIns="0" bIns="0" anchor="t">
            <a:spAutoFit/>
          </a:bodyPr>
          <a:lstStyle/>
          <a:p>
            <a:pPr>
              <a:spcBef>
                <a:spcPts val="0"/>
              </a:spcBef>
              <a:spcAft>
                <a:spcPts val="0"/>
              </a:spcAft>
            </a:pPr>
            <a:r>
              <a:rPr sz="1400" b="0" i="0">
                <a:solidFill>
                  <a:srgbClr val="6B7684"/>
                </a:solidFill>
                <a:latin typeface="Consolas"/>
              </a:rPr>
              <a:t>2</a:t>
            </a:r>
          </a:p>
        </p:txBody>
      </p:sp>
      <p:sp>
        <p:nvSpPr>
          <p:cNvPr id="11" name="TextBox 10"/>
          <p:cNvSpPr txBox="1"/>
          <p:nvPr/>
        </p:nvSpPr>
        <p:spPr>
          <a:xfrm>
            <a:off x="1188720" y="3995928"/>
            <a:ext cx="246888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Fixtures</a:t>
            </a:r>
          </a:p>
        </p:txBody>
      </p:sp>
      <p:sp>
        <p:nvSpPr>
          <p:cNvPr id="12" name="TextBox 11"/>
          <p:cNvSpPr txBox="1"/>
          <p:nvPr/>
        </p:nvSpPr>
        <p:spPr>
          <a:xfrm>
            <a:off x="3794759" y="4005072"/>
            <a:ext cx="7498079" cy="274320"/>
          </a:xfrm>
          <a:prstGeom prst="rect">
            <a:avLst/>
          </a:prstGeom>
          <a:noFill/>
        </p:spPr>
        <p:txBody>
          <a:bodyPr wrap="square" lIns="0" rIns="0" tIns="0" bIns="0" anchor="t">
            <a:spAutoFit/>
          </a:bodyPr>
          <a:lstStyle/>
          <a:p>
            <a:pPr>
              <a:spcBef>
                <a:spcPts val="0"/>
              </a:spcBef>
              <a:spcAft>
                <a:spcPts val="0"/>
              </a:spcAft>
            </a:pPr>
            <a:r>
              <a:rPr sz="1450" b="0" i="0">
                <a:solidFill>
                  <a:srgbClr val="3D4653"/>
                </a:solidFill>
                <a:latin typeface="Calibri"/>
              </a:rPr>
              <a:t>@Before / @After / @BeforeClass / @AfterClass method bodies</a:t>
            </a:r>
          </a:p>
        </p:txBody>
      </p:sp>
      <p:sp>
        <p:nvSpPr>
          <p:cNvPr id="13" name="TextBox 12"/>
          <p:cNvSpPr txBox="1"/>
          <p:nvPr/>
        </p:nvSpPr>
        <p:spPr>
          <a:xfrm>
            <a:off x="777240" y="4526280"/>
            <a:ext cx="365760" cy="274320"/>
          </a:xfrm>
          <a:prstGeom prst="rect">
            <a:avLst/>
          </a:prstGeom>
          <a:noFill/>
        </p:spPr>
        <p:txBody>
          <a:bodyPr wrap="square" lIns="0" rIns="0" tIns="0" bIns="0" anchor="t">
            <a:spAutoFit/>
          </a:bodyPr>
          <a:lstStyle/>
          <a:p>
            <a:pPr>
              <a:spcBef>
                <a:spcPts val="0"/>
              </a:spcBef>
              <a:spcAft>
                <a:spcPts val="0"/>
              </a:spcAft>
            </a:pPr>
            <a:r>
              <a:rPr sz="1400" b="0" i="0">
                <a:solidFill>
                  <a:srgbClr val="6B7684"/>
                </a:solidFill>
                <a:latin typeface="Consolas"/>
              </a:rPr>
              <a:t>3</a:t>
            </a:r>
          </a:p>
        </p:txBody>
      </p:sp>
      <p:sp>
        <p:nvSpPr>
          <p:cNvPr id="14" name="TextBox 13"/>
          <p:cNvSpPr txBox="1"/>
          <p:nvPr/>
        </p:nvSpPr>
        <p:spPr>
          <a:xfrm>
            <a:off x="1188720" y="4498848"/>
            <a:ext cx="246888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Sibling tests</a:t>
            </a:r>
          </a:p>
        </p:txBody>
      </p:sp>
      <p:sp>
        <p:nvSpPr>
          <p:cNvPr id="15" name="TextBox 14"/>
          <p:cNvSpPr txBox="1"/>
          <p:nvPr/>
        </p:nvSpPr>
        <p:spPr>
          <a:xfrm>
            <a:off x="3794759" y="4507992"/>
            <a:ext cx="7498079" cy="274320"/>
          </a:xfrm>
          <a:prstGeom prst="rect">
            <a:avLst/>
          </a:prstGeom>
          <a:noFill/>
        </p:spPr>
        <p:txBody>
          <a:bodyPr wrap="square" lIns="0" rIns="0" tIns="0" bIns="0" anchor="t">
            <a:spAutoFit/>
          </a:bodyPr>
          <a:lstStyle/>
          <a:p>
            <a:pPr>
              <a:spcBef>
                <a:spcPts val="0"/>
              </a:spcBef>
              <a:spcAft>
                <a:spcPts val="0"/>
              </a:spcAft>
            </a:pPr>
            <a:r>
              <a:rPr sz="1450" b="0" i="0">
                <a:solidFill>
                  <a:srgbClr val="3D4653"/>
                </a:solidFill>
                <a:latin typeface="Calibri"/>
              </a:rPr>
              <a:t>the other @Test methods in the same class</a:t>
            </a:r>
          </a:p>
        </p:txBody>
      </p:sp>
      <p:sp>
        <p:nvSpPr>
          <p:cNvPr id="16" name="TextBox 15"/>
          <p:cNvSpPr txBox="1"/>
          <p:nvPr/>
        </p:nvSpPr>
        <p:spPr>
          <a:xfrm>
            <a:off x="777240" y="5029200"/>
            <a:ext cx="365760" cy="274320"/>
          </a:xfrm>
          <a:prstGeom prst="rect">
            <a:avLst/>
          </a:prstGeom>
          <a:noFill/>
        </p:spPr>
        <p:txBody>
          <a:bodyPr wrap="square" lIns="0" rIns="0" tIns="0" bIns="0" anchor="t">
            <a:spAutoFit/>
          </a:bodyPr>
          <a:lstStyle/>
          <a:p>
            <a:pPr>
              <a:spcBef>
                <a:spcPts val="0"/>
              </a:spcBef>
              <a:spcAft>
                <a:spcPts val="0"/>
              </a:spcAft>
            </a:pPr>
            <a:r>
              <a:rPr sz="1400" b="0" i="0">
                <a:solidFill>
                  <a:srgbClr val="6B7684"/>
                </a:solidFill>
                <a:latin typeface="Consolas"/>
              </a:rPr>
              <a:t>4</a:t>
            </a:r>
          </a:p>
        </p:txBody>
      </p:sp>
      <p:sp>
        <p:nvSpPr>
          <p:cNvPr id="17" name="TextBox 16"/>
          <p:cNvSpPr txBox="1"/>
          <p:nvPr/>
        </p:nvSpPr>
        <p:spPr>
          <a:xfrm>
            <a:off x="1188720" y="5001768"/>
            <a:ext cx="246888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Depth-1 callees</a:t>
            </a:r>
          </a:p>
        </p:txBody>
      </p:sp>
      <p:sp>
        <p:nvSpPr>
          <p:cNvPr id="18" name="TextBox 17"/>
          <p:cNvSpPr txBox="1"/>
          <p:nvPr/>
        </p:nvSpPr>
        <p:spPr>
          <a:xfrm>
            <a:off x="3794759" y="5010912"/>
            <a:ext cx="7498079" cy="274320"/>
          </a:xfrm>
          <a:prstGeom prst="rect">
            <a:avLst/>
          </a:prstGeom>
          <a:noFill/>
        </p:spPr>
        <p:txBody>
          <a:bodyPr wrap="square" lIns="0" rIns="0" tIns="0" bIns="0" anchor="t">
            <a:spAutoFit/>
          </a:bodyPr>
          <a:lstStyle/>
          <a:p>
            <a:pPr>
              <a:spcBef>
                <a:spcPts val="0"/>
              </a:spcBef>
              <a:spcAft>
                <a:spcPts val="0"/>
              </a:spcAft>
            </a:pPr>
            <a:r>
              <a:rPr sz="1450" b="0" i="0">
                <a:solidFill>
                  <a:srgbClr val="3D4653"/>
                </a:solidFill>
                <a:latin typeface="Calibri"/>
              </a:rPr>
              <a:t>production methods the test invokes</a:t>
            </a:r>
          </a:p>
        </p:txBody>
      </p:sp>
      <p:sp>
        <p:nvSpPr>
          <p:cNvPr id="19" name="Rectangle 18"/>
          <p:cNvSpPr/>
          <p:nvPr/>
        </p:nvSpPr>
        <p:spPr>
          <a:xfrm>
            <a:off x="777240" y="5669280"/>
            <a:ext cx="10637215" cy="658368"/>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669280"/>
            <a:ext cx="45720" cy="658368"/>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852160"/>
            <a:ext cx="10241280" cy="457200"/>
          </a:xfrm>
          <a:prstGeom prst="rect">
            <a:avLst/>
          </a:prstGeom>
          <a:noFill/>
        </p:spPr>
        <p:txBody>
          <a:bodyPr wrap="square" lIns="0" rIns="0" tIns="0" bIns="0" anchor="t">
            <a:spAutoFit/>
          </a:bodyPr>
          <a:lstStyle/>
          <a:p>
            <a:pPr>
              <a:spcBef>
                <a:spcPts val="0"/>
              </a:spcBef>
              <a:spcAft>
                <a:spcPts val="0"/>
              </a:spcAft>
            </a:pPr>
            <a:r>
              <a:rPr sz="1500" b="1" i="0">
                <a:solidFill>
                  <a:srgbClr val="2F4858"/>
                </a:solidFill>
                <a:latin typeface="Calibri"/>
              </a:rPr>
              <a:t>The next four slides show one real example of each.</a:t>
            </a:r>
          </a:p>
        </p:txBody>
      </p:sp>
      <p:sp>
        <p:nvSpPr>
          <p:cNvPr id="22" name="TextBox 21"/>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CONTEXT TYPE 1 OF 4</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Fields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6B7684"/>
                </a:solidFill>
                <a:latin typeface="Calibri"/>
              </a:rPr>
              <a:t>Class-level declarations. A static field is state that outlives a single test, which is the definition of an order dependency.</a:t>
            </a:r>
          </a:p>
        </p:txBody>
      </p:sp>
      <p:sp>
        <p:nvSpPr>
          <p:cNvPr id="6" name="TextBox 5"/>
          <p:cNvSpPr txBox="1"/>
          <p:nvPr/>
        </p:nvSpPr>
        <p:spPr>
          <a:xfrm>
            <a:off x="777240" y="2286000"/>
            <a:ext cx="548640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apache/hadoop · TestDFSIO</a:t>
            </a:r>
          </a:p>
        </p:txBody>
      </p:sp>
      <p:sp>
        <p:nvSpPr>
          <p:cNvPr id="7" name="Rectangle 6"/>
          <p:cNvSpPr/>
          <p:nvPr/>
        </p:nvSpPr>
        <p:spPr>
          <a:xfrm>
            <a:off x="777240" y="2578608"/>
            <a:ext cx="5486400" cy="812474"/>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724912"/>
            <a:ext cx="5193792" cy="519866"/>
          </a:xfrm>
          <a:prstGeom prst="rect">
            <a:avLst/>
          </a:prstGeom>
          <a:noFill/>
        </p:spPr>
        <p:txBody>
          <a:bodyPr wrap="square" lIns="0" rIns="0" tIns="0" bIns="0" anchor="t">
            <a:spAutoFit/>
          </a:bodyPr>
          <a:lstStyle/>
          <a:p>
            <a:pPr>
              <a:lnSpc>
                <a:spcPct val="128000"/>
              </a:lnSpc>
              <a:spcBef>
                <a:spcPts val="0"/>
              </a:spcBef>
              <a:spcAft>
                <a:spcPts val="0"/>
              </a:spcAft>
            </a:pPr>
            <a:r>
              <a:rPr sz="1300" b="1" i="0">
                <a:solidFill>
                  <a:srgbClr val="A8452B"/>
                </a:solidFill>
                <a:latin typeface="Consolas"/>
              </a:rPr>
              <a:t>private static MiniDFSCluster cluster;</a:t>
            </a:r>
          </a:p>
          <a:p>
            <a:pPr>
              <a:lnSpc>
                <a:spcPct val="128000"/>
              </a:lnSpc>
              <a:spcBef>
                <a:spcPts val="0"/>
              </a:spcBef>
              <a:spcAft>
                <a:spcPts val="0"/>
              </a:spcAft>
            </a:pPr>
            <a:r>
              <a:rPr sz="1300" b="1" i="0">
                <a:solidFill>
                  <a:srgbClr val="A8452B"/>
                </a:solidFill>
                <a:latin typeface="Consolas"/>
              </a:rPr>
              <a:t>private static TestDFSIO bench;</a:t>
            </a:r>
          </a:p>
        </p:txBody>
      </p:sp>
      <p:sp>
        <p:nvSpPr>
          <p:cNvPr id="9" name="TextBox 8"/>
          <p:cNvSpPr txBox="1"/>
          <p:nvPr/>
        </p:nvSpPr>
        <p:spPr>
          <a:xfrm>
            <a:off x="6583679" y="2286000"/>
            <a:ext cx="493776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apache/hadoop · TestPathData</a:t>
            </a:r>
          </a:p>
        </p:txBody>
      </p:sp>
      <p:sp>
        <p:nvSpPr>
          <p:cNvPr id="10" name="Rectangle 9"/>
          <p:cNvSpPr/>
          <p:nvPr/>
        </p:nvSpPr>
        <p:spPr>
          <a:xfrm>
            <a:off x="6583679" y="2578608"/>
            <a:ext cx="4937760" cy="1252362"/>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9983" y="2724912"/>
            <a:ext cx="4645152" cy="959754"/>
          </a:xfrm>
          <a:prstGeom prst="rect">
            <a:avLst/>
          </a:prstGeom>
          <a:noFill/>
        </p:spPr>
        <p:txBody>
          <a:bodyPr wrap="square" lIns="0" rIns="0" tIns="0" bIns="0" anchor="t">
            <a:spAutoFit/>
          </a:bodyPr>
          <a:lstStyle/>
          <a:p>
            <a:pPr>
              <a:lnSpc>
                <a:spcPct val="128000"/>
              </a:lnSpc>
              <a:spcBef>
                <a:spcPts val="0"/>
              </a:spcBef>
              <a:spcAft>
                <a:spcPts val="0"/>
              </a:spcAft>
            </a:pPr>
            <a:r>
              <a:rPr sz="1200" b="1" i="0">
                <a:solidFill>
                  <a:srgbClr val="A8452B"/>
                </a:solidFill>
                <a:latin typeface="Consolas"/>
              </a:rPr>
              <a:t>private static final String TEST_ROOT_DIR =</a:t>
            </a:r>
          </a:p>
          <a:p>
            <a:pPr>
              <a:lnSpc>
                <a:spcPct val="128000"/>
              </a:lnSpc>
              <a:spcBef>
                <a:spcPts val="0"/>
              </a:spcBef>
              <a:spcAft>
                <a:spcPts val="0"/>
              </a:spcAft>
            </a:pPr>
            <a:r>
              <a:rPr sz="1200" b="1" i="0">
                <a:solidFill>
                  <a:srgbClr val="A8452B"/>
                </a:solidFill>
                <a:latin typeface="Consolas"/>
              </a:rPr>
              <a:t>    GenericTestUtils.getTestDir("testPD")</a:t>
            </a:r>
          </a:p>
          <a:p>
            <a:pPr>
              <a:lnSpc>
                <a:spcPct val="128000"/>
              </a:lnSpc>
              <a:spcBef>
                <a:spcPts val="0"/>
              </a:spcBef>
              <a:spcAft>
                <a:spcPts val="0"/>
              </a:spcAft>
            </a:pPr>
            <a:r>
              <a:rPr sz="1200" b="1" i="0">
                <a:solidFill>
                  <a:srgbClr val="A8452B"/>
                </a:solidFill>
                <a:latin typeface="Consolas"/>
              </a:rPr>
              <a:t>                    .getAbsolutePath();</a:t>
            </a:r>
          </a:p>
          <a:p>
            <a:pPr>
              <a:lnSpc>
                <a:spcPct val="128000"/>
              </a:lnSpc>
              <a:spcBef>
                <a:spcPts val="0"/>
              </a:spcBef>
              <a:spcAft>
                <a:spcPts val="0"/>
              </a:spcAft>
            </a:pPr>
            <a:r>
              <a:rPr sz="1200" b="0" i="0">
                <a:solidFill>
                  <a:srgbClr val="3D4653"/>
                </a:solidFill>
                <a:latin typeface="Consolas"/>
              </a:rPr>
              <a:t>protected Configuration conf;</a:t>
            </a:r>
          </a:p>
        </p:txBody>
      </p:sp>
      <p:sp>
        <p:nvSpPr>
          <p:cNvPr id="12" name="TextBox 11"/>
          <p:cNvSpPr txBox="1"/>
          <p:nvPr/>
        </p:nvSpPr>
        <p:spPr>
          <a:xfrm>
            <a:off x="777240" y="3977639"/>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500" b="0" i="0">
                <a:solidFill>
                  <a:srgbClr val="151A21"/>
                </a:solidFill>
                <a:latin typeface="Calibri"/>
              </a:rPr>
              <a:t>Both classes share one cluster and one directory across every test in the file. Nothing in the test method says so.</a:t>
            </a:r>
          </a:p>
        </p:txBody>
      </p:sp>
      <p:sp>
        <p:nvSpPr>
          <p:cNvPr id="13" name="Rectangle 12"/>
          <p:cNvSpPr/>
          <p:nvPr/>
        </p:nvSpPr>
        <p:spPr>
          <a:xfrm>
            <a:off x="777240" y="4709160"/>
            <a:ext cx="10637215" cy="1417320"/>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919472"/>
            <a:ext cx="10058400" cy="1097280"/>
          </a:xfrm>
          <a:prstGeom prst="rect">
            <a:avLst/>
          </a:prstGeom>
          <a:noFill/>
        </p:spPr>
        <p:txBody>
          <a:bodyPr wrap="square" lIns="0" rIns="0" tIns="0" bIns="0" anchor="t">
            <a:spAutoFit/>
          </a:bodyPr>
          <a:lstStyle/>
          <a:p>
            <a:pPr>
              <a:spcBef>
                <a:spcPts val="0"/>
              </a:spcBef>
              <a:spcAft>
                <a:spcPts val="0"/>
              </a:spcAft>
            </a:pPr>
            <a:r>
              <a:rPr sz="1450" b="1" i="0">
                <a:solidFill>
                  <a:srgbClr val="151A21"/>
                </a:solidFill>
                <a:latin typeface="Calibri"/>
              </a:rPr>
              <a:t>Why it matters</a:t>
            </a:r>
          </a:p>
        </p:txBody>
      </p:sp>
      <p:sp>
        <p:nvSpPr>
          <p:cNvPr id="15" name="TextBox 14"/>
          <p:cNvSpPr txBox="1"/>
          <p:nvPr/>
        </p:nvSpPr>
        <p:spPr>
          <a:xfrm>
            <a:off x="1051560" y="5212080"/>
            <a:ext cx="10058400" cy="822960"/>
          </a:xfrm>
          <a:prstGeom prst="rect">
            <a:avLst/>
          </a:prstGeom>
          <a:noFill/>
        </p:spPr>
        <p:txBody>
          <a:bodyPr wrap="square" lIns="0" rIns="0" tIns="0" bIns="0" anchor="t">
            <a:spAutoFit/>
          </a:bodyPr>
          <a:lstStyle/>
          <a:p>
            <a:pPr>
              <a:lnSpc>
                <a:spcPct val="126000"/>
              </a:lnSpc>
              <a:spcBef>
                <a:spcPts val="0"/>
              </a:spcBef>
              <a:spcAft>
                <a:spcPts val="0"/>
              </a:spcAft>
            </a:pPr>
            <a:r>
              <a:rPr sz="1400" b="0" i="0">
                <a:solidFill>
                  <a:srgbClr val="3D4653"/>
                </a:solidFill>
                <a:latin typeface="Calibri"/>
              </a:rPr>
              <a:t>TestDFSIO has five flaky tests, all labelled order dependency, and the model predicted "time" for all five. The static cluster is the shared state they contend over. It is 40 lines above the test method and never reaches the encoder.</a:t>
            </a:r>
          </a:p>
        </p:txBody>
      </p:sp>
      <p:sp>
        <p:nvSpPr>
          <p:cNvPr id="16" name="TextBox 15"/>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CONTEXT TYPE 2 OF 4</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Fixtures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6B7684"/>
                </a:solidFill>
                <a:latin typeface="Calibri"/>
              </a:rPr>
              <a:t>Methods JUnit runs automatically around each test. This is where a test's real preconditions live.</a:t>
            </a:r>
          </a:p>
        </p:txBody>
      </p:sp>
      <p:sp>
        <p:nvSpPr>
          <p:cNvPr id="6" name="TextBox 5"/>
          <p:cNvSpPr txBox="1"/>
          <p:nvPr/>
        </p:nvSpPr>
        <p:spPr>
          <a:xfrm>
            <a:off x="777240" y="2240280"/>
            <a:ext cx="1060704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apache/hadoop · TestPathData</a:t>
            </a:r>
          </a:p>
        </p:txBody>
      </p:sp>
      <p:sp>
        <p:nvSpPr>
          <p:cNvPr id="7" name="Rectangle 6"/>
          <p:cNvSpPr/>
          <p:nvPr/>
        </p:nvSpPr>
        <p:spPr>
          <a:xfrm>
            <a:off x="777240" y="2532888"/>
            <a:ext cx="10607040" cy="3041903"/>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679192"/>
            <a:ext cx="10314432" cy="2749295"/>
          </a:xfrm>
          <a:prstGeom prst="rect">
            <a:avLst/>
          </a:prstGeom>
          <a:noFill/>
        </p:spPr>
        <p:txBody>
          <a:bodyPr wrap="square" lIns="0" rIns="0" tIns="0" bIns="0" anchor="t">
            <a:spAutoFit/>
          </a:bodyPr>
          <a:lstStyle/>
          <a:p>
            <a:pPr>
              <a:lnSpc>
                <a:spcPct val="128000"/>
              </a:lnSpc>
              <a:spcBef>
                <a:spcPts val="0"/>
              </a:spcBef>
              <a:spcAft>
                <a:spcPts val="0"/>
              </a:spcAft>
            </a:pPr>
            <a:r>
              <a:rPr sz="1250" b="0" i="1">
                <a:solidFill>
                  <a:srgbClr val="6B7684"/>
                </a:solidFill>
                <a:latin typeface="Consolas"/>
              </a:rPr>
              <a:t>@Before</a:t>
            </a:r>
          </a:p>
          <a:p>
            <a:pPr>
              <a:lnSpc>
                <a:spcPct val="128000"/>
              </a:lnSpc>
              <a:spcBef>
                <a:spcPts val="0"/>
              </a:spcBef>
              <a:spcAft>
                <a:spcPts val="0"/>
              </a:spcAft>
            </a:pPr>
            <a:r>
              <a:rPr sz="1250" b="0" i="0">
                <a:solidFill>
                  <a:srgbClr val="3D4653"/>
                </a:solidFill>
                <a:latin typeface="Consolas"/>
              </a:rPr>
              <a:t>public void initialize() throws Exception {</a:t>
            </a:r>
          </a:p>
          <a:p>
            <a:pPr>
              <a:lnSpc>
                <a:spcPct val="128000"/>
              </a:lnSpc>
              <a:spcBef>
                <a:spcPts val="0"/>
              </a:spcBef>
              <a:spcAft>
                <a:spcPts val="0"/>
              </a:spcAft>
            </a:pPr>
            <a:r>
              <a:rPr sz="1250" b="0" i="0">
                <a:solidFill>
                  <a:srgbClr val="3D4653"/>
                </a:solidFill>
                <a:latin typeface="Consolas"/>
              </a:rPr>
              <a:t>  conf = new Configuration();</a:t>
            </a:r>
          </a:p>
          <a:p>
            <a:pPr>
              <a:lnSpc>
                <a:spcPct val="128000"/>
              </a:lnSpc>
              <a:spcBef>
                <a:spcPts val="0"/>
              </a:spcBef>
              <a:spcAft>
                <a:spcPts val="0"/>
              </a:spcAft>
            </a:pPr>
            <a:r>
              <a:rPr sz="1250" b="0" i="0">
                <a:solidFill>
                  <a:srgbClr val="3D4653"/>
                </a:solidFill>
                <a:latin typeface="Consolas"/>
              </a:rPr>
              <a:t>  fs = FileSystem.getLocal(conf);          // process-wide cache</a:t>
            </a:r>
          </a:p>
          <a:p>
            <a:pPr>
              <a:lnSpc>
                <a:spcPct val="128000"/>
              </a:lnSpc>
              <a:spcBef>
                <a:spcPts val="0"/>
              </a:spcBef>
              <a:spcAft>
                <a:spcPts val="0"/>
              </a:spcAft>
            </a:pPr>
            <a:r>
              <a:rPr sz="1250" b="0" i="0">
                <a:solidFill>
                  <a:srgbClr val="3D4653"/>
                </a:solidFill>
                <a:latin typeface="Consolas"/>
              </a:rPr>
              <a:t>  testDir = new Path(TEST_ROOT_DIR);</a:t>
            </a:r>
          </a:p>
          <a:p>
            <a:pPr>
              <a:lnSpc>
                <a:spcPct val="128000"/>
              </a:lnSpc>
              <a:spcBef>
                <a:spcPts val="0"/>
              </a:spcBef>
              <a:spcAft>
                <a:spcPts val="0"/>
              </a:spcAft>
            </a:pPr>
            <a:r>
              <a:rPr sz="1250" b="0" i="0">
                <a:solidFill>
                  <a:srgbClr val="3D4653"/>
                </a:solidFill>
                <a:latin typeface="Consolas"/>
              </a:rPr>
              <a:t>  fs.mkdirs(testDir);</a:t>
            </a:r>
          </a:p>
          <a:p>
            <a:pPr>
              <a:lnSpc>
                <a:spcPct val="128000"/>
              </a:lnSpc>
              <a:spcBef>
                <a:spcPts val="0"/>
              </a:spcBef>
              <a:spcAft>
                <a:spcPts val="0"/>
              </a:spcAft>
            </a:pPr>
            <a:r>
              <a:rPr sz="1250" b="1" i="0">
                <a:solidFill>
                  <a:srgbClr val="A8452B"/>
                </a:solidFill>
                <a:latin typeface="Consolas"/>
              </a:rPr>
              <a:t>  FileSystem.setDefaultUri(conf, fs.getUri());</a:t>
            </a:r>
          </a:p>
          <a:p>
            <a:pPr>
              <a:lnSpc>
                <a:spcPct val="128000"/>
              </a:lnSpc>
              <a:spcBef>
                <a:spcPts val="0"/>
              </a:spcBef>
              <a:spcAft>
                <a:spcPts val="0"/>
              </a:spcAft>
            </a:pPr>
            <a:r>
              <a:rPr sz="1250" b="1" i="0">
                <a:solidFill>
                  <a:srgbClr val="A8452B"/>
                </a:solidFill>
                <a:latin typeface="Consolas"/>
              </a:rPr>
              <a:t>  fs.setWorkingDirectory(testDir);</a:t>
            </a:r>
          </a:p>
          <a:p>
            <a:pPr>
              <a:lnSpc>
                <a:spcPct val="128000"/>
              </a:lnSpc>
              <a:spcBef>
                <a:spcPts val="0"/>
              </a:spcBef>
              <a:spcAft>
                <a:spcPts val="0"/>
              </a:spcAft>
            </a:pPr>
            <a:r>
              <a:rPr sz="1250" b="0" i="0">
                <a:solidFill>
                  <a:srgbClr val="3D4653"/>
                </a:solidFill>
                <a:latin typeface="Consolas"/>
              </a:rPr>
              <a:t>  fs.mkdirs(new Path("d1"));</a:t>
            </a:r>
          </a:p>
          <a:p>
            <a:pPr>
              <a:lnSpc>
                <a:spcPct val="128000"/>
              </a:lnSpc>
              <a:spcBef>
                <a:spcPts val="0"/>
              </a:spcBef>
              <a:spcAft>
                <a:spcPts val="0"/>
              </a:spcAft>
            </a:pPr>
            <a:r>
              <a:rPr sz="1250" b="0" i="0">
                <a:solidFill>
                  <a:srgbClr val="3D4653"/>
                </a:solidFill>
                <a:latin typeface="Consolas"/>
              </a:rPr>
              <a:t>  fs.createNewFile(new Path("d1", "f1"));</a:t>
            </a:r>
          </a:p>
          <a:p>
            <a:pPr>
              <a:lnSpc>
                <a:spcPct val="128000"/>
              </a:lnSpc>
              <a:spcBef>
                <a:spcPts val="0"/>
              </a:spcBef>
              <a:spcAft>
                <a:spcPts val="0"/>
              </a:spcAft>
            </a:pPr>
            <a:r>
              <a:rPr sz="1250" b="0" i="0">
                <a:solidFill>
                  <a:srgbClr val="3D4653"/>
                </a:solidFill>
                <a:latin typeface="Consolas"/>
              </a:rPr>
              <a:t>}</a:t>
            </a:r>
          </a:p>
        </p:txBody>
      </p:sp>
      <p:sp>
        <p:nvSpPr>
          <p:cNvPr id="9" name="TextBox 8"/>
          <p:cNvSpPr txBox="1"/>
          <p:nvPr/>
        </p:nvSpPr>
        <p:spPr>
          <a:xfrm>
            <a:off x="777240" y="534924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500" b="0" i="0">
                <a:solidFill>
                  <a:srgbClr val="151A21"/>
                </a:solidFill>
                <a:latin typeface="Calibri"/>
              </a:rPr>
              <a:t>Two highlighted lines mutate process-global state on a FileSystem instance that Hadoop hands out from a shared cache. Whether a class resets state between tests is answerable only from here.</a:t>
            </a:r>
          </a:p>
        </p:txBody>
      </p:sp>
      <p:sp>
        <p:nvSpPr>
          <p:cNvPr id="10" name="TextBox 9"/>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CONTEXT TYPE 3 OF 4</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Sibling tests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3736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6B7684"/>
                </a:solidFill>
                <a:latin typeface="Calibri"/>
              </a:rPr>
              <a:t>The other @Test methods in the same class. An order dependency is by definition a relationship between tests, so it cannot be seen from one test alone.</a:t>
            </a:r>
          </a:p>
        </p:txBody>
      </p:sp>
      <p:sp>
        <p:nvSpPr>
          <p:cNvPr id="6" name="TextBox 5"/>
          <p:cNvSpPr txBox="1"/>
          <p:nvPr/>
        </p:nvSpPr>
        <p:spPr>
          <a:xfrm>
            <a:off x="777240" y="2331720"/>
            <a:ext cx="1060704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apache/hadoop · TestDFSIO · the class fixture and one sibling</a:t>
            </a:r>
          </a:p>
        </p:txBody>
      </p:sp>
      <p:sp>
        <p:nvSpPr>
          <p:cNvPr id="7" name="Rectangle 6"/>
          <p:cNvSpPr/>
          <p:nvPr/>
        </p:nvSpPr>
        <p:spPr>
          <a:xfrm>
            <a:off x="777240" y="2624328"/>
            <a:ext cx="10607040" cy="3041903"/>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770632"/>
            <a:ext cx="10314432" cy="2749295"/>
          </a:xfrm>
          <a:prstGeom prst="rect">
            <a:avLst/>
          </a:prstGeom>
          <a:noFill/>
        </p:spPr>
        <p:txBody>
          <a:bodyPr wrap="square" lIns="0" rIns="0" tIns="0" bIns="0" anchor="t">
            <a:spAutoFit/>
          </a:bodyPr>
          <a:lstStyle/>
          <a:p>
            <a:pPr>
              <a:lnSpc>
                <a:spcPct val="128000"/>
              </a:lnSpc>
              <a:spcBef>
                <a:spcPts val="0"/>
              </a:spcBef>
              <a:spcAft>
                <a:spcPts val="0"/>
              </a:spcAft>
            </a:pPr>
            <a:r>
              <a:rPr sz="1250" b="0" i="1">
                <a:solidFill>
                  <a:srgbClr val="6B7684"/>
                </a:solidFill>
                <a:latin typeface="Consolas"/>
              </a:rPr>
              <a:t>@BeforeClass</a:t>
            </a:r>
          </a:p>
          <a:p>
            <a:pPr>
              <a:lnSpc>
                <a:spcPct val="128000"/>
              </a:lnSpc>
              <a:spcBef>
                <a:spcPts val="0"/>
              </a:spcBef>
              <a:spcAft>
                <a:spcPts val="0"/>
              </a:spcAft>
            </a:pPr>
            <a:r>
              <a:rPr sz="1250" b="0" i="0">
                <a:solidFill>
                  <a:srgbClr val="3D4653"/>
                </a:solidFill>
                <a:latin typeface="Consolas"/>
              </a:rPr>
              <a:t>public static void beforeClass() throws Exception {</a:t>
            </a:r>
          </a:p>
          <a:p>
            <a:pPr>
              <a:lnSpc>
                <a:spcPct val="128000"/>
              </a:lnSpc>
              <a:spcBef>
                <a:spcPts val="0"/>
              </a:spcBef>
              <a:spcAft>
                <a:spcPts val="0"/>
              </a:spcAft>
            </a:pPr>
            <a:r>
              <a:rPr sz="1250" b="0" i="0">
                <a:solidFill>
                  <a:srgbClr val="3D4653"/>
                </a:solidFill>
                <a:latin typeface="Consolas"/>
              </a:rPr>
              <a:t>  cluster = new MiniDFSCluster.Builder(bench.getConf()).build();</a:t>
            </a:r>
          </a:p>
          <a:p>
            <a:pPr>
              <a:lnSpc>
                <a:spcPct val="128000"/>
              </a:lnSpc>
              <a:spcBef>
                <a:spcPts val="0"/>
              </a:spcBef>
              <a:spcAft>
                <a:spcPts val="0"/>
              </a:spcAft>
            </a:pPr>
            <a:r>
              <a:rPr sz="1250" b="0" i="0">
                <a:solidFill>
                  <a:srgbClr val="3D4653"/>
                </a:solidFill>
                <a:latin typeface="Consolas"/>
              </a:rPr>
              <a:t>  bench.createControlFile(fs, DEFAULT_NR_BYTES, DEFAULT_NR_FILES);</a:t>
            </a:r>
          </a:p>
          <a:p>
            <a:pPr>
              <a:lnSpc>
                <a:spcPct val="128000"/>
              </a:lnSpc>
              <a:spcBef>
                <a:spcPts val="0"/>
              </a:spcBef>
              <a:spcAft>
                <a:spcPts val="0"/>
              </a:spcAft>
            </a:pPr>
            <a:r>
              <a:rPr sz="1250" b="1" i="0">
                <a:solidFill>
                  <a:srgbClr val="A8452B"/>
                </a:solidFill>
                <a:latin typeface="Consolas"/>
              </a:rPr>
              <a:t>  /** Check write here, as it is required for other tests */</a:t>
            </a:r>
          </a:p>
          <a:p>
            <a:pPr>
              <a:lnSpc>
                <a:spcPct val="128000"/>
              </a:lnSpc>
              <a:spcBef>
                <a:spcPts val="0"/>
              </a:spcBef>
              <a:spcAft>
                <a:spcPts val="0"/>
              </a:spcAft>
            </a:pPr>
            <a:r>
              <a:rPr sz="1250" b="1" i="0">
                <a:solidFill>
                  <a:srgbClr val="A8452B"/>
                </a:solidFill>
                <a:latin typeface="Consolas"/>
              </a:rPr>
              <a:t>  testWrite();                       // writes what testRead will read</a:t>
            </a:r>
          </a:p>
          <a:p>
            <a:pPr>
              <a:lnSpc>
                <a:spcPct val="128000"/>
              </a:lnSpc>
              <a:spcBef>
                <a:spcPts val="0"/>
              </a:spcBef>
              <a:spcAft>
                <a:spcPts val="0"/>
              </a:spcAft>
            </a:pPr>
            <a:r>
              <a:rPr sz="1250" b="0" i="0">
                <a:solidFill>
                  <a:srgbClr val="3D4653"/>
                </a:solidFill>
                <a:latin typeface="Consolas"/>
              </a:rPr>
              <a:t>}</a:t>
            </a:r>
          </a:p>
          <a:p>
            <a:pPr>
              <a:lnSpc>
                <a:spcPct val="128000"/>
              </a:lnSpc>
              <a:spcBef>
                <a:spcPts val="0"/>
              </a:spcBef>
              <a:spcAft>
                <a:spcPts val="0"/>
              </a:spcAft>
            </a:pPr>
            <a:r>
              <a:rPr sz="1250" b="0" i="0">
                <a:solidFill>
                  <a:srgbClr val="3D4653"/>
                </a:solidFill>
                <a:latin typeface="Consolas"/>
              </a:rPr>
              <a:t> </a:t>
            </a:r>
          </a:p>
          <a:p>
            <a:pPr>
              <a:lnSpc>
                <a:spcPct val="128000"/>
              </a:lnSpc>
              <a:spcBef>
                <a:spcPts val="0"/>
              </a:spcBef>
              <a:spcAft>
                <a:spcPts val="0"/>
              </a:spcAft>
            </a:pPr>
            <a:r>
              <a:rPr sz="1250" b="0" i="0">
                <a:solidFill>
                  <a:srgbClr val="3D4653"/>
                </a:solidFill>
                <a:latin typeface="Consolas"/>
              </a:rPr>
              <a:t>public void testReadRandom() throws Exception {</a:t>
            </a:r>
          </a:p>
          <a:p>
            <a:pPr>
              <a:lnSpc>
                <a:spcPct val="128000"/>
              </a:lnSpc>
              <a:spcBef>
                <a:spcPts val="0"/>
              </a:spcBef>
              <a:spcAft>
                <a:spcPts val="0"/>
              </a:spcAft>
            </a:pPr>
            <a:r>
              <a:rPr sz="1250" b="1" i="0">
                <a:solidFill>
                  <a:srgbClr val="A8452B"/>
                </a:solidFill>
                <a:latin typeface="Consolas"/>
              </a:rPr>
              <a:t>  bench.getConf().setLong("test.io.skip.size", 0);   // shared static bench</a:t>
            </a:r>
          </a:p>
          <a:p>
            <a:pPr>
              <a:lnSpc>
                <a:spcPct val="128000"/>
              </a:lnSpc>
              <a:spcBef>
                <a:spcPts val="0"/>
              </a:spcBef>
              <a:spcAft>
                <a:spcPts val="0"/>
              </a:spcAft>
            </a:pPr>
            <a:r>
              <a:rPr sz="1250" b="0" i="0">
                <a:solidFill>
                  <a:srgbClr val="3D4653"/>
                </a:solidFill>
                <a:latin typeface="Consolas"/>
              </a:rPr>
              <a:t>}</a:t>
            </a:r>
          </a:p>
        </p:txBody>
      </p:sp>
      <p:sp>
        <p:nvSpPr>
          <p:cNvPr id="9" name="TextBox 8"/>
          <p:cNvSpPr txBox="1"/>
          <p:nvPr/>
        </p:nvSpPr>
        <p:spPr>
          <a:xfrm>
            <a:off x="777240" y="548640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500" b="0" i="0">
                <a:solidFill>
                  <a:srgbClr val="151A21"/>
                </a:solidFill>
                <a:latin typeface="Calibri"/>
              </a:rPr>
              <a:t>The fixture states the dependency in a comment, and a sibling test writes a configuration key into the shared static object that the others read.</a:t>
            </a:r>
          </a:p>
        </p:txBody>
      </p:sp>
      <p:sp>
        <p:nvSpPr>
          <p:cNvPr id="10" name="TextBox 9"/>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CONTEXT TYPE 4 OF 4</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Depth-1 callees, and where the depth runs out</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00784"/>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Production methods the test invokes. Some test classes contain no context at all: TestPeerCache has no static field, no fixture and no threading vocabulary anywhere in it.</a:t>
            </a:r>
          </a:p>
        </p:txBody>
      </p:sp>
      <p:sp>
        <p:nvSpPr>
          <p:cNvPr id="6" name="TextBox 5"/>
          <p:cNvSpPr txBox="1"/>
          <p:nvPr/>
        </p:nvSpPr>
        <p:spPr>
          <a:xfrm>
            <a:off x="777240" y="2267712"/>
            <a:ext cx="484632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the test</a:t>
            </a:r>
          </a:p>
        </p:txBody>
      </p:sp>
      <p:sp>
        <p:nvSpPr>
          <p:cNvPr id="7" name="Rectangle 6"/>
          <p:cNvSpPr/>
          <p:nvPr/>
        </p:nvSpPr>
        <p:spPr>
          <a:xfrm>
            <a:off x="777240" y="2542032"/>
            <a:ext cx="4846320" cy="1672254"/>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688336"/>
            <a:ext cx="4553712" cy="1379646"/>
          </a:xfrm>
          <a:prstGeom prst="rect">
            <a:avLst/>
          </a:prstGeom>
          <a:noFill/>
        </p:spPr>
        <p:txBody>
          <a:bodyPr wrap="square" lIns="0" rIns="0" tIns="0" bIns="0" anchor="t">
            <a:spAutoFit/>
          </a:bodyPr>
          <a:lstStyle/>
          <a:p>
            <a:pPr>
              <a:lnSpc>
                <a:spcPct val="128000"/>
              </a:lnSpc>
              <a:spcBef>
                <a:spcPts val="0"/>
              </a:spcBef>
              <a:spcAft>
                <a:spcPts val="0"/>
              </a:spcAft>
            </a:pPr>
            <a:r>
              <a:rPr sz="1150" b="0" i="0">
                <a:solidFill>
                  <a:srgbClr val="3D4653"/>
                </a:solidFill>
                <a:latin typeface="Consolas"/>
              </a:rPr>
              <a:t>public void testExpiry() throws Exception {</a:t>
            </a:r>
          </a:p>
          <a:p>
            <a:pPr>
              <a:lnSpc>
                <a:spcPct val="128000"/>
              </a:lnSpc>
              <a:spcBef>
                <a:spcPts val="0"/>
              </a:spcBef>
              <a:spcAft>
                <a:spcPts val="0"/>
              </a:spcAft>
            </a:pPr>
            <a:r>
              <a:rPr sz="1150" b="0" i="0">
                <a:solidFill>
                  <a:srgbClr val="3D4653"/>
                </a:solidFill>
                <a:latin typeface="Consolas"/>
              </a:rPr>
              <a:t>  PeerCache cache =</a:t>
            </a:r>
          </a:p>
          <a:p>
            <a:pPr>
              <a:lnSpc>
                <a:spcPct val="128000"/>
              </a:lnSpc>
              <a:spcBef>
                <a:spcPts val="0"/>
              </a:spcBef>
              <a:spcAft>
                <a:spcPts val="0"/>
              </a:spcAft>
            </a:pPr>
            <a:r>
              <a:rPr sz="1150" b="0" i="0">
                <a:solidFill>
                  <a:srgbClr val="3D4653"/>
                </a:solidFill>
                <a:latin typeface="Consolas"/>
              </a:rPr>
              <a:t>      new PeerCache(CAPACITY, EXPIRY_PERIOD);</a:t>
            </a:r>
          </a:p>
          <a:p>
            <a:pPr>
              <a:lnSpc>
                <a:spcPct val="128000"/>
              </a:lnSpc>
              <a:spcBef>
                <a:spcPts val="0"/>
              </a:spcBef>
              <a:spcAft>
                <a:spcPts val="0"/>
              </a:spcAft>
            </a:pPr>
            <a:r>
              <a:rPr sz="1150" b="1" i="0">
                <a:solidFill>
                  <a:srgbClr val="2F4858"/>
                </a:solidFill>
                <a:latin typeface="Consolas"/>
              </a:rPr>
              <a:t>  cache.put(dnIds[i], peers[i]);</a:t>
            </a:r>
          </a:p>
          <a:p>
            <a:pPr>
              <a:lnSpc>
                <a:spcPct val="128000"/>
              </a:lnSpc>
              <a:spcBef>
                <a:spcPts val="0"/>
              </a:spcBef>
              <a:spcAft>
                <a:spcPts val="0"/>
              </a:spcAft>
            </a:pPr>
            <a:r>
              <a:rPr sz="1150" b="0" i="0">
                <a:solidFill>
                  <a:srgbClr val="3D4653"/>
                </a:solidFill>
                <a:latin typeface="Consolas"/>
              </a:rPr>
              <a:t>  assertEquals(0, cache.size());</a:t>
            </a:r>
          </a:p>
          <a:p>
            <a:pPr>
              <a:lnSpc>
                <a:spcPct val="128000"/>
              </a:lnSpc>
              <a:spcBef>
                <a:spcPts val="0"/>
              </a:spcBef>
              <a:spcAft>
                <a:spcPts val="0"/>
              </a:spcAft>
            </a:pPr>
            <a:r>
              <a:rPr sz="1150" b="0" i="0">
                <a:solidFill>
                  <a:srgbClr val="3D4653"/>
                </a:solidFill>
                <a:latin typeface="Consolas"/>
              </a:rPr>
              <a:t>}</a:t>
            </a:r>
          </a:p>
        </p:txBody>
      </p:sp>
      <p:sp>
        <p:nvSpPr>
          <p:cNvPr id="9" name="TextBox 8"/>
          <p:cNvSpPr txBox="1"/>
          <p:nvPr/>
        </p:nvSpPr>
        <p:spPr>
          <a:xfrm>
            <a:off x="6126479" y="2267712"/>
            <a:ext cx="548640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what the call chain reaches, by depth</a:t>
            </a:r>
          </a:p>
        </p:txBody>
      </p:sp>
      <p:sp>
        <p:nvSpPr>
          <p:cNvPr id="10" name="Rectangle 9"/>
          <p:cNvSpPr/>
          <p:nvPr/>
        </p:nvSpPr>
        <p:spPr>
          <a:xfrm>
            <a:off x="6126479" y="2542032"/>
            <a:ext cx="5486400" cy="2592019"/>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72783" y="2688336"/>
            <a:ext cx="5193792" cy="2299411"/>
          </a:xfrm>
          <a:prstGeom prst="rect">
            <a:avLst/>
          </a:prstGeom>
          <a:noFill/>
        </p:spPr>
        <p:txBody>
          <a:bodyPr wrap="square" lIns="0" rIns="0" tIns="0" bIns="0" anchor="t">
            <a:spAutoFit/>
          </a:bodyPr>
          <a:lstStyle/>
          <a:p>
            <a:pPr>
              <a:lnSpc>
                <a:spcPct val="128000"/>
              </a:lnSpc>
              <a:spcBef>
                <a:spcPts val="0"/>
              </a:spcBef>
              <a:spcAft>
                <a:spcPts val="0"/>
              </a:spcAft>
            </a:pPr>
            <a:r>
              <a:rPr sz="1150" b="1" i="0">
                <a:solidFill>
                  <a:srgbClr val="2F4858"/>
                </a:solidFill>
                <a:latin typeface="Consolas"/>
              </a:rPr>
              <a:t>depth 1  PeerCache.put(DatanodeID, Peer)</a:t>
            </a:r>
          </a:p>
          <a:p>
            <a:pPr>
              <a:lnSpc>
                <a:spcPct val="128000"/>
              </a:lnSpc>
              <a:spcBef>
                <a:spcPts val="0"/>
              </a:spcBef>
              <a:spcAft>
                <a:spcPts val="0"/>
              </a:spcAft>
            </a:pPr>
            <a:r>
              <a:rPr sz="1150" b="0" i="0">
                <a:solidFill>
                  <a:srgbClr val="3D4653"/>
                </a:solidFill>
                <a:latin typeface="Consolas"/>
              </a:rPr>
              <a:t>           if (peer.isClosed()) return;</a:t>
            </a:r>
          </a:p>
          <a:p>
            <a:pPr>
              <a:lnSpc>
                <a:spcPct val="128000"/>
              </a:lnSpc>
              <a:spcBef>
                <a:spcPts val="0"/>
              </a:spcBef>
              <a:spcAft>
                <a:spcPts val="0"/>
              </a:spcAft>
            </a:pPr>
            <a:r>
              <a:rPr sz="1150" b="0" i="0">
                <a:solidFill>
                  <a:srgbClr val="3D4653"/>
                </a:solidFill>
                <a:latin typeface="Consolas"/>
              </a:rPr>
              <a:t>           putInternal(dnId, peer);</a:t>
            </a:r>
          </a:p>
          <a:p>
            <a:pPr>
              <a:lnSpc>
                <a:spcPct val="128000"/>
              </a:lnSpc>
              <a:spcBef>
                <a:spcPts val="0"/>
              </a:spcBef>
              <a:spcAft>
                <a:spcPts val="0"/>
              </a:spcAft>
            </a:pPr>
            <a:r>
              <a:rPr sz="1150" b="0" i="0">
                <a:solidFill>
                  <a:srgbClr val="3D4653"/>
                </a:solidFill>
                <a:latin typeface="Consolas"/>
              </a:rPr>
              <a:t>depth 2  putInternal(...)</a:t>
            </a:r>
          </a:p>
          <a:p>
            <a:pPr>
              <a:lnSpc>
                <a:spcPct val="128000"/>
              </a:lnSpc>
              <a:spcBef>
                <a:spcPts val="0"/>
              </a:spcBef>
              <a:spcAft>
                <a:spcPts val="0"/>
              </a:spcAft>
            </a:pPr>
            <a:r>
              <a:rPr sz="1150" b="0" i="0">
                <a:solidFill>
                  <a:srgbClr val="3D4653"/>
                </a:solidFill>
                <a:latin typeface="Consolas"/>
              </a:rPr>
              <a:t>           startExpiryDaemon();</a:t>
            </a:r>
          </a:p>
          <a:p>
            <a:pPr>
              <a:lnSpc>
                <a:spcPct val="128000"/>
              </a:lnSpc>
              <a:spcBef>
                <a:spcPts val="0"/>
              </a:spcBef>
              <a:spcAft>
                <a:spcPts val="0"/>
              </a:spcAft>
            </a:pPr>
            <a:r>
              <a:rPr sz="1150" b="1" i="0">
                <a:solidFill>
                  <a:srgbClr val="A8452B"/>
                </a:solidFill>
                <a:latin typeface="Consolas"/>
              </a:rPr>
              <a:t>depth 3  startExpiryDaemon()</a:t>
            </a:r>
          </a:p>
          <a:p>
            <a:pPr>
              <a:lnSpc>
                <a:spcPct val="128000"/>
              </a:lnSpc>
              <a:spcBef>
                <a:spcPts val="0"/>
              </a:spcBef>
              <a:spcAft>
                <a:spcPts val="0"/>
              </a:spcAft>
            </a:pPr>
            <a:r>
              <a:rPr sz="1150" b="1" i="0">
                <a:solidFill>
                  <a:srgbClr val="A8452B"/>
                </a:solidFill>
                <a:latin typeface="Consolas"/>
              </a:rPr>
              <a:t>           daemon = new Daemon(new Runnable(){..});</a:t>
            </a:r>
          </a:p>
          <a:p>
            <a:pPr>
              <a:lnSpc>
                <a:spcPct val="128000"/>
              </a:lnSpc>
              <a:spcBef>
                <a:spcPts val="0"/>
              </a:spcBef>
              <a:spcAft>
                <a:spcPts val="0"/>
              </a:spcAft>
            </a:pPr>
            <a:r>
              <a:rPr sz="1150" b="1" i="0">
                <a:solidFill>
                  <a:srgbClr val="A8452B"/>
                </a:solidFill>
                <a:latin typeface="Consolas"/>
              </a:rPr>
              <a:t>           daemon.start();</a:t>
            </a:r>
          </a:p>
          <a:p>
            <a:pPr>
              <a:lnSpc>
                <a:spcPct val="128000"/>
              </a:lnSpc>
              <a:spcBef>
                <a:spcPts val="0"/>
              </a:spcBef>
              <a:spcAft>
                <a:spcPts val="0"/>
              </a:spcAft>
            </a:pPr>
            <a:r>
              <a:rPr sz="1150" b="1" i="0">
                <a:solidFill>
                  <a:srgbClr val="A8452B"/>
                </a:solidFill>
                <a:latin typeface="Consolas"/>
              </a:rPr>
              <a:t>depth 4  run()    &lt;- not a call edge</a:t>
            </a:r>
          </a:p>
          <a:p>
            <a:pPr>
              <a:lnSpc>
                <a:spcPct val="128000"/>
              </a:lnSpc>
              <a:spcBef>
                <a:spcPts val="0"/>
              </a:spcBef>
              <a:spcAft>
                <a:spcPts val="0"/>
              </a:spcAft>
            </a:pPr>
            <a:r>
              <a:rPr sz="1150" b="1" i="0">
                <a:solidFill>
                  <a:srgbClr val="A8452B"/>
                </a:solidFill>
                <a:latin typeface="Consolas"/>
              </a:rPr>
              <a:t>           for (..; Thread.sleep(expiryPeriod))</a:t>
            </a:r>
          </a:p>
        </p:txBody>
      </p:sp>
      <p:sp>
        <p:nvSpPr>
          <p:cNvPr id="12" name="TextBox 11"/>
          <p:cNvSpPr txBox="1"/>
          <p:nvPr/>
        </p:nvSpPr>
        <p:spPr>
          <a:xfrm>
            <a:off x="777240" y="4251960"/>
            <a:ext cx="4846320" cy="109728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151A21"/>
                </a:solidFill>
                <a:latin typeface="Calibri"/>
              </a:rPr>
              <a:t>Depth 1 returns only put, which holds nothing that separates this test from an async-wait test. The daemon appears at depth 3 and the Thread.sleep loop at depth 4.</a:t>
            </a:r>
          </a:p>
        </p:txBody>
      </p:sp>
      <p:sp>
        <p:nvSpPr>
          <p:cNvPr id="13" name="Rectangle 12"/>
          <p:cNvSpPr/>
          <p:nvPr/>
        </p:nvSpPr>
        <p:spPr>
          <a:xfrm>
            <a:off x="777240" y="5559552"/>
            <a:ext cx="10637215" cy="786384"/>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724144"/>
            <a:ext cx="10058400" cy="640080"/>
          </a:xfrm>
          <a:prstGeom prst="rect">
            <a:avLst/>
          </a:prstGeom>
          <a:noFill/>
        </p:spPr>
        <p:txBody>
          <a:bodyPr wrap="square" lIns="0" rIns="0" tIns="0" bIns="0" anchor="t">
            <a:spAutoFit/>
          </a:bodyPr>
          <a:lstStyle/>
          <a:p>
            <a:pPr>
              <a:lnSpc>
                <a:spcPct val="124000"/>
              </a:lnSpc>
              <a:spcBef>
                <a:spcPts val="0"/>
              </a:spcBef>
              <a:spcAft>
                <a:spcPts val="0"/>
              </a:spcAft>
            </a:pPr>
            <a:r>
              <a:rPr sz="1350" b="0" i="0">
                <a:solidFill>
                  <a:srgbClr val="3D4653"/>
                </a:solidFill>
                <a:latin typeface="Calibri"/>
              </a:rPr>
              <a:t>The last hop is not a method call at all: startExpiryDaemon constructs an anonymous Runnable and hands it to a thread. No call-graph traversal follows that edge at any depth, which is a modelling decision rather than a depth setting.</a:t>
            </a:r>
          </a:p>
        </p:txBody>
      </p:sp>
      <p:sp>
        <p:nvSpPr>
          <p:cNvPr id="15" name="TextBox 14"/>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SCALING UP</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Setup for context extraction</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19072"/>
            <a:ext cx="5120640" cy="274320"/>
          </a:xfrm>
          <a:prstGeom prst="rect">
            <a:avLst/>
          </a:prstGeom>
          <a:noFill/>
        </p:spPr>
        <p:txBody>
          <a:bodyPr wrap="square" lIns="0" rIns="0" tIns="0" bIns="0" anchor="t">
            <a:spAutoFit/>
          </a:bodyPr>
          <a:lstStyle/>
          <a:p>
            <a:pPr>
              <a:spcBef>
                <a:spcPts val="0"/>
              </a:spcBef>
              <a:spcAft>
                <a:spcPts val="0"/>
              </a:spcAft>
            </a:pPr>
            <a:r>
              <a:rPr sz="1450" b="1" i="0">
                <a:solidFill>
                  <a:srgbClr val="151A21"/>
                </a:solidFill>
                <a:latin typeface="Calibri"/>
              </a:rPr>
              <a:t>Sample</a:t>
            </a:r>
          </a:p>
        </p:txBody>
      </p:sp>
      <p:sp>
        <p:nvSpPr>
          <p:cNvPr id="6" name="Rectangle 5"/>
          <p:cNvSpPr/>
          <p:nvPr/>
        </p:nvSpPr>
        <p:spPr>
          <a:xfrm>
            <a:off x="777240" y="2011680"/>
            <a:ext cx="4846320" cy="347472"/>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084832"/>
            <a:ext cx="2249424" cy="237744"/>
          </a:xfrm>
          <a:prstGeom prst="rect">
            <a:avLst/>
          </a:prstGeom>
          <a:noFill/>
        </p:spPr>
        <p:txBody>
          <a:bodyPr wrap="square" lIns="0" rIns="0" tIns="0" bIns="0" anchor="t">
            <a:spAutoFit/>
          </a:bodyPr>
          <a:lstStyle/>
          <a:p>
            <a:pPr algn="l">
              <a:spcBef>
                <a:spcPts val="0"/>
              </a:spcBef>
              <a:spcAft>
                <a:spcPts val="0"/>
              </a:spcAft>
            </a:pPr>
            <a:r>
              <a:rPr sz="1050" b="1" i="0">
                <a:solidFill>
                  <a:srgbClr val="6B7684"/>
                </a:solidFill>
                <a:latin typeface="Consolas"/>
              </a:rPr>
              <a:t>PROJECT</a:t>
            </a:r>
          </a:p>
        </p:txBody>
      </p:sp>
      <p:sp>
        <p:nvSpPr>
          <p:cNvPr id="8" name="TextBox 7"/>
          <p:cNvSpPr txBox="1"/>
          <p:nvPr/>
        </p:nvSpPr>
        <p:spPr>
          <a:xfrm>
            <a:off x="3355848" y="2084832"/>
            <a:ext cx="877824" cy="237744"/>
          </a:xfrm>
          <a:prstGeom prst="rect">
            <a:avLst/>
          </a:prstGeom>
          <a:noFill/>
        </p:spPr>
        <p:txBody>
          <a:bodyPr wrap="square" lIns="0" rIns="0" tIns="0" bIns="0" anchor="t">
            <a:spAutoFit/>
          </a:bodyPr>
          <a:lstStyle/>
          <a:p>
            <a:pPr algn="r">
              <a:spcBef>
                <a:spcPts val="0"/>
              </a:spcBef>
              <a:spcAft>
                <a:spcPts val="0"/>
              </a:spcAft>
            </a:pPr>
            <a:r>
              <a:rPr sz="1050" b="1" i="0">
                <a:solidFill>
                  <a:srgbClr val="6B7684"/>
                </a:solidFill>
                <a:latin typeface="Consolas"/>
              </a:rPr>
              <a:t>FLAKY</a:t>
            </a:r>
          </a:p>
        </p:txBody>
      </p:sp>
      <p:sp>
        <p:nvSpPr>
          <p:cNvPr id="9" name="TextBox 8"/>
          <p:cNvSpPr txBox="1"/>
          <p:nvPr/>
        </p:nvSpPr>
        <p:spPr>
          <a:xfrm>
            <a:off x="4453128" y="2084832"/>
            <a:ext cx="1060704" cy="237744"/>
          </a:xfrm>
          <a:prstGeom prst="rect">
            <a:avLst/>
          </a:prstGeom>
          <a:noFill/>
        </p:spPr>
        <p:txBody>
          <a:bodyPr wrap="square" lIns="0" rIns="0" tIns="0" bIns="0" anchor="t">
            <a:spAutoFit/>
          </a:bodyPr>
          <a:lstStyle/>
          <a:p>
            <a:pPr algn="r">
              <a:spcBef>
                <a:spcPts val="0"/>
              </a:spcBef>
              <a:spcAft>
                <a:spcPts val="0"/>
              </a:spcAft>
            </a:pPr>
            <a:r>
              <a:rPr sz="1050" b="1" i="0">
                <a:solidFill>
                  <a:srgbClr val="6B7684"/>
                </a:solidFill>
                <a:latin typeface="Consolas"/>
              </a:rPr>
              <a:t>LOCATED</a:t>
            </a:r>
          </a:p>
        </p:txBody>
      </p:sp>
      <p:sp>
        <p:nvSpPr>
          <p:cNvPr id="10" name="TextBox 9"/>
          <p:cNvSpPr txBox="1"/>
          <p:nvPr/>
        </p:nvSpPr>
        <p:spPr>
          <a:xfrm>
            <a:off x="886968" y="2432304"/>
            <a:ext cx="224942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apache/hadoop</a:t>
            </a:r>
          </a:p>
        </p:txBody>
      </p:sp>
      <p:sp>
        <p:nvSpPr>
          <p:cNvPr id="11" name="TextBox 10"/>
          <p:cNvSpPr txBox="1"/>
          <p:nvPr/>
        </p:nvSpPr>
        <p:spPr>
          <a:xfrm>
            <a:off x="3355848" y="2432304"/>
            <a:ext cx="8778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33</a:t>
            </a:r>
          </a:p>
        </p:txBody>
      </p:sp>
      <p:sp>
        <p:nvSpPr>
          <p:cNvPr id="12" name="TextBox 11"/>
          <p:cNvSpPr txBox="1"/>
          <p:nvPr/>
        </p:nvSpPr>
        <p:spPr>
          <a:xfrm>
            <a:off x="4453128" y="2432304"/>
            <a:ext cx="10607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27</a:t>
            </a:r>
          </a:p>
        </p:txBody>
      </p:sp>
      <p:sp>
        <p:nvSpPr>
          <p:cNvPr id="13" name="Rectangle 12"/>
          <p:cNvSpPr/>
          <p:nvPr/>
        </p:nvSpPr>
        <p:spPr>
          <a:xfrm>
            <a:off x="777240" y="2679192"/>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2761488"/>
            <a:ext cx="224942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wildfly/wildfly</a:t>
            </a:r>
          </a:p>
        </p:txBody>
      </p:sp>
      <p:sp>
        <p:nvSpPr>
          <p:cNvPr id="15" name="TextBox 14"/>
          <p:cNvSpPr txBox="1"/>
          <p:nvPr/>
        </p:nvSpPr>
        <p:spPr>
          <a:xfrm>
            <a:off x="3355848" y="2761488"/>
            <a:ext cx="8778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42</a:t>
            </a:r>
          </a:p>
        </p:txBody>
      </p:sp>
      <p:sp>
        <p:nvSpPr>
          <p:cNvPr id="16" name="TextBox 15"/>
          <p:cNvSpPr txBox="1"/>
          <p:nvPr/>
        </p:nvSpPr>
        <p:spPr>
          <a:xfrm>
            <a:off x="4453128" y="2761488"/>
            <a:ext cx="10607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24</a:t>
            </a:r>
          </a:p>
        </p:txBody>
      </p:sp>
      <p:sp>
        <p:nvSpPr>
          <p:cNvPr id="17" name="Rectangle 16"/>
          <p:cNvSpPr/>
          <p:nvPr/>
        </p:nvSpPr>
        <p:spPr>
          <a:xfrm>
            <a:off x="777240" y="3008376"/>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3090672"/>
            <a:ext cx="224942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apache/pulsar</a:t>
            </a:r>
          </a:p>
        </p:txBody>
      </p:sp>
      <p:sp>
        <p:nvSpPr>
          <p:cNvPr id="19" name="TextBox 18"/>
          <p:cNvSpPr txBox="1"/>
          <p:nvPr/>
        </p:nvSpPr>
        <p:spPr>
          <a:xfrm>
            <a:off x="3355848" y="3090672"/>
            <a:ext cx="8778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22</a:t>
            </a:r>
          </a:p>
        </p:txBody>
      </p:sp>
      <p:sp>
        <p:nvSpPr>
          <p:cNvPr id="20" name="TextBox 19"/>
          <p:cNvSpPr txBox="1"/>
          <p:nvPr/>
        </p:nvSpPr>
        <p:spPr>
          <a:xfrm>
            <a:off x="4453128" y="3090672"/>
            <a:ext cx="10607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16</a:t>
            </a:r>
          </a:p>
        </p:txBody>
      </p:sp>
      <p:sp>
        <p:nvSpPr>
          <p:cNvPr id="21" name="Rectangle 20"/>
          <p:cNvSpPr/>
          <p:nvPr/>
        </p:nvSpPr>
        <p:spPr>
          <a:xfrm>
            <a:off x="777240" y="3337560"/>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19856"/>
            <a:ext cx="224942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cdapio/cdap</a:t>
            </a:r>
          </a:p>
        </p:txBody>
      </p:sp>
      <p:sp>
        <p:nvSpPr>
          <p:cNvPr id="23" name="TextBox 22"/>
          <p:cNvSpPr txBox="1"/>
          <p:nvPr/>
        </p:nvSpPr>
        <p:spPr>
          <a:xfrm>
            <a:off x="3355848" y="3419856"/>
            <a:ext cx="8778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11</a:t>
            </a:r>
          </a:p>
        </p:txBody>
      </p:sp>
      <p:sp>
        <p:nvSpPr>
          <p:cNvPr id="24" name="TextBox 23"/>
          <p:cNvSpPr txBox="1"/>
          <p:nvPr/>
        </p:nvSpPr>
        <p:spPr>
          <a:xfrm>
            <a:off x="4453128" y="3419856"/>
            <a:ext cx="10607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9</a:t>
            </a:r>
          </a:p>
        </p:txBody>
      </p:sp>
      <p:sp>
        <p:nvSpPr>
          <p:cNvPr id="25" name="Rectangle 24"/>
          <p:cNvSpPr/>
          <p:nvPr/>
        </p:nvSpPr>
        <p:spPr>
          <a:xfrm>
            <a:off x="777240" y="3666744"/>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749039"/>
            <a:ext cx="224942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neo4j/neo4j</a:t>
            </a:r>
          </a:p>
        </p:txBody>
      </p:sp>
      <p:sp>
        <p:nvSpPr>
          <p:cNvPr id="27" name="TextBox 26"/>
          <p:cNvSpPr txBox="1"/>
          <p:nvPr/>
        </p:nvSpPr>
        <p:spPr>
          <a:xfrm>
            <a:off x="3355848" y="3749039"/>
            <a:ext cx="8778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8</a:t>
            </a:r>
          </a:p>
        </p:txBody>
      </p:sp>
      <p:sp>
        <p:nvSpPr>
          <p:cNvPr id="28" name="TextBox 27"/>
          <p:cNvSpPr txBox="1"/>
          <p:nvPr/>
        </p:nvSpPr>
        <p:spPr>
          <a:xfrm>
            <a:off x="4453128" y="3749039"/>
            <a:ext cx="10607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4</a:t>
            </a:r>
          </a:p>
        </p:txBody>
      </p:sp>
      <p:sp>
        <p:nvSpPr>
          <p:cNvPr id="29" name="Rectangle 28"/>
          <p:cNvSpPr/>
          <p:nvPr/>
        </p:nvSpPr>
        <p:spPr>
          <a:xfrm>
            <a:off x="777240" y="3995928"/>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4023360"/>
            <a:ext cx="4846320" cy="310896"/>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4078224"/>
            <a:ext cx="2249424" cy="256032"/>
          </a:xfrm>
          <a:prstGeom prst="rect">
            <a:avLst/>
          </a:prstGeom>
          <a:noFill/>
        </p:spPr>
        <p:txBody>
          <a:bodyPr wrap="square" lIns="0" rIns="0" tIns="0" bIns="0" anchor="t">
            <a:spAutoFit/>
          </a:bodyPr>
          <a:lstStyle/>
          <a:p>
            <a:pPr algn="l">
              <a:spcBef>
                <a:spcPts val="0"/>
              </a:spcBef>
              <a:spcAft>
                <a:spcPts val="0"/>
              </a:spcAft>
            </a:pPr>
            <a:r>
              <a:rPr sz="1250" b="1" i="0">
                <a:solidFill>
                  <a:srgbClr val="151A21"/>
                </a:solidFill>
                <a:latin typeface="Calibri"/>
              </a:rPr>
              <a:t>total</a:t>
            </a:r>
          </a:p>
        </p:txBody>
      </p:sp>
      <p:sp>
        <p:nvSpPr>
          <p:cNvPr id="32" name="TextBox 31"/>
          <p:cNvSpPr txBox="1"/>
          <p:nvPr/>
        </p:nvSpPr>
        <p:spPr>
          <a:xfrm>
            <a:off x="3355848" y="4078224"/>
            <a:ext cx="87782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116</a:t>
            </a:r>
          </a:p>
        </p:txBody>
      </p:sp>
      <p:sp>
        <p:nvSpPr>
          <p:cNvPr id="33" name="TextBox 32"/>
          <p:cNvSpPr txBox="1"/>
          <p:nvPr/>
        </p:nvSpPr>
        <p:spPr>
          <a:xfrm>
            <a:off x="4453128" y="4078224"/>
            <a:ext cx="106070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80</a:t>
            </a:r>
          </a:p>
        </p:txBody>
      </p:sp>
      <p:sp>
        <p:nvSpPr>
          <p:cNvPr id="34" name="Rectangle 33"/>
          <p:cNvSpPr/>
          <p:nvPr/>
        </p:nvSpPr>
        <p:spPr>
          <a:xfrm>
            <a:off x="777240" y="4325112"/>
            <a:ext cx="484632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4617720"/>
            <a:ext cx="5120640" cy="82296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Test classes pulled from GitHub with a blobless partial clone at the pinned commits. The body itself comes from the benchmark's own column, because the pinned commit holds a different version for 37 of the 80.</a:t>
            </a:r>
          </a:p>
        </p:txBody>
      </p:sp>
      <p:sp>
        <p:nvSpPr>
          <p:cNvPr id="36" name="TextBox 35"/>
          <p:cNvSpPr txBox="1"/>
          <p:nvPr/>
        </p:nvSpPr>
        <p:spPr>
          <a:xfrm>
            <a:off x="6309359" y="1719072"/>
            <a:ext cx="5852160" cy="274320"/>
          </a:xfrm>
          <a:prstGeom prst="rect">
            <a:avLst/>
          </a:prstGeom>
          <a:noFill/>
        </p:spPr>
        <p:txBody>
          <a:bodyPr wrap="square" lIns="0" rIns="0" tIns="0" bIns="0" anchor="t">
            <a:spAutoFit/>
          </a:bodyPr>
          <a:lstStyle/>
          <a:p>
            <a:pPr>
              <a:spcBef>
                <a:spcPts val="0"/>
              </a:spcBef>
              <a:spcAft>
                <a:spcPts val="0"/>
              </a:spcAft>
            </a:pPr>
            <a:r>
              <a:rPr sz="1450" b="1" i="0">
                <a:solidFill>
                  <a:srgbClr val="151A21"/>
                </a:solidFill>
                <a:latin typeface="Calibri"/>
              </a:rPr>
              <a:t>Slicing, one test class at a time</a:t>
            </a:r>
          </a:p>
        </p:txBody>
      </p:sp>
      <p:sp>
        <p:nvSpPr>
          <p:cNvPr id="37" name="Rectangle 36"/>
          <p:cNvSpPr/>
          <p:nvPr/>
        </p:nvSpPr>
        <p:spPr>
          <a:xfrm>
            <a:off x="6309359" y="2011680"/>
            <a:ext cx="5852160" cy="3511783"/>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55664" y="2157984"/>
            <a:ext cx="5559552" cy="3219175"/>
          </a:xfrm>
          <a:prstGeom prst="rect">
            <a:avLst/>
          </a:prstGeom>
          <a:noFill/>
        </p:spPr>
        <p:txBody>
          <a:bodyPr wrap="square" lIns="0" rIns="0" tIns="0" bIns="0" anchor="t">
            <a:spAutoFit/>
          </a:bodyPr>
          <a:lstStyle/>
          <a:p>
            <a:pPr>
              <a:lnSpc>
                <a:spcPct val="128000"/>
              </a:lnSpc>
              <a:spcBef>
                <a:spcPts val="0"/>
              </a:spcBef>
              <a:spcAft>
                <a:spcPts val="0"/>
              </a:spcAft>
            </a:pPr>
            <a:r>
              <a:rPr sz="1150" b="0" i="0">
                <a:solidFill>
                  <a:srgbClr val="3D4653"/>
                </a:solidFill>
                <a:latin typeface="Consolas"/>
              </a:rPr>
              <a:t>def slices_for(src, method_name):</a:t>
            </a:r>
          </a:p>
          <a:p>
            <a:pPr>
              <a:lnSpc>
                <a:spcPct val="128000"/>
              </a:lnSpc>
              <a:spcBef>
                <a:spcPts val="0"/>
              </a:spcBef>
              <a:spcAft>
                <a:spcPts val="0"/>
              </a:spcAft>
            </a:pPr>
            <a:r>
              <a:rPr sz="1150" b="0" i="0">
                <a:solidFill>
                  <a:srgbClr val="3D4653"/>
                </a:solidFill>
                <a:latin typeface="Consolas"/>
              </a:rPr>
              <a:t>    methods, fields = parse_methods(src)</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0">
                <a:solidFill>
                  <a:srgbClr val="3D4653"/>
                </a:solidFill>
                <a:latin typeface="Consolas"/>
              </a:rPr>
              <a:t>    body = next(t for k, n, t in methods</a:t>
            </a:r>
          </a:p>
          <a:p>
            <a:pPr>
              <a:lnSpc>
                <a:spcPct val="128000"/>
              </a:lnSpc>
              <a:spcBef>
                <a:spcPts val="0"/>
              </a:spcBef>
              <a:spcAft>
                <a:spcPts val="0"/>
              </a:spcAft>
            </a:pPr>
            <a:r>
              <a:rPr sz="1150" b="0" i="0">
                <a:solidFill>
                  <a:srgbClr val="3D4653"/>
                </a:solidFill>
                <a:latin typeface="Consolas"/>
              </a:rPr>
              <a:t>             if n == method_name)</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1" i="0">
                <a:solidFill>
                  <a:srgbClr val="A8452B"/>
                </a:solidFill>
                <a:latin typeface="Consolas"/>
              </a:rPr>
              <a:t>    fixtures = join(t for k, n, t in methods</a:t>
            </a:r>
          </a:p>
          <a:p>
            <a:pPr>
              <a:lnSpc>
                <a:spcPct val="128000"/>
              </a:lnSpc>
              <a:spcBef>
                <a:spcPts val="0"/>
              </a:spcBef>
              <a:spcAft>
                <a:spcPts val="0"/>
              </a:spcAft>
            </a:pPr>
            <a:r>
              <a:rPr sz="1150" b="1" i="0">
                <a:solidFill>
                  <a:srgbClr val="A8452B"/>
                </a:solidFill>
                <a:latin typeface="Consolas"/>
              </a:rPr>
              <a:t>               if k == 'fixture')</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1" i="0">
                <a:solidFill>
                  <a:srgbClr val="A8452B"/>
                </a:solidFill>
                <a:latin typeface="Consolas"/>
              </a:rPr>
              <a:t>    siblings = join(t for k, n, t in methods</a:t>
            </a:r>
          </a:p>
          <a:p>
            <a:pPr>
              <a:lnSpc>
                <a:spcPct val="128000"/>
              </a:lnSpc>
              <a:spcBef>
                <a:spcPts val="0"/>
              </a:spcBef>
              <a:spcAft>
                <a:spcPts val="0"/>
              </a:spcAft>
            </a:pPr>
            <a:r>
              <a:rPr sz="1150" b="1" i="0">
                <a:solidFill>
                  <a:srgbClr val="A8452B"/>
                </a:solidFill>
                <a:latin typeface="Consolas"/>
              </a:rPr>
              <a:t>               if k == 'test' and n != method_name)</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0">
                <a:solidFill>
                  <a:srgbClr val="3D4653"/>
                </a:solidFill>
                <a:latin typeface="Consolas"/>
              </a:rPr>
              <a:t>    helpers  = join(t for n, t in helper_src</a:t>
            </a:r>
          </a:p>
          <a:p>
            <a:pPr>
              <a:lnSpc>
                <a:spcPct val="128000"/>
              </a:lnSpc>
              <a:spcBef>
                <a:spcPts val="0"/>
              </a:spcBef>
              <a:spcAft>
                <a:spcPts val="0"/>
              </a:spcAft>
            </a:pPr>
            <a:r>
              <a:rPr sz="1150" b="0" i="0">
                <a:solidFill>
                  <a:srgbClr val="3D4653"/>
                </a:solidFill>
                <a:latin typeface="Consolas"/>
              </a:rPr>
              <a:t>               if called_from(body, n))</a:t>
            </a:r>
          </a:p>
        </p:txBody>
      </p:sp>
      <p:sp>
        <p:nvSpPr>
          <p:cNvPr id="39" name="TextBox 38"/>
          <p:cNvSpPr txBox="1"/>
          <p:nvPr/>
        </p:nvSpPr>
        <p:spPr>
          <a:xfrm>
            <a:off x="6309359" y="5596128"/>
            <a:ext cx="585216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Comments and string literals are blanked first by a single-pass scanner,</a:t>
            </a:r>
          </a:p>
        </p:txBody>
      </p:sp>
      <p:sp>
        <p:nvSpPr>
          <p:cNvPr id="40" name="TextBox 39"/>
          <p:cNvSpPr txBox="1"/>
          <p:nvPr/>
        </p:nvSpPr>
        <p:spPr>
          <a:xfrm>
            <a:off x="6309359" y="5833872"/>
            <a:ext cx="585216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so a /* inside a string cannot swallow the file.</a:t>
            </a:r>
          </a:p>
        </p:txBody>
      </p:sp>
      <p:sp>
        <p:nvSpPr>
          <p:cNvPr id="41" name="TextBox 40"/>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MEASUREMENT, PART 1</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The lexicon: turning code into signals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64208"/>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38 regex families across the 5 flaky categories (lexicon v2.0). Written from the standard taxonomy, then stripped of project-specific identifiers and extended with tokens mined from held-out FlakeBench tests.</a:t>
            </a:r>
          </a:p>
        </p:txBody>
      </p:sp>
      <p:sp>
        <p:nvSpPr>
          <p:cNvPr id="6" name="TextBox 5"/>
          <p:cNvSpPr txBox="1"/>
          <p:nvPr/>
        </p:nvSpPr>
        <p:spPr>
          <a:xfrm>
            <a:off x="777240" y="2331720"/>
            <a:ext cx="2651760" cy="274320"/>
          </a:xfrm>
          <a:prstGeom prst="rect">
            <a:avLst/>
          </a:prstGeom>
          <a:noFill/>
        </p:spPr>
        <p:txBody>
          <a:bodyPr wrap="square" lIns="0" rIns="0" tIns="0" bIns="0" anchor="t">
            <a:spAutoFit/>
          </a:bodyPr>
          <a:lstStyle/>
          <a:p>
            <a:pPr>
              <a:spcBef>
                <a:spcPts val="0"/>
              </a:spcBef>
              <a:spcAft>
                <a:spcPts val="0"/>
              </a:spcAft>
            </a:pPr>
            <a:r>
              <a:rPr sz="1350" b="1" i="0">
                <a:solidFill>
                  <a:srgbClr val="151A21"/>
                </a:solidFill>
                <a:latin typeface="Calibri"/>
              </a:rPr>
              <a:t>async wait</a:t>
            </a:r>
          </a:p>
        </p:txBody>
      </p:sp>
      <p:sp>
        <p:nvSpPr>
          <p:cNvPr id="7" name="TextBox 6"/>
          <p:cNvSpPr txBox="1"/>
          <p:nvPr/>
        </p:nvSpPr>
        <p:spPr>
          <a:xfrm>
            <a:off x="3200400" y="2350008"/>
            <a:ext cx="64008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7 fam.</a:t>
            </a:r>
          </a:p>
        </p:txBody>
      </p:sp>
      <p:sp>
        <p:nvSpPr>
          <p:cNvPr id="8" name="TextBox 7"/>
          <p:cNvSpPr txBox="1"/>
          <p:nvPr/>
        </p:nvSpPr>
        <p:spPr>
          <a:xfrm>
            <a:off x="4023359" y="2340863"/>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Thread.sleep(   .await(   CountDownLatch   Future</a:t>
            </a:r>
          </a:p>
        </p:txBody>
      </p:sp>
      <p:sp>
        <p:nvSpPr>
          <p:cNvPr id="9" name="TextBox 8"/>
          <p:cNvSpPr txBox="1"/>
          <p:nvPr/>
        </p:nvSpPr>
        <p:spPr>
          <a:xfrm>
            <a:off x="4023359" y="2615183"/>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waitFor*   Awaitility   poll(   retry*   @Test(timeout</a:t>
            </a:r>
          </a:p>
        </p:txBody>
      </p:sp>
      <p:sp>
        <p:nvSpPr>
          <p:cNvPr id="10" name="TextBox 9"/>
          <p:cNvSpPr txBox="1"/>
          <p:nvPr/>
        </p:nvSpPr>
        <p:spPr>
          <a:xfrm>
            <a:off x="777240" y="2898647"/>
            <a:ext cx="2651760" cy="274320"/>
          </a:xfrm>
          <a:prstGeom prst="rect">
            <a:avLst/>
          </a:prstGeom>
          <a:noFill/>
        </p:spPr>
        <p:txBody>
          <a:bodyPr wrap="square" lIns="0" rIns="0" tIns="0" bIns="0" anchor="t">
            <a:spAutoFit/>
          </a:bodyPr>
          <a:lstStyle/>
          <a:p>
            <a:pPr>
              <a:spcBef>
                <a:spcPts val="0"/>
              </a:spcBef>
              <a:spcAft>
                <a:spcPts val="0"/>
              </a:spcAft>
            </a:pPr>
            <a:r>
              <a:rPr sz="1350" b="1" i="0">
                <a:solidFill>
                  <a:srgbClr val="151A21"/>
                </a:solidFill>
                <a:latin typeface="Calibri"/>
              </a:rPr>
              <a:t>concurrency</a:t>
            </a:r>
          </a:p>
        </p:txBody>
      </p:sp>
      <p:sp>
        <p:nvSpPr>
          <p:cNvPr id="11" name="TextBox 10"/>
          <p:cNvSpPr txBox="1"/>
          <p:nvPr/>
        </p:nvSpPr>
        <p:spPr>
          <a:xfrm>
            <a:off x="3200400" y="2916935"/>
            <a:ext cx="64008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8 fam.</a:t>
            </a:r>
          </a:p>
        </p:txBody>
      </p:sp>
      <p:sp>
        <p:nvSpPr>
          <p:cNvPr id="12" name="TextBox 11"/>
          <p:cNvSpPr txBox="1"/>
          <p:nvPr/>
        </p:nvSpPr>
        <p:spPr>
          <a:xfrm>
            <a:off x="4023359" y="2907791"/>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new Thread   Runnable   ExecutorService   .submit(</a:t>
            </a:r>
          </a:p>
        </p:txBody>
      </p:sp>
      <p:sp>
        <p:nvSpPr>
          <p:cNvPr id="13" name="TextBox 12"/>
          <p:cNvSpPr txBox="1"/>
          <p:nvPr/>
        </p:nvSpPr>
        <p:spPr>
          <a:xfrm>
            <a:off x="4023359" y="3182111"/>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synchronized   volatile   AtomicInteger   ConcurrentHashMap</a:t>
            </a:r>
          </a:p>
        </p:txBody>
      </p:sp>
      <p:sp>
        <p:nvSpPr>
          <p:cNvPr id="14" name="TextBox 13"/>
          <p:cNvSpPr txBox="1"/>
          <p:nvPr/>
        </p:nvSpPr>
        <p:spPr>
          <a:xfrm>
            <a:off x="777240" y="3465575"/>
            <a:ext cx="2651760" cy="274320"/>
          </a:xfrm>
          <a:prstGeom prst="rect">
            <a:avLst/>
          </a:prstGeom>
          <a:noFill/>
        </p:spPr>
        <p:txBody>
          <a:bodyPr wrap="square" lIns="0" rIns="0" tIns="0" bIns="0" anchor="t">
            <a:spAutoFit/>
          </a:bodyPr>
          <a:lstStyle/>
          <a:p>
            <a:pPr>
              <a:spcBef>
                <a:spcPts val="0"/>
              </a:spcBef>
              <a:spcAft>
                <a:spcPts val="0"/>
              </a:spcAft>
            </a:pPr>
            <a:r>
              <a:rPr sz="1350" b="1" i="0">
                <a:solidFill>
                  <a:srgbClr val="151A21"/>
                </a:solidFill>
                <a:latin typeface="Calibri"/>
              </a:rPr>
              <a:t>time</a:t>
            </a:r>
          </a:p>
        </p:txBody>
      </p:sp>
      <p:sp>
        <p:nvSpPr>
          <p:cNvPr id="15" name="TextBox 14"/>
          <p:cNvSpPr txBox="1"/>
          <p:nvPr/>
        </p:nvSpPr>
        <p:spPr>
          <a:xfrm>
            <a:off x="3200400" y="3483863"/>
            <a:ext cx="64008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7 fam.</a:t>
            </a:r>
          </a:p>
        </p:txBody>
      </p:sp>
      <p:sp>
        <p:nvSpPr>
          <p:cNvPr id="16" name="TextBox 15"/>
          <p:cNvSpPr txBox="1"/>
          <p:nvPr/>
        </p:nvSpPr>
        <p:spPr>
          <a:xfrm>
            <a:off x="4023359" y="3474719"/>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currentTimeMillis   nanoTime   new Date(   Calendar   .now()</a:t>
            </a:r>
          </a:p>
        </p:txBody>
      </p:sp>
      <p:sp>
        <p:nvSpPr>
          <p:cNvPr id="17" name="TextBox 16"/>
          <p:cNvSpPr txBox="1"/>
          <p:nvPr/>
        </p:nvSpPr>
        <p:spPr>
          <a:xfrm>
            <a:off x="4023359" y="3749039"/>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SimpleDateFormat   TimeZone   elapsed*   lastModified</a:t>
            </a:r>
          </a:p>
        </p:txBody>
      </p:sp>
      <p:sp>
        <p:nvSpPr>
          <p:cNvPr id="18" name="TextBox 17"/>
          <p:cNvSpPr txBox="1"/>
          <p:nvPr/>
        </p:nvSpPr>
        <p:spPr>
          <a:xfrm>
            <a:off x="777240" y="4032503"/>
            <a:ext cx="2651760" cy="274320"/>
          </a:xfrm>
          <a:prstGeom prst="rect">
            <a:avLst/>
          </a:prstGeom>
          <a:noFill/>
        </p:spPr>
        <p:txBody>
          <a:bodyPr wrap="square" lIns="0" rIns="0" tIns="0" bIns="0" anchor="t">
            <a:spAutoFit/>
          </a:bodyPr>
          <a:lstStyle/>
          <a:p>
            <a:pPr>
              <a:spcBef>
                <a:spcPts val="0"/>
              </a:spcBef>
              <a:spcAft>
                <a:spcPts val="0"/>
              </a:spcAft>
            </a:pPr>
            <a:r>
              <a:rPr sz="1350" b="1" i="0">
                <a:solidFill>
                  <a:srgbClr val="151A21"/>
                </a:solidFill>
                <a:latin typeface="Calibri"/>
              </a:rPr>
              <a:t>unordered collections</a:t>
            </a:r>
          </a:p>
        </p:txBody>
      </p:sp>
      <p:sp>
        <p:nvSpPr>
          <p:cNvPr id="19" name="TextBox 18"/>
          <p:cNvSpPr txBox="1"/>
          <p:nvPr/>
        </p:nvSpPr>
        <p:spPr>
          <a:xfrm>
            <a:off x="3200400" y="4050791"/>
            <a:ext cx="64008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8 fam.</a:t>
            </a:r>
          </a:p>
        </p:txBody>
      </p:sp>
      <p:sp>
        <p:nvSpPr>
          <p:cNvPr id="20" name="TextBox 19"/>
          <p:cNvSpPr txBox="1"/>
          <p:nvPr/>
        </p:nvSpPr>
        <p:spPr>
          <a:xfrm>
            <a:off x="4023359" y="4041647"/>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HashMap   HashSet   .keySet(   .entrySet(   ArrayList</a:t>
            </a:r>
          </a:p>
        </p:txBody>
      </p:sp>
      <p:sp>
        <p:nvSpPr>
          <p:cNvPr id="21" name="TextBox 20"/>
          <p:cNvSpPr txBox="1"/>
          <p:nvPr/>
        </p:nvSpPr>
        <p:spPr>
          <a:xfrm>
            <a:off x="4023359" y="4315967"/>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listStatus   getDirectoryContents   .get(0)   toArray</a:t>
            </a:r>
          </a:p>
        </p:txBody>
      </p:sp>
      <p:sp>
        <p:nvSpPr>
          <p:cNvPr id="22" name="TextBox 21"/>
          <p:cNvSpPr txBox="1"/>
          <p:nvPr/>
        </p:nvSpPr>
        <p:spPr>
          <a:xfrm>
            <a:off x="777240" y="4599431"/>
            <a:ext cx="2651760" cy="274320"/>
          </a:xfrm>
          <a:prstGeom prst="rect">
            <a:avLst/>
          </a:prstGeom>
          <a:noFill/>
        </p:spPr>
        <p:txBody>
          <a:bodyPr wrap="square" lIns="0" rIns="0" tIns="0" bIns="0" anchor="t">
            <a:spAutoFit/>
          </a:bodyPr>
          <a:lstStyle/>
          <a:p>
            <a:pPr>
              <a:spcBef>
                <a:spcPts val="0"/>
              </a:spcBef>
              <a:spcAft>
                <a:spcPts val="0"/>
              </a:spcAft>
            </a:pPr>
            <a:r>
              <a:rPr sz="1350" b="1" i="0">
                <a:solidFill>
                  <a:srgbClr val="151A21"/>
                </a:solidFill>
                <a:latin typeface="Calibri"/>
              </a:rPr>
              <a:t>test order dependency</a:t>
            </a:r>
          </a:p>
        </p:txBody>
      </p:sp>
      <p:sp>
        <p:nvSpPr>
          <p:cNvPr id="23" name="TextBox 22"/>
          <p:cNvSpPr txBox="1"/>
          <p:nvPr/>
        </p:nvSpPr>
        <p:spPr>
          <a:xfrm>
            <a:off x="3200400" y="4617719"/>
            <a:ext cx="640080" cy="274320"/>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8 fam.</a:t>
            </a:r>
          </a:p>
        </p:txBody>
      </p:sp>
      <p:sp>
        <p:nvSpPr>
          <p:cNvPr id="24" name="TextBox 23"/>
          <p:cNvSpPr txBox="1"/>
          <p:nvPr/>
        </p:nvSpPr>
        <p:spPr>
          <a:xfrm>
            <a:off x="4023359" y="4608575"/>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static &lt;field&gt;   @BeforeClass   @AfterClass</a:t>
            </a:r>
          </a:p>
        </p:txBody>
      </p:sp>
      <p:sp>
        <p:nvSpPr>
          <p:cNvPr id="25" name="TextBox 24"/>
          <p:cNvSpPr txBox="1"/>
          <p:nvPr/>
        </p:nvSpPr>
        <p:spPr>
          <a:xfrm>
            <a:off x="4023359" y="4882895"/>
            <a:ext cx="731520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onsolas"/>
              </a:rPr>
              <a:t>System.setProperty   getInstance(   Mini[A-Z]*   mkdirs(</a:t>
            </a:r>
          </a:p>
        </p:txBody>
      </p:sp>
      <p:sp>
        <p:nvSpPr>
          <p:cNvPr id="26" name="TextBox 25"/>
          <p:cNvSpPr txBox="1"/>
          <p:nvPr/>
        </p:nvSpPr>
        <p:spPr>
          <a:xfrm>
            <a:off x="777240" y="5394960"/>
            <a:ext cx="512064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Signal preparation</a:t>
            </a:r>
          </a:p>
        </p:txBody>
      </p:sp>
      <p:sp>
        <p:nvSpPr>
          <p:cNvPr id="27" name="TextBox 26"/>
          <p:cNvSpPr txBox="1"/>
          <p:nvPr/>
        </p:nvSpPr>
        <p:spPr>
          <a:xfrm>
            <a:off x="777240" y="5687568"/>
            <a:ext cx="5120640" cy="73152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For one slice, each of the 5 categories contributes one number: how many of its families fire at least once. Presence, not occurrences, so a long slice is not rewarded for length.</a:t>
            </a:r>
          </a:p>
        </p:txBody>
      </p:sp>
      <p:sp>
        <p:nvSpPr>
          <p:cNvPr id="28" name="Rectangle 27"/>
          <p:cNvSpPr/>
          <p:nvPr/>
        </p:nvSpPr>
        <p:spPr>
          <a:xfrm>
            <a:off x="6309359" y="5394960"/>
            <a:ext cx="5852160" cy="952439"/>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55664" y="5541264"/>
            <a:ext cx="5559552" cy="659831"/>
          </a:xfrm>
          <a:prstGeom prst="rect">
            <a:avLst/>
          </a:prstGeom>
          <a:noFill/>
        </p:spPr>
        <p:txBody>
          <a:bodyPr wrap="square" lIns="0" rIns="0" tIns="0" bIns="0" anchor="t">
            <a:spAutoFit/>
          </a:bodyPr>
          <a:lstStyle/>
          <a:p>
            <a:pPr>
              <a:lnSpc>
                <a:spcPct val="128000"/>
              </a:lnSpc>
              <a:spcBef>
                <a:spcPts val="0"/>
              </a:spcBef>
              <a:spcAft>
                <a:spcPts val="0"/>
              </a:spcAft>
            </a:pPr>
            <a:r>
              <a:rPr sz="1100" b="0" i="0">
                <a:solidFill>
                  <a:srgbClr val="3D4653"/>
                </a:solidFill>
                <a:latin typeface="Consolas"/>
              </a:rPr>
              <a:t>body     -&gt; [async 0, conc 0, time 0, uc 1, od 0]</a:t>
            </a:r>
          </a:p>
          <a:p>
            <a:pPr>
              <a:lnSpc>
                <a:spcPct val="128000"/>
              </a:lnSpc>
              <a:spcBef>
                <a:spcPts val="0"/>
              </a:spcBef>
              <a:spcAft>
                <a:spcPts val="0"/>
              </a:spcAft>
            </a:pPr>
            <a:r>
              <a:rPr sz="1100" b="0" i="0">
                <a:solidFill>
                  <a:srgbClr val="3D4653"/>
                </a:solidFill>
                <a:latin typeface="Consolas"/>
              </a:rPr>
              <a:t>fields   -&gt; [        0,      0,      0,    0,   1]</a:t>
            </a:r>
          </a:p>
          <a:p>
            <a:pPr>
              <a:lnSpc>
                <a:spcPct val="128000"/>
              </a:lnSpc>
              <a:spcBef>
                <a:spcPts val="0"/>
              </a:spcBef>
              <a:spcAft>
                <a:spcPts val="0"/>
              </a:spcAft>
            </a:pPr>
            <a:r>
              <a:rPr sz="1100" b="1" i="0">
                <a:solidFill>
                  <a:srgbClr val="A8452B"/>
                </a:solidFill>
                <a:latin typeface="Consolas"/>
              </a:rPr>
              <a:t>fixtures -&gt; [        0,      0,      0,    0,   3]</a:t>
            </a:r>
          </a:p>
        </p:txBody>
      </p:sp>
      <p:sp>
        <p:nvSpPr>
          <p:cNvPr id="30" name="TextBox 29"/>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MEASUREMENT, PART 2</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Two ways of using those signals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64208"/>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The same numbers are read twice, once by a rule that fits nothing and once by a trained model. They agree on the ordering, which is the point of running both.</a:t>
            </a:r>
          </a:p>
        </p:txBody>
      </p:sp>
      <p:sp>
        <p:nvSpPr>
          <p:cNvPr id="6" name="TextBox 5"/>
          <p:cNvSpPr txBox="1"/>
          <p:nvPr/>
        </p:nvSpPr>
        <p:spPr>
          <a:xfrm>
            <a:off x="777240" y="2212848"/>
            <a:ext cx="5120640" cy="274320"/>
          </a:xfrm>
          <a:prstGeom prst="rect">
            <a:avLst/>
          </a:prstGeom>
          <a:noFill/>
        </p:spPr>
        <p:txBody>
          <a:bodyPr wrap="square" lIns="0" rIns="0" tIns="0" bIns="0" anchor="t">
            <a:spAutoFit/>
          </a:bodyPr>
          <a:lstStyle/>
          <a:p>
            <a:pPr>
              <a:spcBef>
                <a:spcPts val="0"/>
              </a:spcBef>
              <a:spcAft>
                <a:spcPts val="0"/>
              </a:spcAft>
            </a:pPr>
            <a:r>
              <a:rPr sz="1500" b="1" i="0">
                <a:solidFill>
                  <a:srgbClr val="151A21"/>
                </a:solidFill>
                <a:latin typeface="Calibri"/>
              </a:rPr>
              <a:t>1.  Argmax  —  nothing is fitted</a:t>
            </a:r>
          </a:p>
        </p:txBody>
      </p:sp>
      <p:sp>
        <p:nvSpPr>
          <p:cNvPr id="7" name="Rectangle 6"/>
          <p:cNvSpPr/>
          <p:nvPr/>
        </p:nvSpPr>
        <p:spPr>
          <a:xfrm>
            <a:off x="777240" y="2523744"/>
            <a:ext cx="5120640" cy="1442313"/>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3544" y="2670048"/>
            <a:ext cx="4828031" cy="1149705"/>
          </a:xfrm>
          <a:prstGeom prst="rect">
            <a:avLst/>
          </a:prstGeom>
          <a:noFill/>
        </p:spPr>
        <p:txBody>
          <a:bodyPr wrap="square" lIns="0" rIns="0" tIns="0" bIns="0" anchor="t">
            <a:spAutoFit/>
          </a:bodyPr>
          <a:lstStyle/>
          <a:p>
            <a:pPr>
              <a:lnSpc>
                <a:spcPct val="128000"/>
              </a:lnSpc>
              <a:spcBef>
                <a:spcPts val="0"/>
              </a:spcBef>
              <a:spcAft>
                <a:spcPts val="0"/>
              </a:spcAft>
            </a:pPr>
            <a:r>
              <a:rPr sz="1150" b="0" i="1">
                <a:solidFill>
                  <a:srgbClr val="6B7684"/>
                </a:solidFill>
                <a:latin typeface="Consolas"/>
              </a:rPr>
              <a:t>score = sum of family counts</a:t>
            </a:r>
          </a:p>
          <a:p>
            <a:pPr>
              <a:lnSpc>
                <a:spcPct val="128000"/>
              </a:lnSpc>
              <a:spcBef>
                <a:spcPts val="0"/>
              </a:spcBef>
              <a:spcAft>
                <a:spcPts val="0"/>
              </a:spcAft>
            </a:pPr>
            <a:r>
              <a:rPr sz="1150" b="0" i="1">
                <a:solidFill>
                  <a:srgbClr val="6B7684"/>
                </a:solidFill>
                <a:latin typeface="Consolas"/>
              </a:rPr>
              <a:t>        across the chosen slices</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0">
                <a:solidFill>
                  <a:srgbClr val="3D4653"/>
                </a:solidFill>
                <a:latin typeface="Consolas"/>
              </a:rPr>
              <a:t>async=0  conc=0  time=0  uc=1  od=4</a:t>
            </a:r>
          </a:p>
          <a:p>
            <a:pPr>
              <a:lnSpc>
                <a:spcPct val="128000"/>
              </a:lnSpc>
              <a:spcBef>
                <a:spcPts val="0"/>
              </a:spcBef>
              <a:spcAft>
                <a:spcPts val="0"/>
              </a:spcAft>
            </a:pPr>
            <a:r>
              <a:rPr sz="1150" b="1" i="0">
                <a:solidFill>
                  <a:srgbClr val="A8452B"/>
                </a:solidFill>
                <a:latin typeface="Consolas"/>
              </a:rPr>
              <a:t>                            -&gt; od</a:t>
            </a:r>
          </a:p>
        </p:txBody>
      </p:sp>
      <p:sp>
        <p:nvSpPr>
          <p:cNvPr id="9" name="TextBox 8"/>
          <p:cNvSpPr txBox="1"/>
          <p:nvPr/>
        </p:nvSpPr>
        <p:spPr>
          <a:xfrm>
            <a:off x="777240" y="4069080"/>
            <a:ext cx="5120640" cy="1371600"/>
          </a:xfrm>
          <a:prstGeom prst="rect">
            <a:avLst/>
          </a:prstGeom>
          <a:noFill/>
        </p:spPr>
        <p:txBody>
          <a:bodyPr wrap="square" lIns="0" rIns="0" tIns="0" bIns="0" anchor="t">
            <a:spAutoFit/>
          </a:bodyPr>
          <a:lstStyle/>
          <a:p>
            <a:pPr>
              <a:lnSpc>
                <a:spcPct val="126000"/>
              </a:lnSpc>
              <a:spcBef>
                <a:spcPts val="0"/>
              </a:spcBef>
              <a:spcAft>
                <a:spcPts val="0"/>
              </a:spcAft>
            </a:pPr>
            <a:r>
              <a:rPr sz="1300" b="0" i="0">
                <a:solidFill>
                  <a:srgbClr val="3D4653"/>
                </a:solidFill>
                <a:latin typeface="Calibri"/>
              </a:rPr>
              <a:t>No training, no folds, no held-out set, so it cannot overfit and the number of features is irrelevant to it. Ties are broken at random and averaged over 2,000 draws. This is the conservative reading: if the argmax improves, the signal is in the code rather than in the fitting.</a:t>
            </a:r>
          </a:p>
        </p:txBody>
      </p:sp>
      <p:sp>
        <p:nvSpPr>
          <p:cNvPr id="10" name="TextBox 9"/>
          <p:cNvSpPr txBox="1"/>
          <p:nvPr/>
        </p:nvSpPr>
        <p:spPr>
          <a:xfrm>
            <a:off x="6309359" y="2212848"/>
            <a:ext cx="5852160" cy="274320"/>
          </a:xfrm>
          <a:prstGeom prst="rect">
            <a:avLst/>
          </a:prstGeom>
          <a:noFill/>
        </p:spPr>
        <p:txBody>
          <a:bodyPr wrap="square" lIns="0" rIns="0" tIns="0" bIns="0" anchor="t">
            <a:spAutoFit/>
          </a:bodyPr>
          <a:lstStyle/>
          <a:p>
            <a:pPr>
              <a:spcBef>
                <a:spcPts val="0"/>
              </a:spcBef>
              <a:spcAft>
                <a:spcPts val="0"/>
              </a:spcAft>
            </a:pPr>
            <a:r>
              <a:rPr sz="1500" b="1" i="0">
                <a:solidFill>
                  <a:srgbClr val="151A21"/>
                </a:solidFill>
                <a:latin typeface="Calibri"/>
              </a:rPr>
              <a:t>2.  Trained  —  logistic regression</a:t>
            </a:r>
          </a:p>
        </p:txBody>
      </p:sp>
      <p:sp>
        <p:nvSpPr>
          <p:cNvPr id="11" name="Rectangle 10"/>
          <p:cNvSpPr/>
          <p:nvPr/>
        </p:nvSpPr>
        <p:spPr>
          <a:xfrm>
            <a:off x="6309359" y="2523744"/>
            <a:ext cx="5852160" cy="1672254"/>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2670048"/>
            <a:ext cx="5559552" cy="1379646"/>
          </a:xfrm>
          <a:prstGeom prst="rect">
            <a:avLst/>
          </a:prstGeom>
          <a:noFill/>
        </p:spPr>
        <p:txBody>
          <a:bodyPr wrap="square" lIns="0" rIns="0" tIns="0" bIns="0" anchor="t">
            <a:spAutoFit/>
          </a:bodyPr>
          <a:lstStyle/>
          <a:p>
            <a:pPr>
              <a:lnSpc>
                <a:spcPct val="128000"/>
              </a:lnSpc>
              <a:spcBef>
                <a:spcPts val="0"/>
              </a:spcBef>
              <a:spcAft>
                <a:spcPts val="0"/>
              </a:spcAft>
            </a:pPr>
            <a:r>
              <a:rPr sz="1150" b="0" i="1">
                <a:solidFill>
                  <a:srgbClr val="6B7684"/>
                </a:solidFill>
                <a:latin typeface="Consolas"/>
              </a:rPr>
              <a:t># each slice stays its own group of 5</a:t>
            </a:r>
          </a:p>
          <a:p>
            <a:pPr>
              <a:lnSpc>
                <a:spcPct val="128000"/>
              </a:lnSpc>
              <a:spcBef>
                <a:spcPts val="0"/>
              </a:spcBef>
              <a:spcAft>
                <a:spcPts val="0"/>
              </a:spcAft>
            </a:pPr>
            <a:r>
              <a:rPr sz="1150" b="0" i="0">
                <a:solidFill>
                  <a:srgbClr val="3D4653"/>
                </a:solidFill>
                <a:latin typeface="Consolas"/>
              </a:rPr>
              <a:t>X = [body_5 | fields_5 | fixtures_5]</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0">
                <a:solidFill>
                  <a:srgbClr val="3D4653"/>
                </a:solidFill>
                <a:latin typeface="Consolas"/>
              </a:rPr>
              <a:t>make_pipeline(StandardScaler(),</a:t>
            </a:r>
          </a:p>
          <a:p>
            <a:pPr>
              <a:lnSpc>
                <a:spcPct val="128000"/>
              </a:lnSpc>
              <a:spcBef>
                <a:spcPts val="0"/>
              </a:spcBef>
              <a:spcAft>
                <a:spcPts val="0"/>
              </a:spcAft>
            </a:pPr>
            <a:r>
              <a:rPr sz="1150" b="1" i="0">
                <a:solidFill>
                  <a:srgbClr val="A8452B"/>
                </a:solidFill>
                <a:latin typeface="Consolas"/>
              </a:rPr>
              <a:t>  LogisticRegression(C=1.0,</a:t>
            </a:r>
          </a:p>
          <a:p>
            <a:pPr>
              <a:lnSpc>
                <a:spcPct val="128000"/>
              </a:lnSpc>
              <a:spcBef>
                <a:spcPts val="0"/>
              </a:spcBef>
              <a:spcAft>
                <a:spcPts val="0"/>
              </a:spcAft>
            </a:pPr>
            <a:r>
              <a:rPr sz="1150" b="1" i="0">
                <a:solidFill>
                  <a:srgbClr val="A8452B"/>
                </a:solidFill>
                <a:latin typeface="Consolas"/>
              </a:rPr>
              <a:t>      class_weight='balanced'))</a:t>
            </a:r>
          </a:p>
        </p:txBody>
      </p:sp>
      <p:sp>
        <p:nvSpPr>
          <p:cNvPr id="13" name="TextBox 12"/>
          <p:cNvSpPr txBox="1"/>
          <p:nvPr/>
        </p:nvSpPr>
        <p:spPr>
          <a:xfrm>
            <a:off x="6309359" y="4297680"/>
            <a:ext cx="5852160" cy="1188720"/>
          </a:xfrm>
          <a:prstGeom prst="rect">
            <a:avLst/>
          </a:prstGeom>
          <a:noFill/>
        </p:spPr>
        <p:txBody>
          <a:bodyPr wrap="square" lIns="0" rIns="0" tIns="0" bIns="0" anchor="t">
            <a:spAutoFit/>
          </a:bodyPr>
          <a:lstStyle/>
          <a:p>
            <a:pPr>
              <a:lnSpc>
                <a:spcPct val="126000"/>
              </a:lnSpc>
              <a:spcBef>
                <a:spcPts val="0"/>
              </a:spcBef>
              <a:spcAft>
                <a:spcPts val="0"/>
              </a:spcAft>
            </a:pPr>
            <a:r>
              <a:rPr sz="1300" b="0" i="0">
                <a:solidFill>
                  <a:srgbClr val="3D4653"/>
                </a:solidFill>
                <a:latin typeface="Calibri"/>
              </a:rPr>
              <a:t>The model can learn that a fixture signal outweighs a body signal, which the argmax cannot. Class-balanced because order dependency is 46 of 80. Scaler inside the pipeline so it refits per fold and cannot leak.</a:t>
            </a:r>
          </a:p>
        </p:txBody>
      </p:sp>
      <p:sp>
        <p:nvSpPr>
          <p:cNvPr id="14" name="Rectangle 13"/>
          <p:cNvSpPr/>
          <p:nvPr/>
        </p:nvSpPr>
        <p:spPr>
          <a:xfrm>
            <a:off x="777240" y="5669280"/>
            <a:ext cx="10637215" cy="731520"/>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833872"/>
            <a:ext cx="10058400" cy="548640"/>
          </a:xfrm>
          <a:prstGeom prst="rect">
            <a:avLst/>
          </a:prstGeom>
          <a:noFill/>
        </p:spPr>
        <p:txBody>
          <a:bodyPr wrap="square" lIns="0" rIns="0" tIns="0" bIns="0" anchor="t">
            <a:spAutoFit/>
          </a:bodyPr>
          <a:lstStyle/>
          <a:p>
            <a:pPr>
              <a:lnSpc>
                <a:spcPct val="126000"/>
              </a:lnSpc>
              <a:spcBef>
                <a:spcPts val="0"/>
              </a:spcBef>
              <a:spcAft>
                <a:spcPts val="0"/>
              </a:spcAft>
            </a:pPr>
            <a:r>
              <a:rPr sz="1300" b="0" i="0">
                <a:solidFill>
                  <a:srgbClr val="3D4653"/>
                </a:solidFill>
                <a:latin typeface="Calibri"/>
              </a:rPr>
              <a:t>Protocol: StratifiedShuffleSplit, 50 train / 30 test, 40 splits. k-fold would cap at 40/40 because unordered collections has 2 examples; 50/30 is the largest training set that still keeps all five classes in the test half. Mean macro-F1, scipy BCa bootstrap, 300-shuffle permutation null.</a:t>
            </a:r>
          </a:p>
        </p:txBody>
      </p:sp>
      <p:sp>
        <p:nvSpPr>
          <p:cNvPr id="16" name="TextBox 15"/>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RESULT</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Every slice measured on its own</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64208"/>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80 flaky tests, lexicon v2.0. Argmax fits nothing. Trained is logistic regression, 50 train / 30 test, 40 splits.</a:t>
            </a:r>
          </a:p>
        </p:txBody>
      </p:sp>
      <p:sp>
        <p:nvSpPr>
          <p:cNvPr id="6" name="Rectangle 5"/>
          <p:cNvSpPr/>
          <p:nvPr/>
        </p:nvSpPr>
        <p:spPr>
          <a:xfrm>
            <a:off x="777240" y="2084831"/>
            <a:ext cx="10607040" cy="347472"/>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57984"/>
            <a:ext cx="3209544" cy="237744"/>
          </a:xfrm>
          <a:prstGeom prst="rect">
            <a:avLst/>
          </a:prstGeom>
          <a:noFill/>
        </p:spPr>
        <p:txBody>
          <a:bodyPr wrap="square" lIns="0" rIns="0" tIns="0" bIns="0" anchor="t">
            <a:spAutoFit/>
          </a:bodyPr>
          <a:lstStyle/>
          <a:p>
            <a:pPr algn="l">
              <a:spcBef>
                <a:spcPts val="0"/>
              </a:spcBef>
              <a:spcAft>
                <a:spcPts val="0"/>
              </a:spcAft>
            </a:pPr>
            <a:r>
              <a:rPr sz="1000" b="1" i="0">
                <a:solidFill>
                  <a:srgbClr val="6B7684"/>
                </a:solidFill>
                <a:latin typeface="Consolas"/>
              </a:rPr>
              <a:t>SLICE FED TO THE CLASSIFIER</a:t>
            </a:r>
          </a:p>
        </p:txBody>
      </p:sp>
      <p:sp>
        <p:nvSpPr>
          <p:cNvPr id="8" name="TextBox 7"/>
          <p:cNvSpPr txBox="1"/>
          <p:nvPr/>
        </p:nvSpPr>
        <p:spPr>
          <a:xfrm>
            <a:off x="4315968" y="2157984"/>
            <a:ext cx="923544" cy="237744"/>
          </a:xfrm>
          <a:prstGeom prst="rect">
            <a:avLst/>
          </a:prstGeom>
          <a:noFill/>
        </p:spPr>
        <p:txBody>
          <a:bodyPr wrap="square" lIns="0" rIns="0" tIns="0" bIns="0" anchor="t">
            <a:spAutoFit/>
          </a:bodyPr>
          <a:lstStyle/>
          <a:p>
            <a:pPr algn="r">
              <a:spcBef>
                <a:spcPts val="0"/>
              </a:spcBef>
              <a:spcAft>
                <a:spcPts val="0"/>
              </a:spcAft>
            </a:pPr>
            <a:r>
              <a:rPr sz="1000" b="1" i="0">
                <a:solidFill>
                  <a:srgbClr val="6B7684"/>
                </a:solidFill>
                <a:latin typeface="Consolas"/>
              </a:rPr>
              <a:t>FEATURES</a:t>
            </a:r>
          </a:p>
        </p:txBody>
      </p:sp>
      <p:sp>
        <p:nvSpPr>
          <p:cNvPr id="9" name="TextBox 8"/>
          <p:cNvSpPr txBox="1"/>
          <p:nvPr/>
        </p:nvSpPr>
        <p:spPr>
          <a:xfrm>
            <a:off x="5458968" y="2157984"/>
            <a:ext cx="1289304" cy="237744"/>
          </a:xfrm>
          <a:prstGeom prst="rect">
            <a:avLst/>
          </a:prstGeom>
          <a:noFill/>
        </p:spPr>
        <p:txBody>
          <a:bodyPr wrap="square" lIns="0" rIns="0" tIns="0" bIns="0" anchor="t">
            <a:spAutoFit/>
          </a:bodyPr>
          <a:lstStyle/>
          <a:p>
            <a:pPr algn="r">
              <a:spcBef>
                <a:spcPts val="0"/>
              </a:spcBef>
              <a:spcAft>
                <a:spcPts val="0"/>
              </a:spcAft>
            </a:pPr>
            <a:r>
              <a:rPr sz="1000" b="1" i="0">
                <a:solidFill>
                  <a:srgbClr val="6B7684"/>
                </a:solidFill>
                <a:latin typeface="Consolas"/>
              </a:rPr>
              <a:t>ARGMAX ACC.</a:t>
            </a:r>
          </a:p>
        </p:txBody>
      </p:sp>
      <p:sp>
        <p:nvSpPr>
          <p:cNvPr id="10" name="TextBox 9"/>
          <p:cNvSpPr txBox="1"/>
          <p:nvPr/>
        </p:nvSpPr>
        <p:spPr>
          <a:xfrm>
            <a:off x="6967728" y="2157984"/>
            <a:ext cx="1563624" cy="237744"/>
          </a:xfrm>
          <a:prstGeom prst="rect">
            <a:avLst/>
          </a:prstGeom>
          <a:noFill/>
        </p:spPr>
        <p:txBody>
          <a:bodyPr wrap="square" lIns="0" rIns="0" tIns="0" bIns="0" anchor="t">
            <a:spAutoFit/>
          </a:bodyPr>
          <a:lstStyle/>
          <a:p>
            <a:pPr algn="r">
              <a:spcBef>
                <a:spcPts val="0"/>
              </a:spcBef>
              <a:spcAft>
                <a:spcPts val="0"/>
              </a:spcAft>
            </a:pPr>
            <a:r>
              <a:rPr sz="1000" b="1" i="0">
                <a:solidFill>
                  <a:srgbClr val="6B7684"/>
                </a:solidFill>
                <a:latin typeface="Consolas"/>
              </a:rPr>
              <a:t>TRAINED MACRO-F1</a:t>
            </a:r>
          </a:p>
        </p:txBody>
      </p:sp>
      <p:sp>
        <p:nvSpPr>
          <p:cNvPr id="11" name="TextBox 10"/>
          <p:cNvSpPr txBox="1"/>
          <p:nvPr/>
        </p:nvSpPr>
        <p:spPr>
          <a:xfrm>
            <a:off x="8750807" y="2157984"/>
            <a:ext cx="2523744" cy="237744"/>
          </a:xfrm>
          <a:prstGeom prst="rect">
            <a:avLst/>
          </a:prstGeom>
          <a:noFill/>
        </p:spPr>
        <p:txBody>
          <a:bodyPr wrap="square" lIns="0" rIns="0" tIns="0" bIns="0" anchor="t">
            <a:spAutoFit/>
          </a:bodyPr>
          <a:lstStyle/>
          <a:p>
            <a:pPr algn="r">
              <a:spcBef>
                <a:spcPts val="0"/>
              </a:spcBef>
              <a:spcAft>
                <a:spcPts val="0"/>
              </a:spcAft>
            </a:pPr>
            <a:r>
              <a:rPr sz="1000" b="1" i="0">
                <a:solidFill>
                  <a:srgbClr val="6B7684"/>
                </a:solidFill>
                <a:latin typeface="Consolas"/>
              </a:rPr>
              <a:t>DELTA VS BODY ONLY</a:t>
            </a:r>
          </a:p>
        </p:txBody>
      </p:sp>
      <p:sp>
        <p:nvSpPr>
          <p:cNvPr id="12" name="TextBox 11"/>
          <p:cNvSpPr txBox="1"/>
          <p:nvPr/>
        </p:nvSpPr>
        <p:spPr>
          <a:xfrm>
            <a:off x="886968" y="2505456"/>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only</a:t>
            </a:r>
          </a:p>
        </p:txBody>
      </p:sp>
      <p:sp>
        <p:nvSpPr>
          <p:cNvPr id="13" name="TextBox 12"/>
          <p:cNvSpPr txBox="1"/>
          <p:nvPr/>
        </p:nvSpPr>
        <p:spPr>
          <a:xfrm>
            <a:off x="4315968" y="2505456"/>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5</a:t>
            </a:r>
          </a:p>
        </p:txBody>
      </p:sp>
      <p:sp>
        <p:nvSpPr>
          <p:cNvPr id="14" name="TextBox 13"/>
          <p:cNvSpPr txBox="1"/>
          <p:nvPr/>
        </p:nvSpPr>
        <p:spPr>
          <a:xfrm>
            <a:off x="5458968" y="2505456"/>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22.5%</a:t>
            </a:r>
          </a:p>
        </p:txBody>
      </p:sp>
      <p:sp>
        <p:nvSpPr>
          <p:cNvPr id="15" name="TextBox 14"/>
          <p:cNvSpPr txBox="1"/>
          <p:nvPr/>
        </p:nvSpPr>
        <p:spPr>
          <a:xfrm>
            <a:off x="6967728" y="2505456"/>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0.253</a:t>
            </a:r>
          </a:p>
        </p:txBody>
      </p:sp>
      <p:sp>
        <p:nvSpPr>
          <p:cNvPr id="16" name="TextBox 15"/>
          <p:cNvSpPr txBox="1"/>
          <p:nvPr/>
        </p:nvSpPr>
        <p:spPr>
          <a:xfrm>
            <a:off x="8750807" y="2505456"/>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a:t>
            </a:r>
          </a:p>
        </p:txBody>
      </p:sp>
      <p:sp>
        <p:nvSpPr>
          <p:cNvPr id="17" name="Rectangle 16"/>
          <p:cNvSpPr/>
          <p:nvPr/>
        </p:nvSpPr>
        <p:spPr>
          <a:xfrm>
            <a:off x="777240" y="2770632"/>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852927"/>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 fields</a:t>
            </a:r>
          </a:p>
        </p:txBody>
      </p:sp>
      <p:sp>
        <p:nvSpPr>
          <p:cNvPr id="19" name="TextBox 18"/>
          <p:cNvSpPr txBox="1"/>
          <p:nvPr/>
        </p:nvSpPr>
        <p:spPr>
          <a:xfrm>
            <a:off x="4315968" y="2852927"/>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10</a:t>
            </a:r>
          </a:p>
        </p:txBody>
      </p:sp>
      <p:sp>
        <p:nvSpPr>
          <p:cNvPr id="20" name="TextBox 19"/>
          <p:cNvSpPr txBox="1"/>
          <p:nvPr/>
        </p:nvSpPr>
        <p:spPr>
          <a:xfrm>
            <a:off x="5458968" y="2852927"/>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36.2%</a:t>
            </a:r>
          </a:p>
        </p:txBody>
      </p:sp>
      <p:sp>
        <p:nvSpPr>
          <p:cNvPr id="21" name="TextBox 20"/>
          <p:cNvSpPr txBox="1"/>
          <p:nvPr/>
        </p:nvSpPr>
        <p:spPr>
          <a:xfrm>
            <a:off x="6967728" y="2852927"/>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0.358</a:t>
            </a:r>
          </a:p>
        </p:txBody>
      </p:sp>
      <p:sp>
        <p:nvSpPr>
          <p:cNvPr id="22" name="TextBox 21"/>
          <p:cNvSpPr txBox="1"/>
          <p:nvPr/>
        </p:nvSpPr>
        <p:spPr>
          <a:xfrm>
            <a:off x="8750807" y="2852927"/>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+0.106  [+0.080, +0.133]</a:t>
            </a:r>
          </a:p>
        </p:txBody>
      </p:sp>
      <p:sp>
        <p:nvSpPr>
          <p:cNvPr id="23" name="Rectangle 22"/>
          <p:cNvSpPr/>
          <p:nvPr/>
        </p:nvSpPr>
        <p:spPr>
          <a:xfrm>
            <a:off x="777240" y="3118103"/>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3200399"/>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 fixtures</a:t>
            </a:r>
          </a:p>
        </p:txBody>
      </p:sp>
      <p:sp>
        <p:nvSpPr>
          <p:cNvPr id="25" name="TextBox 24"/>
          <p:cNvSpPr txBox="1"/>
          <p:nvPr/>
        </p:nvSpPr>
        <p:spPr>
          <a:xfrm>
            <a:off x="4315968" y="3200399"/>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10</a:t>
            </a:r>
          </a:p>
        </p:txBody>
      </p:sp>
      <p:sp>
        <p:nvSpPr>
          <p:cNvPr id="26" name="TextBox 25"/>
          <p:cNvSpPr txBox="1"/>
          <p:nvPr/>
        </p:nvSpPr>
        <p:spPr>
          <a:xfrm>
            <a:off x="5458968" y="3200399"/>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52.5%</a:t>
            </a:r>
          </a:p>
        </p:txBody>
      </p:sp>
      <p:sp>
        <p:nvSpPr>
          <p:cNvPr id="27" name="TextBox 26"/>
          <p:cNvSpPr txBox="1"/>
          <p:nvPr/>
        </p:nvSpPr>
        <p:spPr>
          <a:xfrm>
            <a:off x="6967728" y="3200399"/>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0.397</a:t>
            </a:r>
          </a:p>
        </p:txBody>
      </p:sp>
      <p:sp>
        <p:nvSpPr>
          <p:cNvPr id="28" name="TextBox 27"/>
          <p:cNvSpPr txBox="1"/>
          <p:nvPr/>
        </p:nvSpPr>
        <p:spPr>
          <a:xfrm>
            <a:off x="8750807" y="3200399"/>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+0.145  [+0.117, +0.171]</a:t>
            </a:r>
          </a:p>
        </p:txBody>
      </p:sp>
      <p:sp>
        <p:nvSpPr>
          <p:cNvPr id="29" name="Rectangle 28"/>
          <p:cNvSpPr/>
          <p:nvPr/>
        </p:nvSpPr>
        <p:spPr>
          <a:xfrm>
            <a:off x="777240" y="3465575"/>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6968" y="3547871"/>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 siblings</a:t>
            </a:r>
          </a:p>
        </p:txBody>
      </p:sp>
      <p:sp>
        <p:nvSpPr>
          <p:cNvPr id="31" name="TextBox 30"/>
          <p:cNvSpPr txBox="1"/>
          <p:nvPr/>
        </p:nvSpPr>
        <p:spPr>
          <a:xfrm>
            <a:off x="4315968" y="3547871"/>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10</a:t>
            </a:r>
          </a:p>
        </p:txBody>
      </p:sp>
      <p:sp>
        <p:nvSpPr>
          <p:cNvPr id="32" name="TextBox 31"/>
          <p:cNvSpPr txBox="1"/>
          <p:nvPr/>
        </p:nvSpPr>
        <p:spPr>
          <a:xfrm>
            <a:off x="5458968" y="3547871"/>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26.2%</a:t>
            </a:r>
          </a:p>
        </p:txBody>
      </p:sp>
      <p:sp>
        <p:nvSpPr>
          <p:cNvPr id="33" name="TextBox 32"/>
          <p:cNvSpPr txBox="1"/>
          <p:nvPr/>
        </p:nvSpPr>
        <p:spPr>
          <a:xfrm>
            <a:off x="6967728" y="3547871"/>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0.338</a:t>
            </a:r>
          </a:p>
        </p:txBody>
      </p:sp>
      <p:sp>
        <p:nvSpPr>
          <p:cNvPr id="34" name="TextBox 33"/>
          <p:cNvSpPr txBox="1"/>
          <p:nvPr/>
        </p:nvSpPr>
        <p:spPr>
          <a:xfrm>
            <a:off x="8750807" y="3547871"/>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+0.085  [+0.060, +0.107]</a:t>
            </a:r>
          </a:p>
        </p:txBody>
      </p:sp>
      <p:sp>
        <p:nvSpPr>
          <p:cNvPr id="35" name="Rectangle 34"/>
          <p:cNvSpPr/>
          <p:nvPr/>
        </p:nvSpPr>
        <p:spPr>
          <a:xfrm>
            <a:off x="777240" y="381304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3895344"/>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 helpers</a:t>
            </a:r>
          </a:p>
        </p:txBody>
      </p:sp>
      <p:sp>
        <p:nvSpPr>
          <p:cNvPr id="37" name="TextBox 36"/>
          <p:cNvSpPr txBox="1"/>
          <p:nvPr/>
        </p:nvSpPr>
        <p:spPr>
          <a:xfrm>
            <a:off x="4315968" y="3895344"/>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10</a:t>
            </a:r>
          </a:p>
        </p:txBody>
      </p:sp>
      <p:sp>
        <p:nvSpPr>
          <p:cNvPr id="38" name="TextBox 37"/>
          <p:cNvSpPr txBox="1"/>
          <p:nvPr/>
        </p:nvSpPr>
        <p:spPr>
          <a:xfrm>
            <a:off x="5458968" y="3895344"/>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25.0%</a:t>
            </a:r>
          </a:p>
        </p:txBody>
      </p:sp>
      <p:sp>
        <p:nvSpPr>
          <p:cNvPr id="39" name="TextBox 38"/>
          <p:cNvSpPr txBox="1"/>
          <p:nvPr/>
        </p:nvSpPr>
        <p:spPr>
          <a:xfrm>
            <a:off x="6967728" y="3895344"/>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0.267</a:t>
            </a:r>
          </a:p>
        </p:txBody>
      </p:sp>
      <p:sp>
        <p:nvSpPr>
          <p:cNvPr id="40" name="TextBox 39"/>
          <p:cNvSpPr txBox="1"/>
          <p:nvPr/>
        </p:nvSpPr>
        <p:spPr>
          <a:xfrm>
            <a:off x="8750807" y="3895344"/>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+0.014  [-0.013, +0.037]</a:t>
            </a:r>
          </a:p>
        </p:txBody>
      </p:sp>
      <p:sp>
        <p:nvSpPr>
          <p:cNvPr id="41" name="Rectangle 40"/>
          <p:cNvSpPr/>
          <p:nvPr/>
        </p:nvSpPr>
        <p:spPr>
          <a:xfrm>
            <a:off x="777240" y="4160520"/>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968" y="4242816"/>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body + callees</a:t>
            </a:r>
          </a:p>
        </p:txBody>
      </p:sp>
      <p:sp>
        <p:nvSpPr>
          <p:cNvPr id="43" name="TextBox 42"/>
          <p:cNvSpPr txBox="1"/>
          <p:nvPr/>
        </p:nvSpPr>
        <p:spPr>
          <a:xfrm>
            <a:off x="4315968" y="4242816"/>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10</a:t>
            </a:r>
          </a:p>
        </p:txBody>
      </p:sp>
      <p:sp>
        <p:nvSpPr>
          <p:cNvPr id="44" name="TextBox 43"/>
          <p:cNvSpPr txBox="1"/>
          <p:nvPr/>
        </p:nvSpPr>
        <p:spPr>
          <a:xfrm>
            <a:off x="5458968" y="4242816"/>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11.2%</a:t>
            </a:r>
          </a:p>
        </p:txBody>
      </p:sp>
      <p:sp>
        <p:nvSpPr>
          <p:cNvPr id="45" name="TextBox 44"/>
          <p:cNvSpPr txBox="1"/>
          <p:nvPr/>
        </p:nvSpPr>
        <p:spPr>
          <a:xfrm>
            <a:off x="6967728" y="4242816"/>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0.273</a:t>
            </a:r>
          </a:p>
        </p:txBody>
      </p:sp>
      <p:sp>
        <p:nvSpPr>
          <p:cNvPr id="46" name="TextBox 45"/>
          <p:cNvSpPr txBox="1"/>
          <p:nvPr/>
        </p:nvSpPr>
        <p:spPr>
          <a:xfrm>
            <a:off x="8750807" y="4242816"/>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+0.020  [-0.001, +0.042]</a:t>
            </a:r>
          </a:p>
        </p:txBody>
      </p:sp>
      <p:sp>
        <p:nvSpPr>
          <p:cNvPr id="47" name="Rectangle 46"/>
          <p:cNvSpPr/>
          <p:nvPr/>
        </p:nvSpPr>
        <p:spPr>
          <a:xfrm>
            <a:off x="777240" y="4507992"/>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4535424"/>
            <a:ext cx="10607040" cy="329184"/>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6968" y="4590288"/>
            <a:ext cx="3209544" cy="256032"/>
          </a:xfrm>
          <a:prstGeom prst="rect">
            <a:avLst/>
          </a:prstGeom>
          <a:noFill/>
        </p:spPr>
        <p:txBody>
          <a:bodyPr wrap="square" lIns="0" rIns="0" tIns="0" bIns="0" anchor="t">
            <a:spAutoFit/>
          </a:bodyPr>
          <a:lstStyle/>
          <a:p>
            <a:pPr algn="l">
              <a:spcBef>
                <a:spcPts val="0"/>
              </a:spcBef>
              <a:spcAft>
                <a:spcPts val="0"/>
              </a:spcAft>
            </a:pPr>
            <a:r>
              <a:rPr sz="1250" b="1" i="0">
                <a:solidFill>
                  <a:srgbClr val="151A21"/>
                </a:solidFill>
                <a:latin typeface="Calibri"/>
              </a:rPr>
              <a:t>body + fields + fixtures</a:t>
            </a:r>
          </a:p>
        </p:txBody>
      </p:sp>
      <p:sp>
        <p:nvSpPr>
          <p:cNvPr id="50" name="TextBox 49"/>
          <p:cNvSpPr txBox="1"/>
          <p:nvPr/>
        </p:nvSpPr>
        <p:spPr>
          <a:xfrm>
            <a:off x="4315968" y="4590288"/>
            <a:ext cx="92354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15</a:t>
            </a:r>
          </a:p>
        </p:txBody>
      </p:sp>
      <p:sp>
        <p:nvSpPr>
          <p:cNvPr id="51" name="TextBox 50"/>
          <p:cNvSpPr txBox="1"/>
          <p:nvPr/>
        </p:nvSpPr>
        <p:spPr>
          <a:xfrm>
            <a:off x="5458968" y="4590288"/>
            <a:ext cx="128930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57.5%</a:t>
            </a:r>
          </a:p>
        </p:txBody>
      </p:sp>
      <p:sp>
        <p:nvSpPr>
          <p:cNvPr id="52" name="TextBox 51"/>
          <p:cNvSpPr txBox="1"/>
          <p:nvPr/>
        </p:nvSpPr>
        <p:spPr>
          <a:xfrm>
            <a:off x="6967728" y="4590288"/>
            <a:ext cx="156362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0.391</a:t>
            </a:r>
          </a:p>
        </p:txBody>
      </p:sp>
      <p:sp>
        <p:nvSpPr>
          <p:cNvPr id="53" name="TextBox 52"/>
          <p:cNvSpPr txBox="1"/>
          <p:nvPr/>
        </p:nvSpPr>
        <p:spPr>
          <a:xfrm>
            <a:off x="8750807" y="4590288"/>
            <a:ext cx="2523744" cy="256032"/>
          </a:xfrm>
          <a:prstGeom prst="rect">
            <a:avLst/>
          </a:prstGeom>
          <a:noFill/>
        </p:spPr>
        <p:txBody>
          <a:bodyPr wrap="square" lIns="0" rIns="0" tIns="0" bIns="0" anchor="t">
            <a:spAutoFit/>
          </a:bodyPr>
          <a:lstStyle/>
          <a:p>
            <a:pPr algn="r">
              <a:spcBef>
                <a:spcPts val="0"/>
              </a:spcBef>
              <a:spcAft>
                <a:spcPts val="0"/>
              </a:spcAft>
            </a:pPr>
            <a:r>
              <a:rPr sz="1250" b="1" i="0">
                <a:solidFill>
                  <a:srgbClr val="151A21"/>
                </a:solidFill>
                <a:latin typeface="Consolas"/>
              </a:rPr>
              <a:t>+0.138  [+0.109, +0.164]</a:t>
            </a:r>
          </a:p>
        </p:txBody>
      </p:sp>
      <p:sp>
        <p:nvSpPr>
          <p:cNvPr id="54" name="Rectangle 53"/>
          <p:cNvSpPr/>
          <p:nvPr/>
        </p:nvSpPr>
        <p:spPr>
          <a:xfrm>
            <a:off x="777240" y="4855464"/>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86968" y="4937759"/>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  + siblings as well</a:t>
            </a:r>
          </a:p>
        </p:txBody>
      </p:sp>
      <p:sp>
        <p:nvSpPr>
          <p:cNvPr id="56" name="TextBox 55"/>
          <p:cNvSpPr txBox="1"/>
          <p:nvPr/>
        </p:nvSpPr>
        <p:spPr>
          <a:xfrm>
            <a:off x="4315968" y="4937759"/>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20</a:t>
            </a:r>
          </a:p>
        </p:txBody>
      </p:sp>
      <p:sp>
        <p:nvSpPr>
          <p:cNvPr id="57" name="TextBox 56"/>
          <p:cNvSpPr txBox="1"/>
          <p:nvPr/>
        </p:nvSpPr>
        <p:spPr>
          <a:xfrm>
            <a:off x="5458968" y="4937759"/>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41.2%</a:t>
            </a:r>
          </a:p>
        </p:txBody>
      </p:sp>
      <p:sp>
        <p:nvSpPr>
          <p:cNvPr id="58" name="TextBox 57"/>
          <p:cNvSpPr txBox="1"/>
          <p:nvPr/>
        </p:nvSpPr>
        <p:spPr>
          <a:xfrm>
            <a:off x="6967728" y="4937759"/>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0.397</a:t>
            </a:r>
          </a:p>
        </p:txBody>
      </p:sp>
      <p:sp>
        <p:nvSpPr>
          <p:cNvPr id="59" name="TextBox 58"/>
          <p:cNvSpPr txBox="1"/>
          <p:nvPr/>
        </p:nvSpPr>
        <p:spPr>
          <a:xfrm>
            <a:off x="8750807" y="4937759"/>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+0.145  [+0.111, +0.177]</a:t>
            </a:r>
          </a:p>
        </p:txBody>
      </p:sp>
      <p:sp>
        <p:nvSpPr>
          <p:cNvPr id="60" name="Rectangle 59"/>
          <p:cNvSpPr/>
          <p:nvPr/>
        </p:nvSpPr>
        <p:spPr>
          <a:xfrm>
            <a:off x="777240" y="5202936"/>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6968" y="5285231"/>
            <a:ext cx="320954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all six slices, separate</a:t>
            </a:r>
          </a:p>
        </p:txBody>
      </p:sp>
      <p:sp>
        <p:nvSpPr>
          <p:cNvPr id="62" name="TextBox 61"/>
          <p:cNvSpPr txBox="1"/>
          <p:nvPr/>
        </p:nvSpPr>
        <p:spPr>
          <a:xfrm>
            <a:off x="4315968" y="5285231"/>
            <a:ext cx="9235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30</a:t>
            </a:r>
          </a:p>
        </p:txBody>
      </p:sp>
      <p:sp>
        <p:nvSpPr>
          <p:cNvPr id="63" name="TextBox 62"/>
          <p:cNvSpPr txBox="1"/>
          <p:nvPr/>
        </p:nvSpPr>
        <p:spPr>
          <a:xfrm>
            <a:off x="5458968" y="5285231"/>
            <a:ext cx="12893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37.5%</a:t>
            </a:r>
          </a:p>
        </p:txBody>
      </p:sp>
      <p:sp>
        <p:nvSpPr>
          <p:cNvPr id="64" name="TextBox 63"/>
          <p:cNvSpPr txBox="1"/>
          <p:nvPr/>
        </p:nvSpPr>
        <p:spPr>
          <a:xfrm>
            <a:off x="6967728" y="5285231"/>
            <a:ext cx="156362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0.347</a:t>
            </a:r>
          </a:p>
        </p:txBody>
      </p:sp>
      <p:sp>
        <p:nvSpPr>
          <p:cNvPr id="65" name="TextBox 64"/>
          <p:cNvSpPr txBox="1"/>
          <p:nvPr/>
        </p:nvSpPr>
        <p:spPr>
          <a:xfrm>
            <a:off x="8750807" y="5285231"/>
            <a:ext cx="252374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+0.095  [+0.065, +0.129]</a:t>
            </a:r>
          </a:p>
        </p:txBody>
      </p:sp>
      <p:sp>
        <p:nvSpPr>
          <p:cNvPr id="66" name="Rectangle 65"/>
          <p:cNvSpPr/>
          <p:nvPr/>
        </p:nvSpPr>
        <p:spPr>
          <a:xfrm>
            <a:off x="777240" y="5550407"/>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77240" y="5532120"/>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400" b="0" i="0">
                <a:solidFill>
                  <a:srgbClr val="3D4653"/>
                </a:solidFill>
                <a:latin typeface="Calibri"/>
              </a:rPr>
              <a:t>Fixtures are the strongest single slice on both measures. Helpers and callees are the two whose intervals cross zero. The untrained argmax separates fields + fixtures clearly (57.5%); the trained model cannot tell it from the version with siblings added.</a:t>
            </a:r>
          </a:p>
        </p:txBody>
      </p:sp>
      <p:sp>
        <p:nvSpPr>
          <p:cNvPr id="68" name="TextBox 67"/>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RESULT</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The gain is one category, not five</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64208"/>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350" b="0" i="0">
                <a:solidFill>
                  <a:srgbClr val="6B7684"/>
                </a:solidFill>
                <a:latin typeface="Calibri"/>
              </a:rPr>
              <a:t>Recall per category, untrained argmax. n is the number of tests of that category in the sample of 80.</a:t>
            </a:r>
          </a:p>
        </p:txBody>
      </p:sp>
      <p:sp>
        <p:nvSpPr>
          <p:cNvPr id="6" name="Rectangle 5"/>
          <p:cNvSpPr/>
          <p:nvPr/>
        </p:nvSpPr>
        <p:spPr>
          <a:xfrm>
            <a:off x="4892040" y="2240280"/>
            <a:ext cx="12700" cy="288036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79" y="5193792"/>
            <a:ext cx="731520" cy="274320"/>
          </a:xfrm>
          <a:prstGeom prst="rect">
            <a:avLst/>
          </a:prstGeom>
          <a:noFill/>
        </p:spPr>
        <p:txBody>
          <a:bodyPr wrap="square" lIns="0" rIns="0" tIns="0" bIns="0" anchor="t">
            <a:spAutoFit/>
          </a:bodyPr>
          <a:lstStyle/>
          <a:p>
            <a:pPr algn="ctr">
              <a:spcBef>
                <a:spcPts val="0"/>
              </a:spcBef>
              <a:spcAft>
                <a:spcPts val="0"/>
              </a:spcAft>
            </a:pPr>
            <a:r>
              <a:rPr sz="1050" b="0" i="0">
                <a:solidFill>
                  <a:srgbClr val="6B7684"/>
                </a:solidFill>
                <a:latin typeface="Consolas"/>
              </a:rPr>
              <a:t>0%</a:t>
            </a:r>
          </a:p>
        </p:txBody>
      </p:sp>
      <p:sp>
        <p:nvSpPr>
          <p:cNvPr id="8" name="Rectangle 7"/>
          <p:cNvSpPr/>
          <p:nvPr/>
        </p:nvSpPr>
        <p:spPr>
          <a:xfrm>
            <a:off x="6309359" y="2240280"/>
            <a:ext cx="12700" cy="288036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599" y="5193792"/>
            <a:ext cx="731520" cy="274320"/>
          </a:xfrm>
          <a:prstGeom prst="rect">
            <a:avLst/>
          </a:prstGeom>
          <a:noFill/>
        </p:spPr>
        <p:txBody>
          <a:bodyPr wrap="square" lIns="0" rIns="0" tIns="0" bIns="0" anchor="t">
            <a:spAutoFit/>
          </a:bodyPr>
          <a:lstStyle/>
          <a:p>
            <a:pPr algn="ctr">
              <a:spcBef>
                <a:spcPts val="0"/>
              </a:spcBef>
              <a:spcAft>
                <a:spcPts val="0"/>
              </a:spcAft>
            </a:pPr>
            <a:r>
              <a:rPr sz="1050" b="0" i="0">
                <a:solidFill>
                  <a:srgbClr val="6B7684"/>
                </a:solidFill>
                <a:latin typeface="Consolas"/>
              </a:rPr>
              <a:t>25%</a:t>
            </a:r>
          </a:p>
        </p:txBody>
      </p:sp>
      <p:sp>
        <p:nvSpPr>
          <p:cNvPr id="10" name="Rectangle 9"/>
          <p:cNvSpPr/>
          <p:nvPr/>
        </p:nvSpPr>
        <p:spPr>
          <a:xfrm>
            <a:off x="7726679" y="2240280"/>
            <a:ext cx="12700" cy="288036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19" y="5193792"/>
            <a:ext cx="731520" cy="274320"/>
          </a:xfrm>
          <a:prstGeom prst="rect">
            <a:avLst/>
          </a:prstGeom>
          <a:noFill/>
        </p:spPr>
        <p:txBody>
          <a:bodyPr wrap="square" lIns="0" rIns="0" tIns="0" bIns="0" anchor="t">
            <a:spAutoFit/>
          </a:bodyPr>
          <a:lstStyle/>
          <a:p>
            <a:pPr algn="ctr">
              <a:spcBef>
                <a:spcPts val="0"/>
              </a:spcBef>
              <a:spcAft>
                <a:spcPts val="0"/>
              </a:spcAft>
            </a:pPr>
            <a:r>
              <a:rPr sz="1050" b="0" i="0">
                <a:solidFill>
                  <a:srgbClr val="6B7684"/>
                </a:solidFill>
                <a:latin typeface="Consolas"/>
              </a:rPr>
              <a:t>50%</a:t>
            </a:r>
          </a:p>
        </p:txBody>
      </p:sp>
      <p:sp>
        <p:nvSpPr>
          <p:cNvPr id="12" name="Rectangle 11"/>
          <p:cNvSpPr/>
          <p:nvPr/>
        </p:nvSpPr>
        <p:spPr>
          <a:xfrm>
            <a:off x="9144000" y="2240280"/>
            <a:ext cx="12700" cy="288036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78240" y="5193792"/>
            <a:ext cx="731520" cy="274320"/>
          </a:xfrm>
          <a:prstGeom prst="rect">
            <a:avLst/>
          </a:prstGeom>
          <a:noFill/>
        </p:spPr>
        <p:txBody>
          <a:bodyPr wrap="square" lIns="0" rIns="0" tIns="0" bIns="0" anchor="t">
            <a:spAutoFit/>
          </a:bodyPr>
          <a:lstStyle/>
          <a:p>
            <a:pPr algn="ctr">
              <a:spcBef>
                <a:spcPts val="0"/>
              </a:spcBef>
              <a:spcAft>
                <a:spcPts val="0"/>
              </a:spcAft>
            </a:pPr>
            <a:r>
              <a:rPr sz="1050" b="0" i="0">
                <a:solidFill>
                  <a:srgbClr val="6B7684"/>
                </a:solidFill>
                <a:latin typeface="Consolas"/>
              </a:rPr>
              <a:t>75%</a:t>
            </a:r>
          </a:p>
        </p:txBody>
      </p:sp>
      <p:sp>
        <p:nvSpPr>
          <p:cNvPr id="14" name="Rectangle 13"/>
          <p:cNvSpPr/>
          <p:nvPr/>
        </p:nvSpPr>
        <p:spPr>
          <a:xfrm>
            <a:off x="10561320" y="2240280"/>
            <a:ext cx="12700" cy="288036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95560" y="5193792"/>
            <a:ext cx="731520" cy="274320"/>
          </a:xfrm>
          <a:prstGeom prst="rect">
            <a:avLst/>
          </a:prstGeom>
          <a:noFill/>
        </p:spPr>
        <p:txBody>
          <a:bodyPr wrap="square" lIns="0" rIns="0" tIns="0" bIns="0" anchor="t">
            <a:spAutoFit/>
          </a:bodyPr>
          <a:lstStyle/>
          <a:p>
            <a:pPr algn="ctr">
              <a:spcBef>
                <a:spcPts val="0"/>
              </a:spcBef>
              <a:spcAft>
                <a:spcPts val="0"/>
              </a:spcAft>
            </a:pPr>
            <a:r>
              <a:rPr sz="1050" b="0" i="0">
                <a:solidFill>
                  <a:srgbClr val="6B7684"/>
                </a:solidFill>
                <a:latin typeface="Consolas"/>
              </a:rPr>
              <a:t>100%</a:t>
            </a:r>
          </a:p>
        </p:txBody>
      </p:sp>
      <p:sp>
        <p:nvSpPr>
          <p:cNvPr id="16" name="TextBox 15"/>
          <p:cNvSpPr txBox="1"/>
          <p:nvPr/>
        </p:nvSpPr>
        <p:spPr>
          <a:xfrm>
            <a:off x="7178040" y="5431536"/>
            <a:ext cx="1280160" cy="274320"/>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recall</a:t>
            </a:r>
          </a:p>
        </p:txBody>
      </p:sp>
      <p:sp>
        <p:nvSpPr>
          <p:cNvPr id="17" name="Rectangle 16"/>
          <p:cNvSpPr/>
          <p:nvPr/>
        </p:nvSpPr>
        <p:spPr>
          <a:xfrm>
            <a:off x="777240" y="2048256"/>
            <a:ext cx="146304" cy="146304"/>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5" y="2002536"/>
            <a:ext cx="128016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alibri"/>
              </a:rPr>
              <a:t>body only</a:t>
            </a:r>
          </a:p>
        </p:txBody>
      </p:sp>
      <p:sp>
        <p:nvSpPr>
          <p:cNvPr id="19" name="Rectangle 18"/>
          <p:cNvSpPr/>
          <p:nvPr/>
        </p:nvSpPr>
        <p:spPr>
          <a:xfrm>
            <a:off x="2194560" y="2048256"/>
            <a:ext cx="146304" cy="146304"/>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14016" y="2002536"/>
            <a:ext cx="2377440" cy="274320"/>
          </a:xfrm>
          <a:prstGeom prst="rect">
            <a:avLst/>
          </a:prstGeom>
          <a:noFill/>
        </p:spPr>
        <p:txBody>
          <a:bodyPr wrap="square" lIns="0" rIns="0" tIns="0" bIns="0" anchor="t">
            <a:spAutoFit/>
          </a:bodyPr>
          <a:lstStyle/>
          <a:p>
            <a:pPr>
              <a:spcBef>
                <a:spcPts val="0"/>
              </a:spcBef>
              <a:spcAft>
                <a:spcPts val="0"/>
              </a:spcAft>
            </a:pPr>
            <a:r>
              <a:rPr sz="1250" b="0" i="0">
                <a:solidFill>
                  <a:srgbClr val="3D4653"/>
                </a:solidFill>
                <a:latin typeface="Calibri"/>
              </a:rPr>
              <a:t>body + fields + fixtures</a:t>
            </a:r>
          </a:p>
        </p:txBody>
      </p:sp>
      <p:sp>
        <p:nvSpPr>
          <p:cNvPr id="21" name="TextBox 20"/>
          <p:cNvSpPr txBox="1"/>
          <p:nvPr/>
        </p:nvSpPr>
        <p:spPr>
          <a:xfrm>
            <a:off x="777240" y="2377440"/>
            <a:ext cx="3200400" cy="274320"/>
          </a:xfrm>
          <a:prstGeom prst="rect">
            <a:avLst/>
          </a:prstGeom>
          <a:noFill/>
        </p:spPr>
        <p:txBody>
          <a:bodyPr wrap="square" lIns="0" rIns="0" tIns="0" bIns="0" anchor="t">
            <a:spAutoFit/>
          </a:bodyPr>
          <a:lstStyle/>
          <a:p>
            <a:pPr algn="r">
              <a:spcBef>
                <a:spcPts val="0"/>
              </a:spcBef>
              <a:spcAft>
                <a:spcPts val="0"/>
              </a:spcAft>
            </a:pPr>
            <a:r>
              <a:rPr sz="1350" b="1" i="0">
                <a:solidFill>
                  <a:srgbClr val="151A21"/>
                </a:solidFill>
                <a:latin typeface="Calibri"/>
              </a:rPr>
              <a:t>test order dependency</a:t>
            </a:r>
          </a:p>
        </p:txBody>
      </p:sp>
      <p:sp>
        <p:nvSpPr>
          <p:cNvPr id="22" name="TextBox 21"/>
          <p:cNvSpPr txBox="1"/>
          <p:nvPr/>
        </p:nvSpPr>
        <p:spPr>
          <a:xfrm>
            <a:off x="4069080" y="2404872"/>
            <a:ext cx="548640" cy="237744"/>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n=46</a:t>
            </a:r>
          </a:p>
        </p:txBody>
      </p:sp>
      <p:sp>
        <p:nvSpPr>
          <p:cNvPr id="23" name="Rectangle 22"/>
          <p:cNvSpPr/>
          <p:nvPr/>
        </p:nvSpPr>
        <p:spPr>
          <a:xfrm>
            <a:off x="4892040" y="2395728"/>
            <a:ext cx="850392" cy="173736"/>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892040" y="2606040"/>
            <a:ext cx="4308652" cy="173736"/>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3871" y="2368296"/>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15%</a:t>
            </a:r>
          </a:p>
        </p:txBody>
      </p:sp>
      <p:sp>
        <p:nvSpPr>
          <p:cNvPr id="26" name="TextBox 25"/>
          <p:cNvSpPr txBox="1"/>
          <p:nvPr/>
        </p:nvSpPr>
        <p:spPr>
          <a:xfrm>
            <a:off x="9292132" y="2578608"/>
            <a:ext cx="640080" cy="237744"/>
          </a:xfrm>
          <a:prstGeom prst="rect">
            <a:avLst/>
          </a:prstGeom>
          <a:noFill/>
        </p:spPr>
        <p:txBody>
          <a:bodyPr wrap="square" lIns="0" rIns="0" tIns="0" bIns="0" anchor="t">
            <a:spAutoFit/>
          </a:bodyPr>
          <a:lstStyle/>
          <a:p>
            <a:pPr>
              <a:spcBef>
                <a:spcPts val="0"/>
              </a:spcBef>
              <a:spcAft>
                <a:spcPts val="0"/>
              </a:spcAft>
            </a:pPr>
            <a:r>
              <a:rPr sz="1150" b="1" i="0">
                <a:solidFill>
                  <a:srgbClr val="3A6650"/>
                </a:solidFill>
                <a:latin typeface="Consolas"/>
              </a:rPr>
              <a:t>76%</a:t>
            </a:r>
          </a:p>
        </p:txBody>
      </p:sp>
      <p:sp>
        <p:nvSpPr>
          <p:cNvPr id="27" name="TextBox 26"/>
          <p:cNvSpPr txBox="1"/>
          <p:nvPr/>
        </p:nvSpPr>
        <p:spPr>
          <a:xfrm>
            <a:off x="10881359" y="2478024"/>
            <a:ext cx="914400" cy="256032"/>
          </a:xfrm>
          <a:prstGeom prst="rect">
            <a:avLst/>
          </a:prstGeom>
          <a:noFill/>
        </p:spPr>
        <p:txBody>
          <a:bodyPr wrap="square" lIns="0" rIns="0" tIns="0" bIns="0" anchor="t">
            <a:spAutoFit/>
          </a:bodyPr>
          <a:lstStyle/>
          <a:p>
            <a:pPr>
              <a:spcBef>
                <a:spcPts val="0"/>
              </a:spcBef>
              <a:spcAft>
                <a:spcPts val="0"/>
              </a:spcAft>
            </a:pPr>
            <a:r>
              <a:rPr sz="1300" b="1" i="0">
                <a:solidFill>
                  <a:srgbClr val="3A6650"/>
                </a:solidFill>
                <a:latin typeface="Consolas"/>
              </a:rPr>
              <a:t>+61 pts</a:t>
            </a:r>
          </a:p>
        </p:txBody>
      </p:sp>
      <p:sp>
        <p:nvSpPr>
          <p:cNvPr id="28" name="TextBox 27"/>
          <p:cNvSpPr txBox="1"/>
          <p:nvPr/>
        </p:nvSpPr>
        <p:spPr>
          <a:xfrm>
            <a:off x="777240" y="2944368"/>
            <a:ext cx="3200400"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alibri"/>
              </a:rPr>
              <a:t>async wait</a:t>
            </a:r>
          </a:p>
        </p:txBody>
      </p:sp>
      <p:sp>
        <p:nvSpPr>
          <p:cNvPr id="29" name="TextBox 28"/>
          <p:cNvSpPr txBox="1"/>
          <p:nvPr/>
        </p:nvSpPr>
        <p:spPr>
          <a:xfrm>
            <a:off x="4069080" y="2971800"/>
            <a:ext cx="548640" cy="237744"/>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n=18</a:t>
            </a:r>
          </a:p>
        </p:txBody>
      </p:sp>
      <p:sp>
        <p:nvSpPr>
          <p:cNvPr id="30" name="Rectangle 29"/>
          <p:cNvSpPr/>
          <p:nvPr/>
        </p:nvSpPr>
        <p:spPr>
          <a:xfrm>
            <a:off x="4892040" y="2962656"/>
            <a:ext cx="2211019" cy="173736"/>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892040" y="3172968"/>
            <a:ext cx="1870862" cy="173736"/>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94499" y="2935224"/>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39%</a:t>
            </a:r>
          </a:p>
        </p:txBody>
      </p:sp>
      <p:sp>
        <p:nvSpPr>
          <p:cNvPr id="33" name="TextBox 32"/>
          <p:cNvSpPr txBox="1"/>
          <p:nvPr/>
        </p:nvSpPr>
        <p:spPr>
          <a:xfrm>
            <a:off x="6854342" y="3145536"/>
            <a:ext cx="640080" cy="237744"/>
          </a:xfrm>
          <a:prstGeom prst="rect">
            <a:avLst/>
          </a:prstGeom>
          <a:noFill/>
        </p:spPr>
        <p:txBody>
          <a:bodyPr wrap="square" lIns="0" rIns="0" tIns="0" bIns="0" anchor="t">
            <a:spAutoFit/>
          </a:bodyPr>
          <a:lstStyle/>
          <a:p>
            <a:pPr>
              <a:spcBef>
                <a:spcPts val="0"/>
              </a:spcBef>
              <a:spcAft>
                <a:spcPts val="0"/>
              </a:spcAft>
            </a:pPr>
            <a:r>
              <a:rPr sz="1150" b="1" i="0">
                <a:solidFill>
                  <a:srgbClr val="A8452B"/>
                </a:solidFill>
                <a:latin typeface="Consolas"/>
              </a:rPr>
              <a:t>33%</a:t>
            </a:r>
          </a:p>
        </p:txBody>
      </p:sp>
      <p:sp>
        <p:nvSpPr>
          <p:cNvPr id="34" name="TextBox 33"/>
          <p:cNvSpPr txBox="1"/>
          <p:nvPr/>
        </p:nvSpPr>
        <p:spPr>
          <a:xfrm>
            <a:off x="10881359" y="3044952"/>
            <a:ext cx="914400" cy="256032"/>
          </a:xfrm>
          <a:prstGeom prst="rect">
            <a:avLst/>
          </a:prstGeom>
          <a:noFill/>
        </p:spPr>
        <p:txBody>
          <a:bodyPr wrap="square" lIns="0" rIns="0" tIns="0" bIns="0" anchor="t">
            <a:spAutoFit/>
          </a:bodyPr>
          <a:lstStyle/>
          <a:p>
            <a:pPr>
              <a:spcBef>
                <a:spcPts val="0"/>
              </a:spcBef>
              <a:spcAft>
                <a:spcPts val="0"/>
              </a:spcAft>
            </a:pPr>
            <a:r>
              <a:rPr sz="1300" b="1" i="0">
                <a:solidFill>
                  <a:srgbClr val="A8452B"/>
                </a:solidFill>
                <a:latin typeface="Consolas"/>
              </a:rPr>
              <a:t>-6 pts</a:t>
            </a:r>
          </a:p>
        </p:txBody>
      </p:sp>
      <p:sp>
        <p:nvSpPr>
          <p:cNvPr id="35" name="TextBox 34"/>
          <p:cNvSpPr txBox="1"/>
          <p:nvPr/>
        </p:nvSpPr>
        <p:spPr>
          <a:xfrm>
            <a:off x="777240" y="3511296"/>
            <a:ext cx="3200400"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alibri"/>
              </a:rPr>
              <a:t>concurrency</a:t>
            </a:r>
          </a:p>
        </p:txBody>
      </p:sp>
      <p:sp>
        <p:nvSpPr>
          <p:cNvPr id="36" name="TextBox 35"/>
          <p:cNvSpPr txBox="1"/>
          <p:nvPr/>
        </p:nvSpPr>
        <p:spPr>
          <a:xfrm>
            <a:off x="4069080" y="3538728"/>
            <a:ext cx="548640" cy="237744"/>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n=10</a:t>
            </a:r>
          </a:p>
        </p:txBody>
      </p:sp>
      <p:sp>
        <p:nvSpPr>
          <p:cNvPr id="37" name="Rectangle 36"/>
          <p:cNvSpPr/>
          <p:nvPr/>
        </p:nvSpPr>
        <p:spPr>
          <a:xfrm>
            <a:off x="4892040" y="3529584"/>
            <a:ext cx="566928" cy="173736"/>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92040" y="3739896"/>
            <a:ext cx="1133856" cy="173736"/>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50407" y="3502152"/>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10%</a:t>
            </a:r>
          </a:p>
        </p:txBody>
      </p:sp>
      <p:sp>
        <p:nvSpPr>
          <p:cNvPr id="40" name="TextBox 39"/>
          <p:cNvSpPr txBox="1"/>
          <p:nvPr/>
        </p:nvSpPr>
        <p:spPr>
          <a:xfrm>
            <a:off x="6117336" y="3712464"/>
            <a:ext cx="640080" cy="237744"/>
          </a:xfrm>
          <a:prstGeom prst="rect">
            <a:avLst/>
          </a:prstGeom>
          <a:noFill/>
        </p:spPr>
        <p:txBody>
          <a:bodyPr wrap="square" lIns="0" rIns="0" tIns="0" bIns="0" anchor="t">
            <a:spAutoFit/>
          </a:bodyPr>
          <a:lstStyle/>
          <a:p>
            <a:pPr>
              <a:spcBef>
                <a:spcPts val="0"/>
              </a:spcBef>
              <a:spcAft>
                <a:spcPts val="0"/>
              </a:spcAft>
            </a:pPr>
            <a:r>
              <a:rPr sz="1150" b="1" i="0">
                <a:solidFill>
                  <a:srgbClr val="3A6650"/>
                </a:solidFill>
                <a:latin typeface="Consolas"/>
              </a:rPr>
              <a:t>20%</a:t>
            </a:r>
          </a:p>
        </p:txBody>
      </p:sp>
      <p:sp>
        <p:nvSpPr>
          <p:cNvPr id="41" name="TextBox 40"/>
          <p:cNvSpPr txBox="1"/>
          <p:nvPr/>
        </p:nvSpPr>
        <p:spPr>
          <a:xfrm>
            <a:off x="10881359" y="3611880"/>
            <a:ext cx="914400" cy="256032"/>
          </a:xfrm>
          <a:prstGeom prst="rect">
            <a:avLst/>
          </a:prstGeom>
          <a:noFill/>
        </p:spPr>
        <p:txBody>
          <a:bodyPr wrap="square" lIns="0" rIns="0" tIns="0" bIns="0" anchor="t">
            <a:spAutoFit/>
          </a:bodyPr>
          <a:lstStyle/>
          <a:p>
            <a:pPr>
              <a:spcBef>
                <a:spcPts val="0"/>
              </a:spcBef>
              <a:spcAft>
                <a:spcPts val="0"/>
              </a:spcAft>
            </a:pPr>
            <a:r>
              <a:rPr sz="1300" b="1" i="0">
                <a:solidFill>
                  <a:srgbClr val="3A6650"/>
                </a:solidFill>
                <a:latin typeface="Consolas"/>
              </a:rPr>
              <a:t>+10 pts</a:t>
            </a:r>
          </a:p>
        </p:txBody>
      </p:sp>
      <p:sp>
        <p:nvSpPr>
          <p:cNvPr id="42" name="TextBox 41"/>
          <p:cNvSpPr txBox="1"/>
          <p:nvPr/>
        </p:nvSpPr>
        <p:spPr>
          <a:xfrm>
            <a:off x="777240" y="4078224"/>
            <a:ext cx="3200400"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alibri"/>
              </a:rPr>
              <a:t>time</a:t>
            </a:r>
          </a:p>
        </p:txBody>
      </p:sp>
      <p:sp>
        <p:nvSpPr>
          <p:cNvPr id="43" name="TextBox 42"/>
          <p:cNvSpPr txBox="1"/>
          <p:nvPr/>
        </p:nvSpPr>
        <p:spPr>
          <a:xfrm>
            <a:off x="4069080" y="4105656"/>
            <a:ext cx="548640" cy="237744"/>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n=4</a:t>
            </a:r>
          </a:p>
        </p:txBody>
      </p:sp>
      <p:sp>
        <p:nvSpPr>
          <p:cNvPr id="44" name="Rectangle 43"/>
          <p:cNvSpPr/>
          <p:nvPr/>
        </p:nvSpPr>
        <p:spPr>
          <a:xfrm>
            <a:off x="4892040" y="4096512"/>
            <a:ext cx="2834640" cy="173736"/>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892040" y="4306824"/>
            <a:ext cx="2834640" cy="173736"/>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18119" y="4069080"/>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50%</a:t>
            </a:r>
          </a:p>
        </p:txBody>
      </p:sp>
      <p:sp>
        <p:nvSpPr>
          <p:cNvPr id="47" name="TextBox 46"/>
          <p:cNvSpPr txBox="1"/>
          <p:nvPr/>
        </p:nvSpPr>
        <p:spPr>
          <a:xfrm>
            <a:off x="7818119" y="4279392"/>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50%</a:t>
            </a:r>
          </a:p>
        </p:txBody>
      </p:sp>
      <p:sp>
        <p:nvSpPr>
          <p:cNvPr id="48" name="TextBox 47"/>
          <p:cNvSpPr txBox="1"/>
          <p:nvPr/>
        </p:nvSpPr>
        <p:spPr>
          <a:xfrm>
            <a:off x="10881359" y="4178808"/>
            <a:ext cx="914400" cy="256032"/>
          </a:xfrm>
          <a:prstGeom prst="rect">
            <a:avLst/>
          </a:prstGeom>
          <a:noFill/>
        </p:spPr>
        <p:txBody>
          <a:bodyPr wrap="square" lIns="0" rIns="0" tIns="0" bIns="0" anchor="t">
            <a:spAutoFit/>
          </a:bodyPr>
          <a:lstStyle/>
          <a:p>
            <a:pPr>
              <a:spcBef>
                <a:spcPts val="0"/>
              </a:spcBef>
              <a:spcAft>
                <a:spcPts val="0"/>
              </a:spcAft>
            </a:pPr>
            <a:r>
              <a:rPr sz="1300" b="0" i="0">
                <a:solidFill>
                  <a:srgbClr val="6B7684"/>
                </a:solidFill>
                <a:latin typeface="Consolas"/>
              </a:rPr>
              <a:t>—</a:t>
            </a:r>
          </a:p>
        </p:txBody>
      </p:sp>
      <p:sp>
        <p:nvSpPr>
          <p:cNvPr id="49" name="TextBox 48"/>
          <p:cNvSpPr txBox="1"/>
          <p:nvPr/>
        </p:nvSpPr>
        <p:spPr>
          <a:xfrm>
            <a:off x="777240" y="4645152"/>
            <a:ext cx="3200400" cy="274320"/>
          </a:xfrm>
          <a:prstGeom prst="rect">
            <a:avLst/>
          </a:prstGeom>
          <a:noFill/>
        </p:spPr>
        <p:txBody>
          <a:bodyPr wrap="square" lIns="0" rIns="0" tIns="0" bIns="0" anchor="t">
            <a:spAutoFit/>
          </a:bodyPr>
          <a:lstStyle/>
          <a:p>
            <a:pPr algn="r">
              <a:spcBef>
                <a:spcPts val="0"/>
              </a:spcBef>
              <a:spcAft>
                <a:spcPts val="0"/>
              </a:spcAft>
            </a:pPr>
            <a:r>
              <a:rPr sz="1350" b="0" i="0">
                <a:solidFill>
                  <a:srgbClr val="3D4653"/>
                </a:solidFill>
                <a:latin typeface="Calibri"/>
              </a:rPr>
              <a:t>unordered collections</a:t>
            </a:r>
          </a:p>
        </p:txBody>
      </p:sp>
      <p:sp>
        <p:nvSpPr>
          <p:cNvPr id="50" name="TextBox 49"/>
          <p:cNvSpPr txBox="1"/>
          <p:nvPr/>
        </p:nvSpPr>
        <p:spPr>
          <a:xfrm>
            <a:off x="4069080" y="4672584"/>
            <a:ext cx="548640" cy="237744"/>
          </a:xfrm>
          <a:prstGeom prst="rect">
            <a:avLst/>
          </a:prstGeom>
          <a:noFill/>
        </p:spPr>
        <p:txBody>
          <a:bodyPr wrap="square" lIns="0" rIns="0" tIns="0" bIns="0" anchor="t">
            <a:spAutoFit/>
          </a:bodyPr>
          <a:lstStyle/>
          <a:p>
            <a:pPr>
              <a:spcBef>
                <a:spcPts val="0"/>
              </a:spcBef>
              <a:spcAft>
                <a:spcPts val="0"/>
              </a:spcAft>
            </a:pPr>
            <a:r>
              <a:rPr sz="1100" b="0" i="0">
                <a:solidFill>
                  <a:srgbClr val="6B7684"/>
                </a:solidFill>
                <a:latin typeface="Consolas"/>
              </a:rPr>
              <a:t>n=2</a:t>
            </a:r>
          </a:p>
        </p:txBody>
      </p:sp>
      <p:sp>
        <p:nvSpPr>
          <p:cNvPr id="51" name="Rectangle 50"/>
          <p:cNvSpPr/>
          <p:nvPr/>
        </p:nvSpPr>
        <p:spPr>
          <a:xfrm>
            <a:off x="4892040" y="4663440"/>
            <a:ext cx="2834640" cy="173736"/>
          </a:xfrm>
          <a:prstGeom prst="rect">
            <a:avLst/>
          </a:prstGeom>
          <a:solidFill>
            <a:srgbClr val="9AA4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892040" y="4873752"/>
            <a:ext cx="2834640" cy="173736"/>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18119" y="4636008"/>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50%</a:t>
            </a:r>
          </a:p>
        </p:txBody>
      </p:sp>
      <p:sp>
        <p:nvSpPr>
          <p:cNvPr id="54" name="TextBox 53"/>
          <p:cNvSpPr txBox="1"/>
          <p:nvPr/>
        </p:nvSpPr>
        <p:spPr>
          <a:xfrm>
            <a:off x="7818119" y="4846320"/>
            <a:ext cx="640080" cy="237744"/>
          </a:xfrm>
          <a:prstGeom prst="rect">
            <a:avLst/>
          </a:prstGeom>
          <a:noFill/>
        </p:spPr>
        <p:txBody>
          <a:bodyPr wrap="square" lIns="0" rIns="0" tIns="0" bIns="0" anchor="t">
            <a:spAutoFit/>
          </a:bodyPr>
          <a:lstStyle/>
          <a:p>
            <a:pPr>
              <a:spcBef>
                <a:spcPts val="0"/>
              </a:spcBef>
              <a:spcAft>
                <a:spcPts val="0"/>
              </a:spcAft>
            </a:pPr>
            <a:r>
              <a:rPr sz="1150" b="0" i="0">
                <a:solidFill>
                  <a:srgbClr val="6B7684"/>
                </a:solidFill>
                <a:latin typeface="Consolas"/>
              </a:rPr>
              <a:t>50%</a:t>
            </a:r>
          </a:p>
        </p:txBody>
      </p:sp>
      <p:sp>
        <p:nvSpPr>
          <p:cNvPr id="55" name="TextBox 54"/>
          <p:cNvSpPr txBox="1"/>
          <p:nvPr/>
        </p:nvSpPr>
        <p:spPr>
          <a:xfrm>
            <a:off x="10881359" y="4745736"/>
            <a:ext cx="914400" cy="256032"/>
          </a:xfrm>
          <a:prstGeom prst="rect">
            <a:avLst/>
          </a:prstGeom>
          <a:noFill/>
        </p:spPr>
        <p:txBody>
          <a:bodyPr wrap="square" lIns="0" rIns="0" tIns="0" bIns="0" anchor="t">
            <a:spAutoFit/>
          </a:bodyPr>
          <a:lstStyle/>
          <a:p>
            <a:pPr>
              <a:spcBef>
                <a:spcPts val="0"/>
              </a:spcBef>
              <a:spcAft>
                <a:spcPts val="0"/>
              </a:spcAft>
            </a:pPr>
            <a:r>
              <a:rPr sz="1300" b="0" i="0">
                <a:solidFill>
                  <a:srgbClr val="6B7684"/>
                </a:solidFill>
                <a:latin typeface="Consolas"/>
              </a:rPr>
              <a:t>—</a:t>
            </a:r>
          </a:p>
        </p:txBody>
      </p:sp>
      <p:sp>
        <p:nvSpPr>
          <p:cNvPr id="56" name="Rectangle 55"/>
          <p:cNvSpPr/>
          <p:nvPr/>
        </p:nvSpPr>
        <p:spPr>
          <a:xfrm>
            <a:off x="777240" y="5715000"/>
            <a:ext cx="10637215" cy="71323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77240" y="5715000"/>
            <a:ext cx="45720" cy="713232"/>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51560" y="5888736"/>
            <a:ext cx="10058400" cy="548640"/>
          </a:xfrm>
          <a:prstGeom prst="rect">
            <a:avLst/>
          </a:prstGeom>
          <a:noFill/>
        </p:spPr>
        <p:txBody>
          <a:bodyPr wrap="square" lIns="0" rIns="0" tIns="0" bIns="0" anchor="t">
            <a:spAutoFit/>
          </a:bodyPr>
          <a:lstStyle/>
          <a:p>
            <a:pPr>
              <a:lnSpc>
                <a:spcPct val="126000"/>
              </a:lnSpc>
              <a:spcBef>
                <a:spcPts val="0"/>
              </a:spcBef>
              <a:spcAft>
                <a:spcPts val="0"/>
              </a:spcAft>
            </a:pPr>
            <a:r>
              <a:rPr sz="1450" b="1" i="0">
                <a:solidFill>
                  <a:srgbClr val="2F4858"/>
                </a:solidFill>
                <a:latin typeface="Calibri"/>
              </a:rPr>
              <a:t>Order dependency is the only large move, 7 tests to 35 of 46. Concurrency's +10 points is one test, async wait's -6 is one test, and time and unordered collections have 4 and 2 examples between them.</a:t>
            </a:r>
          </a:p>
        </p:txBody>
      </p:sp>
      <p:sp>
        <p:nvSpPr>
          <p:cNvPr id="59" name="TextBox 58"/>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FOURTH CONTEXT TYPE</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Depth-1 callee extraction, and why it is not reliable</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00784"/>
            <a:ext cx="5760720" cy="274320"/>
          </a:xfrm>
          <a:prstGeom prst="rect">
            <a:avLst/>
          </a:prstGeom>
          <a:noFill/>
        </p:spPr>
        <p:txBody>
          <a:bodyPr wrap="square" lIns="0" rIns="0" tIns="0" bIns="0" anchor="t">
            <a:spAutoFit/>
          </a:bodyPr>
          <a:lstStyle/>
          <a:p>
            <a:pPr>
              <a:spcBef>
                <a:spcPts val="0"/>
              </a:spcBef>
              <a:spcAft>
                <a:spcPts val="0"/>
              </a:spcAft>
            </a:pPr>
            <a:r>
              <a:rPr sz="1450" b="1" i="0">
                <a:solidFill>
                  <a:srgbClr val="151A21"/>
                </a:solidFill>
                <a:latin typeface="Calibri"/>
              </a:rPr>
              <a:t>Current strategy: regex, type-directed</a:t>
            </a:r>
          </a:p>
        </p:txBody>
      </p:sp>
      <p:sp>
        <p:nvSpPr>
          <p:cNvPr id="6" name="Rectangle 5"/>
          <p:cNvSpPr/>
          <p:nvPr/>
        </p:nvSpPr>
        <p:spPr>
          <a:xfrm>
            <a:off x="777240" y="1993392"/>
            <a:ext cx="5760720" cy="3281842"/>
          </a:xfrm>
          <a:prstGeom prst="rect">
            <a:avLst/>
          </a:prstGeom>
          <a:solidFill>
            <a:srgbClr val="F4F6F8"/>
          </a:solidFill>
          <a:ln w="9525">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139696"/>
            <a:ext cx="5468112" cy="2989234"/>
          </a:xfrm>
          <a:prstGeom prst="rect">
            <a:avLst/>
          </a:prstGeom>
          <a:noFill/>
        </p:spPr>
        <p:txBody>
          <a:bodyPr wrap="square" lIns="0" rIns="0" tIns="0" bIns="0" anchor="t">
            <a:spAutoFit/>
          </a:bodyPr>
          <a:lstStyle/>
          <a:p>
            <a:pPr>
              <a:lnSpc>
                <a:spcPct val="128000"/>
              </a:lnSpc>
              <a:spcBef>
                <a:spcPts val="0"/>
              </a:spcBef>
              <a:spcAft>
                <a:spcPts val="0"/>
              </a:spcAft>
            </a:pPr>
            <a:r>
              <a:rPr sz="1150" b="0" i="1">
                <a:solidFill>
                  <a:srgbClr val="6B7684"/>
                </a:solidFill>
                <a:latin typeface="Consolas"/>
              </a:rPr>
              <a:t># 1. variable -&gt; declared type</a:t>
            </a:r>
          </a:p>
          <a:p>
            <a:pPr>
              <a:lnSpc>
                <a:spcPct val="128000"/>
              </a:lnSpc>
              <a:spcBef>
                <a:spcPts val="0"/>
              </a:spcBef>
              <a:spcAft>
                <a:spcPts val="0"/>
              </a:spcAft>
            </a:pPr>
            <a:r>
              <a:rPr sz="1150" b="0" i="0">
                <a:solidFill>
                  <a:srgbClr val="3D4653"/>
                </a:solidFill>
                <a:latin typeface="Consolas"/>
              </a:rPr>
              <a:t>for t, v in TYPE_DECL.findall(fields + body):</a:t>
            </a:r>
          </a:p>
          <a:p>
            <a:pPr>
              <a:lnSpc>
                <a:spcPct val="128000"/>
              </a:lnSpc>
              <a:spcBef>
                <a:spcPts val="0"/>
              </a:spcBef>
              <a:spcAft>
                <a:spcPts val="0"/>
              </a:spcAft>
            </a:pPr>
            <a:r>
              <a:rPr sz="1150" b="0" i="0">
                <a:solidFill>
                  <a:srgbClr val="3D4653"/>
                </a:solidFill>
                <a:latin typeface="Consolas"/>
              </a:rPr>
              <a:t>    var2type.setdefault(v, t)</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1">
                <a:solidFill>
                  <a:srgbClr val="6B7684"/>
                </a:solidFill>
                <a:latin typeface="Consolas"/>
              </a:rPr>
              <a:t># 2. every  receiver.method(  in the body</a:t>
            </a:r>
          </a:p>
          <a:p>
            <a:pPr>
              <a:lnSpc>
                <a:spcPct val="128000"/>
              </a:lnSpc>
              <a:spcBef>
                <a:spcPts val="0"/>
              </a:spcBef>
              <a:spcAft>
                <a:spcPts val="0"/>
              </a:spcAft>
            </a:pPr>
            <a:r>
              <a:rPr sz="1150" b="0" i="0">
                <a:solidFill>
                  <a:srgbClr val="3D4653"/>
                </a:solidFill>
                <a:latin typeface="Consolas"/>
              </a:rPr>
              <a:t>for recv, meth in INVOKE.findall(body):</a:t>
            </a:r>
          </a:p>
          <a:p>
            <a:pPr>
              <a:lnSpc>
                <a:spcPct val="128000"/>
              </a:lnSpc>
              <a:spcBef>
                <a:spcPts val="0"/>
              </a:spcBef>
              <a:spcAft>
                <a:spcPts val="0"/>
              </a:spcAft>
            </a:pPr>
            <a:r>
              <a:rPr sz="1150" b="1" i="0">
                <a:solidFill>
                  <a:srgbClr val="A8452B"/>
                </a:solidFill>
                <a:latin typeface="Consolas"/>
              </a:rPr>
              <a:t>    if recv in var2type:</a:t>
            </a:r>
          </a:p>
          <a:p>
            <a:pPr>
              <a:lnSpc>
                <a:spcPct val="128000"/>
              </a:lnSpc>
              <a:spcBef>
                <a:spcPts val="0"/>
              </a:spcBef>
              <a:spcAft>
                <a:spcPts val="0"/>
              </a:spcAft>
            </a:pPr>
            <a:r>
              <a:rPr sz="1150" b="1" i="0">
                <a:solidFill>
                  <a:srgbClr val="A8452B"/>
                </a:solidFill>
                <a:latin typeface="Consolas"/>
              </a:rPr>
              <a:t>        pairs.add((var2type[recv], meth))</a:t>
            </a:r>
          </a:p>
          <a:p>
            <a:pPr>
              <a:lnSpc>
                <a:spcPct val="128000"/>
              </a:lnSpc>
              <a:spcBef>
                <a:spcPts val="0"/>
              </a:spcBef>
              <a:spcAft>
                <a:spcPts val="0"/>
              </a:spcAft>
            </a:pPr>
            <a:r>
              <a:rPr sz="1150" b="0" i="0">
                <a:solidFill>
                  <a:srgbClr val="3D4653"/>
                </a:solidFill>
                <a:latin typeface="Consolas"/>
              </a:rPr>
              <a:t>    elif recv[:1].isupper():</a:t>
            </a:r>
          </a:p>
          <a:p>
            <a:pPr>
              <a:lnSpc>
                <a:spcPct val="128000"/>
              </a:lnSpc>
              <a:spcBef>
                <a:spcPts val="0"/>
              </a:spcBef>
              <a:spcAft>
                <a:spcPts val="0"/>
              </a:spcAft>
            </a:pPr>
            <a:r>
              <a:rPr sz="1150" b="0" i="0">
                <a:solidFill>
                  <a:srgbClr val="3D4653"/>
                </a:solidFill>
                <a:latin typeface="Consolas"/>
              </a:rPr>
              <a:t>        pairs.add((recv, meth))   # static call</a:t>
            </a:r>
          </a:p>
          <a:p>
            <a:pPr>
              <a:lnSpc>
                <a:spcPct val="128000"/>
              </a:lnSpc>
              <a:spcBef>
                <a:spcPts val="0"/>
              </a:spcBef>
              <a:spcAft>
                <a:spcPts val="0"/>
              </a:spcAft>
            </a:pPr>
            <a:r>
              <a:rPr sz="1150" b="0" i="0">
                <a:solidFill>
                  <a:srgbClr val="3D4653"/>
                </a:solidFill>
                <a:latin typeface="Consolas"/>
              </a:rPr>
              <a:t> </a:t>
            </a:r>
          </a:p>
          <a:p>
            <a:pPr>
              <a:lnSpc>
                <a:spcPct val="128000"/>
              </a:lnSpc>
              <a:spcBef>
                <a:spcPts val="0"/>
              </a:spcBef>
              <a:spcAft>
                <a:spcPts val="0"/>
              </a:spcAft>
            </a:pPr>
            <a:r>
              <a:rPr sz="1150" b="0" i="1">
                <a:solidFill>
                  <a:srgbClr val="6B7684"/>
                </a:solidFill>
                <a:latin typeface="Consolas"/>
              </a:rPr>
              <a:t># 3. keep only types the project itself declares</a:t>
            </a:r>
          </a:p>
          <a:p>
            <a:pPr>
              <a:lnSpc>
                <a:spcPct val="128000"/>
              </a:lnSpc>
              <a:spcBef>
                <a:spcPts val="0"/>
              </a:spcBef>
              <a:spcAft>
                <a:spcPts val="0"/>
              </a:spcAft>
            </a:pPr>
            <a:r>
              <a:rPr sz="1150" b="0" i="1">
                <a:solidFill>
                  <a:srgbClr val="6B7684"/>
                </a:solidFill>
                <a:latin typeface="Consolas"/>
              </a:rPr>
              <a:t>#    -&gt; JDK and libraries drop out, no deny list</a:t>
            </a:r>
          </a:p>
        </p:txBody>
      </p:sp>
      <p:sp>
        <p:nvSpPr>
          <p:cNvPr id="8" name="TextBox 7"/>
          <p:cNvSpPr txBox="1"/>
          <p:nvPr/>
        </p:nvSpPr>
        <p:spPr>
          <a:xfrm>
            <a:off x="6949440" y="1700784"/>
            <a:ext cx="5212080" cy="274320"/>
          </a:xfrm>
          <a:prstGeom prst="rect">
            <a:avLst/>
          </a:prstGeom>
          <a:noFill/>
        </p:spPr>
        <p:txBody>
          <a:bodyPr wrap="square" lIns="0" rIns="0" tIns="0" bIns="0" anchor="t">
            <a:spAutoFit/>
          </a:bodyPr>
          <a:lstStyle/>
          <a:p>
            <a:pPr>
              <a:spcBef>
                <a:spcPts val="0"/>
              </a:spcBef>
              <a:spcAft>
                <a:spcPts val="0"/>
              </a:spcAft>
            </a:pPr>
            <a:r>
              <a:rPr sz="1450" b="1" i="0">
                <a:solidFill>
                  <a:srgbClr val="151A21"/>
                </a:solidFill>
                <a:latin typeface="Calibri"/>
              </a:rPr>
              <a:t>What it cannot do</a:t>
            </a:r>
          </a:p>
        </p:txBody>
      </p:sp>
      <p:sp>
        <p:nvSpPr>
          <p:cNvPr id="9" name="TextBox 8"/>
          <p:cNvSpPr txBox="1"/>
          <p:nvPr/>
        </p:nvSpPr>
        <p:spPr>
          <a:xfrm>
            <a:off x="6949440" y="2029968"/>
            <a:ext cx="1920240" cy="274320"/>
          </a:xfrm>
          <a:prstGeom prst="rect">
            <a:avLst/>
          </a:prstGeom>
          <a:noFill/>
        </p:spPr>
        <p:txBody>
          <a:bodyPr wrap="square" lIns="0" rIns="0" tIns="0" bIns="0" anchor="t">
            <a:spAutoFit/>
          </a:bodyPr>
          <a:lstStyle/>
          <a:p>
            <a:pPr>
              <a:spcBef>
                <a:spcPts val="0"/>
              </a:spcBef>
              <a:spcAft>
                <a:spcPts val="0"/>
              </a:spcAft>
            </a:pPr>
            <a:r>
              <a:rPr sz="1350" b="1" i="0">
                <a:solidFill>
                  <a:srgbClr val="A8452B"/>
                </a:solidFill>
                <a:latin typeface="Calibri"/>
              </a:rPr>
              <a:t>Chained calls</a:t>
            </a:r>
          </a:p>
        </p:txBody>
      </p:sp>
      <p:sp>
        <p:nvSpPr>
          <p:cNvPr id="10" name="TextBox 9"/>
          <p:cNvSpPr txBox="1"/>
          <p:nvPr/>
        </p:nvSpPr>
        <p:spPr>
          <a:xfrm>
            <a:off x="8961119" y="2029968"/>
            <a:ext cx="3200400" cy="457200"/>
          </a:xfrm>
          <a:prstGeom prst="rect">
            <a:avLst/>
          </a:prstGeom>
          <a:noFill/>
        </p:spPr>
        <p:txBody>
          <a:bodyPr wrap="square" lIns="0" rIns="0" tIns="0" bIns="0" anchor="t">
            <a:spAutoFit/>
          </a:bodyPr>
          <a:lstStyle/>
          <a:p>
            <a:pPr>
              <a:lnSpc>
                <a:spcPct val="122000"/>
              </a:lnSpc>
              <a:spcBef>
                <a:spcPts val="0"/>
              </a:spcBef>
              <a:spcAft>
                <a:spcPts val="0"/>
              </a:spcAft>
            </a:pPr>
            <a:r>
              <a:rPr sz="1250" b="0" i="0">
                <a:solidFill>
                  <a:srgbClr val="3D4653"/>
                </a:solidFill>
                <a:latin typeface="Calibri"/>
              </a:rPr>
              <a:t>bench.getConf().setLong(...) stops at getConf</a:t>
            </a:r>
          </a:p>
        </p:txBody>
      </p:sp>
      <p:sp>
        <p:nvSpPr>
          <p:cNvPr id="11" name="TextBox 10"/>
          <p:cNvSpPr txBox="1"/>
          <p:nvPr/>
        </p:nvSpPr>
        <p:spPr>
          <a:xfrm>
            <a:off x="6949440" y="2596896"/>
            <a:ext cx="1920240" cy="274320"/>
          </a:xfrm>
          <a:prstGeom prst="rect">
            <a:avLst/>
          </a:prstGeom>
          <a:noFill/>
        </p:spPr>
        <p:txBody>
          <a:bodyPr wrap="square" lIns="0" rIns="0" tIns="0" bIns="0" anchor="t">
            <a:spAutoFit/>
          </a:bodyPr>
          <a:lstStyle/>
          <a:p>
            <a:pPr>
              <a:spcBef>
                <a:spcPts val="0"/>
              </a:spcBef>
              <a:spcAft>
                <a:spcPts val="0"/>
              </a:spcAft>
            </a:pPr>
            <a:r>
              <a:rPr sz="1350" b="1" i="0">
                <a:solidFill>
                  <a:srgbClr val="A8452B"/>
                </a:solidFill>
                <a:latin typeface="Calibri"/>
              </a:rPr>
              <a:t>Inheritance</a:t>
            </a:r>
          </a:p>
        </p:txBody>
      </p:sp>
      <p:sp>
        <p:nvSpPr>
          <p:cNvPr id="12" name="TextBox 11"/>
          <p:cNvSpPr txBox="1"/>
          <p:nvPr/>
        </p:nvSpPr>
        <p:spPr>
          <a:xfrm>
            <a:off x="8961119" y="2596896"/>
            <a:ext cx="3200400" cy="457200"/>
          </a:xfrm>
          <a:prstGeom prst="rect">
            <a:avLst/>
          </a:prstGeom>
          <a:noFill/>
        </p:spPr>
        <p:txBody>
          <a:bodyPr wrap="square" lIns="0" rIns="0" tIns="0" bIns="0" anchor="t">
            <a:spAutoFit/>
          </a:bodyPr>
          <a:lstStyle/>
          <a:p>
            <a:pPr>
              <a:lnSpc>
                <a:spcPct val="122000"/>
              </a:lnSpc>
              <a:spcBef>
                <a:spcPts val="0"/>
              </a:spcBef>
              <a:spcAft>
                <a:spcPts val="0"/>
              </a:spcAft>
            </a:pPr>
            <a:r>
              <a:rPr sz="1250" b="0" i="0">
                <a:solidFill>
                  <a:srgbClr val="3D4653"/>
                </a:solidFill>
                <a:latin typeface="Calibri"/>
              </a:rPr>
              <a:t>a method on a superclass is never found</a:t>
            </a:r>
          </a:p>
        </p:txBody>
      </p:sp>
      <p:sp>
        <p:nvSpPr>
          <p:cNvPr id="13" name="TextBox 12"/>
          <p:cNvSpPr txBox="1"/>
          <p:nvPr/>
        </p:nvSpPr>
        <p:spPr>
          <a:xfrm>
            <a:off x="6949440" y="3163824"/>
            <a:ext cx="1920240" cy="274320"/>
          </a:xfrm>
          <a:prstGeom prst="rect">
            <a:avLst/>
          </a:prstGeom>
          <a:noFill/>
        </p:spPr>
        <p:txBody>
          <a:bodyPr wrap="square" lIns="0" rIns="0" tIns="0" bIns="0" anchor="t">
            <a:spAutoFit/>
          </a:bodyPr>
          <a:lstStyle/>
          <a:p>
            <a:pPr>
              <a:spcBef>
                <a:spcPts val="0"/>
              </a:spcBef>
              <a:spcAft>
                <a:spcPts val="0"/>
              </a:spcAft>
            </a:pPr>
            <a:r>
              <a:rPr sz="1350" b="1" i="0">
                <a:solidFill>
                  <a:srgbClr val="A8452B"/>
                </a:solidFill>
                <a:latin typeface="Calibri"/>
              </a:rPr>
              <a:t>Overloads</a:t>
            </a:r>
          </a:p>
        </p:txBody>
      </p:sp>
      <p:sp>
        <p:nvSpPr>
          <p:cNvPr id="14" name="TextBox 13"/>
          <p:cNvSpPr txBox="1"/>
          <p:nvPr/>
        </p:nvSpPr>
        <p:spPr>
          <a:xfrm>
            <a:off x="8961119" y="3163824"/>
            <a:ext cx="3200400" cy="457200"/>
          </a:xfrm>
          <a:prstGeom prst="rect">
            <a:avLst/>
          </a:prstGeom>
          <a:noFill/>
        </p:spPr>
        <p:txBody>
          <a:bodyPr wrap="square" lIns="0" rIns="0" tIns="0" bIns="0" anchor="t">
            <a:spAutoFit/>
          </a:bodyPr>
          <a:lstStyle/>
          <a:p>
            <a:pPr>
              <a:lnSpc>
                <a:spcPct val="122000"/>
              </a:lnSpc>
              <a:spcBef>
                <a:spcPts val="0"/>
              </a:spcBef>
              <a:spcAft>
                <a:spcPts val="0"/>
              </a:spcAft>
            </a:pPr>
            <a:r>
              <a:rPr sz="1250" b="0" i="0">
                <a:solidFill>
                  <a:srgbClr val="3D4653"/>
                </a:solidFill>
                <a:latin typeface="Calibri"/>
              </a:rPr>
              <a:t>takes the first name match, ignores arity</a:t>
            </a:r>
          </a:p>
        </p:txBody>
      </p:sp>
      <p:sp>
        <p:nvSpPr>
          <p:cNvPr id="15" name="TextBox 14"/>
          <p:cNvSpPr txBox="1"/>
          <p:nvPr/>
        </p:nvSpPr>
        <p:spPr>
          <a:xfrm>
            <a:off x="6949440" y="3730752"/>
            <a:ext cx="1920240" cy="274320"/>
          </a:xfrm>
          <a:prstGeom prst="rect">
            <a:avLst/>
          </a:prstGeom>
          <a:noFill/>
        </p:spPr>
        <p:txBody>
          <a:bodyPr wrap="square" lIns="0" rIns="0" tIns="0" bIns="0" anchor="t">
            <a:spAutoFit/>
          </a:bodyPr>
          <a:lstStyle/>
          <a:p>
            <a:pPr>
              <a:spcBef>
                <a:spcPts val="0"/>
              </a:spcBef>
              <a:spcAft>
                <a:spcPts val="0"/>
              </a:spcAft>
            </a:pPr>
            <a:r>
              <a:rPr sz="1350" b="1" i="0">
                <a:solidFill>
                  <a:srgbClr val="A8452B"/>
                </a:solidFill>
                <a:latin typeface="Calibri"/>
              </a:rPr>
              <a:t>Runtime type</a:t>
            </a:r>
          </a:p>
        </p:txBody>
      </p:sp>
      <p:sp>
        <p:nvSpPr>
          <p:cNvPr id="16" name="TextBox 15"/>
          <p:cNvSpPr txBox="1"/>
          <p:nvPr/>
        </p:nvSpPr>
        <p:spPr>
          <a:xfrm>
            <a:off x="8961119" y="3730752"/>
            <a:ext cx="3200400" cy="457200"/>
          </a:xfrm>
          <a:prstGeom prst="rect">
            <a:avLst/>
          </a:prstGeom>
          <a:noFill/>
        </p:spPr>
        <p:txBody>
          <a:bodyPr wrap="square" lIns="0" rIns="0" tIns="0" bIns="0" anchor="t">
            <a:spAutoFit/>
          </a:bodyPr>
          <a:lstStyle/>
          <a:p>
            <a:pPr>
              <a:lnSpc>
                <a:spcPct val="122000"/>
              </a:lnSpc>
              <a:spcBef>
                <a:spcPts val="0"/>
              </a:spcBef>
              <a:spcAft>
                <a:spcPts val="0"/>
              </a:spcAft>
            </a:pPr>
            <a:r>
              <a:rPr sz="1250" b="0" i="0">
                <a:solidFill>
                  <a:srgbClr val="3D4653"/>
                </a:solidFill>
                <a:latin typeface="Calibri"/>
              </a:rPr>
              <a:t>uses the declared type, misses overrides</a:t>
            </a:r>
          </a:p>
        </p:txBody>
      </p:sp>
      <p:sp>
        <p:nvSpPr>
          <p:cNvPr id="17" name="TextBox 16"/>
          <p:cNvSpPr txBox="1"/>
          <p:nvPr/>
        </p:nvSpPr>
        <p:spPr>
          <a:xfrm>
            <a:off x="6949440" y="4297680"/>
            <a:ext cx="1920240" cy="274320"/>
          </a:xfrm>
          <a:prstGeom prst="rect">
            <a:avLst/>
          </a:prstGeom>
          <a:noFill/>
        </p:spPr>
        <p:txBody>
          <a:bodyPr wrap="square" lIns="0" rIns="0" tIns="0" bIns="0" anchor="t">
            <a:spAutoFit/>
          </a:bodyPr>
          <a:lstStyle/>
          <a:p>
            <a:pPr>
              <a:spcBef>
                <a:spcPts val="0"/>
              </a:spcBef>
              <a:spcAft>
                <a:spcPts val="0"/>
              </a:spcAft>
            </a:pPr>
            <a:r>
              <a:rPr sz="1350" b="1" i="0">
                <a:solidFill>
                  <a:srgbClr val="A8452B"/>
                </a:solidFill>
                <a:latin typeface="Calibri"/>
              </a:rPr>
              <a:t>Same simple name</a:t>
            </a:r>
          </a:p>
        </p:txBody>
      </p:sp>
      <p:sp>
        <p:nvSpPr>
          <p:cNvPr id="18" name="TextBox 17"/>
          <p:cNvSpPr txBox="1"/>
          <p:nvPr/>
        </p:nvSpPr>
        <p:spPr>
          <a:xfrm>
            <a:off x="8961119" y="4297680"/>
            <a:ext cx="3200400" cy="457200"/>
          </a:xfrm>
          <a:prstGeom prst="rect">
            <a:avLst/>
          </a:prstGeom>
          <a:noFill/>
        </p:spPr>
        <p:txBody>
          <a:bodyPr wrap="square" lIns="0" rIns="0" tIns="0" bIns="0" anchor="t">
            <a:spAutoFit/>
          </a:bodyPr>
          <a:lstStyle/>
          <a:p>
            <a:pPr>
              <a:lnSpc>
                <a:spcPct val="122000"/>
              </a:lnSpc>
              <a:spcBef>
                <a:spcPts val="0"/>
              </a:spcBef>
              <a:spcAft>
                <a:spcPts val="0"/>
              </a:spcAft>
            </a:pPr>
            <a:r>
              <a:rPr sz="1250" b="0" i="0">
                <a:solidFill>
                  <a:srgbClr val="3D4653"/>
                </a:solidFill>
                <a:latin typeface="Calibri"/>
              </a:rPr>
              <a:t>resolves classes by filename only</a:t>
            </a:r>
          </a:p>
        </p:txBody>
      </p:sp>
      <p:sp>
        <p:nvSpPr>
          <p:cNvPr id="19" name="TextBox 18"/>
          <p:cNvSpPr txBox="1"/>
          <p:nvPr/>
        </p:nvSpPr>
        <p:spPr>
          <a:xfrm>
            <a:off x="6949440" y="4956048"/>
            <a:ext cx="5212080" cy="731520"/>
          </a:xfrm>
          <a:prstGeom prst="rect">
            <a:avLst/>
          </a:prstGeom>
          <a:noFill/>
        </p:spPr>
        <p:txBody>
          <a:bodyPr wrap="square" lIns="0" rIns="0" tIns="0" bIns="0" anchor="t">
            <a:spAutoFit/>
          </a:bodyPr>
          <a:lstStyle/>
          <a:p>
            <a:pPr>
              <a:lnSpc>
                <a:spcPct val="126000"/>
              </a:lnSpc>
              <a:spcBef>
                <a:spcPts val="0"/>
              </a:spcBef>
              <a:spcAft>
                <a:spcPts val="0"/>
              </a:spcAft>
            </a:pPr>
            <a:r>
              <a:rPr sz="1300" b="0" i="0">
                <a:solidFill>
                  <a:srgbClr val="6B7684"/>
                </a:solidFill>
                <a:latin typeface="Calibri"/>
              </a:rPr>
              <a:t>Of 263 candidate types seen in the test bodies, 103 resolved to project code. Some of the remainder are genuine misses and this method cannot say which.</a:t>
            </a:r>
          </a:p>
        </p:txBody>
      </p:sp>
      <p:sp>
        <p:nvSpPr>
          <p:cNvPr id="20" name="Rectangle 19"/>
          <p:cNvSpPr/>
          <p:nvPr/>
        </p:nvSpPr>
        <p:spPr>
          <a:xfrm>
            <a:off x="777240" y="5760720"/>
            <a:ext cx="10637215" cy="658368"/>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5760720"/>
            <a:ext cx="45720" cy="658368"/>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943600"/>
            <a:ext cx="10241280" cy="457200"/>
          </a:xfrm>
          <a:prstGeom prst="rect">
            <a:avLst/>
          </a:prstGeom>
          <a:noFill/>
        </p:spPr>
        <p:txBody>
          <a:bodyPr wrap="square" lIns="0" rIns="0" tIns="0" bIns="0" anchor="t">
            <a:spAutoFit/>
          </a:bodyPr>
          <a:lstStyle/>
          <a:p>
            <a:pPr>
              <a:spcBef>
                <a:spcPts val="0"/>
              </a:spcBef>
              <a:spcAft>
                <a:spcPts val="0"/>
              </a:spcAft>
            </a:pPr>
            <a:r>
              <a:rPr sz="1450" b="1" i="0">
                <a:solidFill>
                  <a:srgbClr val="2F4858"/>
                </a:solidFill>
                <a:latin typeface="Calibri"/>
              </a:rPr>
              <a:t>At depth 2 these errors compound: every unresolved call silently removes a subtree. This is where a real resolver stops being optional.</a:t>
            </a:r>
          </a:p>
        </p:txBody>
      </p:sp>
      <p:sp>
        <p:nvSpPr>
          <p:cNvPr id="23" name="TextBox 22"/>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RESULT</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Depth-1 callees do not help</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00784"/>
            <a:ext cx="10637215" cy="822960"/>
          </a:xfrm>
          <a:prstGeom prst="rect">
            <a:avLst/>
          </a:prstGeom>
          <a:noFill/>
        </p:spPr>
        <p:txBody>
          <a:bodyPr wrap="square" lIns="0" rIns="0" tIns="0" bIns="0" anchor="t">
            <a:spAutoFit/>
          </a:bodyPr>
          <a:lstStyle/>
          <a:p>
            <a:pPr>
              <a:lnSpc>
                <a:spcPct val="128000"/>
              </a:lnSpc>
              <a:spcBef>
                <a:spcPts val="0"/>
              </a:spcBef>
              <a:spcAft>
                <a:spcPts val="0"/>
              </a:spcAft>
            </a:pPr>
            <a:r>
              <a:rPr sz="1450" b="0" i="0">
                <a:solidFill>
                  <a:srgbClr val="6B7684"/>
                </a:solidFill>
                <a:latin typeface="Calibri"/>
              </a:rPr>
              <a:t>78 of the 80 tests resolve at least one callee, median 2.</a:t>
            </a:r>
          </a:p>
        </p:txBody>
      </p:sp>
      <p:sp>
        <p:nvSpPr>
          <p:cNvPr id="6" name="Rectangle 5"/>
          <p:cNvSpPr/>
          <p:nvPr/>
        </p:nvSpPr>
        <p:spPr>
          <a:xfrm>
            <a:off x="777240" y="2057400"/>
            <a:ext cx="10607040" cy="347472"/>
          </a:xfrm>
          <a:prstGeom prst="rect">
            <a:avLst/>
          </a:prstGeom>
          <a:solidFill>
            <a:srgbClr val="F0F2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30552"/>
            <a:ext cx="3803904" cy="237744"/>
          </a:xfrm>
          <a:prstGeom prst="rect">
            <a:avLst/>
          </a:prstGeom>
          <a:noFill/>
        </p:spPr>
        <p:txBody>
          <a:bodyPr wrap="square" lIns="0" rIns="0" tIns="0" bIns="0" anchor="t">
            <a:spAutoFit/>
          </a:bodyPr>
          <a:lstStyle/>
          <a:p>
            <a:pPr algn="l">
              <a:spcBef>
                <a:spcPts val="0"/>
              </a:spcBef>
              <a:spcAft>
                <a:spcPts val="0"/>
              </a:spcAft>
            </a:pPr>
            <a:r>
              <a:rPr sz="1050" b="1" i="0">
                <a:solidFill>
                  <a:srgbClr val="6B7684"/>
                </a:solidFill>
                <a:latin typeface="Consolas"/>
              </a:rPr>
              <a:t>MEASURE</a:t>
            </a:r>
          </a:p>
        </p:txBody>
      </p:sp>
      <p:sp>
        <p:nvSpPr>
          <p:cNvPr id="8" name="TextBox 7"/>
          <p:cNvSpPr txBox="1"/>
          <p:nvPr/>
        </p:nvSpPr>
        <p:spPr>
          <a:xfrm>
            <a:off x="4910328" y="2130552"/>
            <a:ext cx="1975104" cy="237744"/>
          </a:xfrm>
          <a:prstGeom prst="rect">
            <a:avLst/>
          </a:prstGeom>
          <a:noFill/>
        </p:spPr>
        <p:txBody>
          <a:bodyPr wrap="square" lIns="0" rIns="0" tIns="0" bIns="0" anchor="t">
            <a:spAutoFit/>
          </a:bodyPr>
          <a:lstStyle/>
          <a:p>
            <a:pPr algn="r">
              <a:spcBef>
                <a:spcPts val="0"/>
              </a:spcBef>
              <a:spcAft>
                <a:spcPts val="0"/>
              </a:spcAft>
            </a:pPr>
            <a:r>
              <a:rPr sz="1050" b="1" i="0">
                <a:solidFill>
                  <a:srgbClr val="6B7684"/>
                </a:solidFill>
                <a:latin typeface="Consolas"/>
              </a:rPr>
              <a:t>BODY ONLY</a:t>
            </a:r>
          </a:p>
        </p:txBody>
      </p:sp>
      <p:sp>
        <p:nvSpPr>
          <p:cNvPr id="9" name="TextBox 8"/>
          <p:cNvSpPr txBox="1"/>
          <p:nvPr/>
        </p:nvSpPr>
        <p:spPr>
          <a:xfrm>
            <a:off x="7104888" y="2130552"/>
            <a:ext cx="1975104" cy="237744"/>
          </a:xfrm>
          <a:prstGeom prst="rect">
            <a:avLst/>
          </a:prstGeom>
          <a:noFill/>
        </p:spPr>
        <p:txBody>
          <a:bodyPr wrap="square" lIns="0" rIns="0" tIns="0" bIns="0" anchor="t">
            <a:spAutoFit/>
          </a:bodyPr>
          <a:lstStyle/>
          <a:p>
            <a:pPr algn="r">
              <a:spcBef>
                <a:spcPts val="0"/>
              </a:spcBef>
              <a:spcAft>
                <a:spcPts val="0"/>
              </a:spcAft>
            </a:pPr>
            <a:r>
              <a:rPr sz="1050" b="1" i="0">
                <a:solidFill>
                  <a:srgbClr val="6B7684"/>
                </a:solidFill>
                <a:latin typeface="Consolas"/>
              </a:rPr>
              <a:t>BODY + CALLEES</a:t>
            </a:r>
          </a:p>
        </p:txBody>
      </p:sp>
      <p:sp>
        <p:nvSpPr>
          <p:cNvPr id="10" name="TextBox 9"/>
          <p:cNvSpPr txBox="1"/>
          <p:nvPr/>
        </p:nvSpPr>
        <p:spPr>
          <a:xfrm>
            <a:off x="9299448" y="2130552"/>
            <a:ext cx="1975104" cy="237744"/>
          </a:xfrm>
          <a:prstGeom prst="rect">
            <a:avLst/>
          </a:prstGeom>
          <a:noFill/>
        </p:spPr>
        <p:txBody>
          <a:bodyPr wrap="square" lIns="0" rIns="0" tIns="0" bIns="0" anchor="t">
            <a:spAutoFit/>
          </a:bodyPr>
          <a:lstStyle/>
          <a:p>
            <a:pPr algn="r">
              <a:spcBef>
                <a:spcPts val="0"/>
              </a:spcBef>
              <a:spcAft>
                <a:spcPts val="0"/>
              </a:spcAft>
            </a:pPr>
            <a:r>
              <a:rPr sz="1050" b="1" i="0">
                <a:solidFill>
                  <a:srgbClr val="6B7684"/>
                </a:solidFill>
                <a:latin typeface="Consolas"/>
              </a:rPr>
              <a:t>BODY + FIXTURES</a:t>
            </a:r>
          </a:p>
        </p:txBody>
      </p:sp>
      <p:sp>
        <p:nvSpPr>
          <p:cNvPr id="11" name="TextBox 10"/>
          <p:cNvSpPr txBox="1"/>
          <p:nvPr/>
        </p:nvSpPr>
        <p:spPr>
          <a:xfrm>
            <a:off x="886968" y="2478024"/>
            <a:ext cx="380390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argmax accuracy</a:t>
            </a:r>
          </a:p>
        </p:txBody>
      </p:sp>
      <p:sp>
        <p:nvSpPr>
          <p:cNvPr id="12" name="TextBox 11"/>
          <p:cNvSpPr txBox="1"/>
          <p:nvPr/>
        </p:nvSpPr>
        <p:spPr>
          <a:xfrm>
            <a:off x="4910328" y="247802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22.5%</a:t>
            </a:r>
          </a:p>
        </p:txBody>
      </p:sp>
      <p:sp>
        <p:nvSpPr>
          <p:cNvPr id="13" name="TextBox 12"/>
          <p:cNvSpPr txBox="1"/>
          <p:nvPr/>
        </p:nvSpPr>
        <p:spPr>
          <a:xfrm>
            <a:off x="7104888" y="247802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11.2%</a:t>
            </a:r>
          </a:p>
        </p:txBody>
      </p:sp>
      <p:sp>
        <p:nvSpPr>
          <p:cNvPr id="14" name="TextBox 13"/>
          <p:cNvSpPr txBox="1"/>
          <p:nvPr/>
        </p:nvSpPr>
        <p:spPr>
          <a:xfrm>
            <a:off x="9299448" y="247802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52.5%</a:t>
            </a:r>
          </a:p>
        </p:txBody>
      </p:sp>
      <p:sp>
        <p:nvSpPr>
          <p:cNvPr id="15" name="Rectangle 14"/>
          <p:cNvSpPr/>
          <p:nvPr/>
        </p:nvSpPr>
        <p:spPr>
          <a:xfrm>
            <a:off x="777240" y="276148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2843784"/>
            <a:ext cx="380390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trained macro-F1</a:t>
            </a:r>
          </a:p>
        </p:txBody>
      </p:sp>
      <p:sp>
        <p:nvSpPr>
          <p:cNvPr id="17" name="TextBox 16"/>
          <p:cNvSpPr txBox="1"/>
          <p:nvPr/>
        </p:nvSpPr>
        <p:spPr>
          <a:xfrm>
            <a:off x="4910328" y="284378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0.253</a:t>
            </a:r>
          </a:p>
        </p:txBody>
      </p:sp>
      <p:sp>
        <p:nvSpPr>
          <p:cNvPr id="18" name="TextBox 17"/>
          <p:cNvSpPr txBox="1"/>
          <p:nvPr/>
        </p:nvSpPr>
        <p:spPr>
          <a:xfrm>
            <a:off x="7104888" y="284378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0.273</a:t>
            </a:r>
          </a:p>
        </p:txBody>
      </p:sp>
      <p:sp>
        <p:nvSpPr>
          <p:cNvPr id="19" name="TextBox 18"/>
          <p:cNvSpPr txBox="1"/>
          <p:nvPr/>
        </p:nvSpPr>
        <p:spPr>
          <a:xfrm>
            <a:off x="9299448" y="284378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0.397</a:t>
            </a:r>
          </a:p>
        </p:txBody>
      </p:sp>
      <p:sp>
        <p:nvSpPr>
          <p:cNvPr id="20" name="Rectangle 19"/>
          <p:cNvSpPr/>
          <p:nvPr/>
        </p:nvSpPr>
        <p:spPr>
          <a:xfrm>
            <a:off x="777240" y="312724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3209544"/>
            <a:ext cx="380390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delta vs body only</a:t>
            </a:r>
          </a:p>
        </p:txBody>
      </p:sp>
      <p:sp>
        <p:nvSpPr>
          <p:cNvPr id="22" name="TextBox 21"/>
          <p:cNvSpPr txBox="1"/>
          <p:nvPr/>
        </p:nvSpPr>
        <p:spPr>
          <a:xfrm>
            <a:off x="4910328" y="320954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a:t>
            </a:r>
          </a:p>
        </p:txBody>
      </p:sp>
      <p:sp>
        <p:nvSpPr>
          <p:cNvPr id="23" name="TextBox 22"/>
          <p:cNvSpPr txBox="1"/>
          <p:nvPr/>
        </p:nvSpPr>
        <p:spPr>
          <a:xfrm>
            <a:off x="7104888" y="320954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+0.020</a:t>
            </a:r>
          </a:p>
        </p:txBody>
      </p:sp>
      <p:sp>
        <p:nvSpPr>
          <p:cNvPr id="24" name="TextBox 23"/>
          <p:cNvSpPr txBox="1"/>
          <p:nvPr/>
        </p:nvSpPr>
        <p:spPr>
          <a:xfrm>
            <a:off x="9299448" y="3209544"/>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+0.145</a:t>
            </a:r>
          </a:p>
        </p:txBody>
      </p:sp>
      <p:sp>
        <p:nvSpPr>
          <p:cNvPr id="25" name="Rectangle 24"/>
          <p:cNvSpPr/>
          <p:nvPr/>
        </p:nvSpPr>
        <p:spPr>
          <a:xfrm>
            <a:off x="777240" y="349300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6968" y="3575303"/>
            <a:ext cx="380390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95% CI</a:t>
            </a:r>
          </a:p>
        </p:txBody>
      </p:sp>
      <p:sp>
        <p:nvSpPr>
          <p:cNvPr id="27" name="TextBox 26"/>
          <p:cNvSpPr txBox="1"/>
          <p:nvPr/>
        </p:nvSpPr>
        <p:spPr>
          <a:xfrm>
            <a:off x="4910328" y="357530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a:t>
            </a:r>
          </a:p>
        </p:txBody>
      </p:sp>
      <p:sp>
        <p:nvSpPr>
          <p:cNvPr id="28" name="TextBox 27"/>
          <p:cNvSpPr txBox="1"/>
          <p:nvPr/>
        </p:nvSpPr>
        <p:spPr>
          <a:xfrm>
            <a:off x="7104888" y="357530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[-0.001, +0.042]</a:t>
            </a:r>
          </a:p>
        </p:txBody>
      </p:sp>
      <p:sp>
        <p:nvSpPr>
          <p:cNvPr id="29" name="TextBox 28"/>
          <p:cNvSpPr txBox="1"/>
          <p:nvPr/>
        </p:nvSpPr>
        <p:spPr>
          <a:xfrm>
            <a:off x="9299448" y="357530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[+0.117, +0.171]</a:t>
            </a:r>
          </a:p>
        </p:txBody>
      </p:sp>
      <p:sp>
        <p:nvSpPr>
          <p:cNvPr id="30" name="Rectangle 29"/>
          <p:cNvSpPr/>
          <p:nvPr/>
        </p:nvSpPr>
        <p:spPr>
          <a:xfrm>
            <a:off x="777240" y="385876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3941063"/>
            <a:ext cx="3803904" cy="256032"/>
          </a:xfrm>
          <a:prstGeom prst="rect">
            <a:avLst/>
          </a:prstGeom>
          <a:noFill/>
        </p:spPr>
        <p:txBody>
          <a:bodyPr wrap="square" lIns="0" rIns="0" tIns="0" bIns="0" anchor="t">
            <a:spAutoFit/>
          </a:bodyPr>
          <a:lstStyle/>
          <a:p>
            <a:pPr algn="l">
              <a:spcBef>
                <a:spcPts val="0"/>
              </a:spcBef>
              <a:spcAft>
                <a:spcPts val="0"/>
              </a:spcAft>
            </a:pPr>
            <a:r>
              <a:rPr sz="1250" b="0" i="0">
                <a:solidFill>
                  <a:srgbClr val="3D4653"/>
                </a:solidFill>
                <a:latin typeface="Calibri"/>
              </a:rPr>
              <a:t>order-dependency recall</a:t>
            </a:r>
          </a:p>
        </p:txBody>
      </p:sp>
      <p:sp>
        <p:nvSpPr>
          <p:cNvPr id="32" name="TextBox 31"/>
          <p:cNvSpPr txBox="1"/>
          <p:nvPr/>
        </p:nvSpPr>
        <p:spPr>
          <a:xfrm>
            <a:off x="4910328" y="394106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15%</a:t>
            </a:r>
          </a:p>
        </p:txBody>
      </p:sp>
      <p:sp>
        <p:nvSpPr>
          <p:cNvPr id="33" name="TextBox 32"/>
          <p:cNvSpPr txBox="1"/>
          <p:nvPr/>
        </p:nvSpPr>
        <p:spPr>
          <a:xfrm>
            <a:off x="7104888" y="394106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4%</a:t>
            </a:r>
          </a:p>
        </p:txBody>
      </p:sp>
      <p:sp>
        <p:nvSpPr>
          <p:cNvPr id="34" name="TextBox 33"/>
          <p:cNvSpPr txBox="1"/>
          <p:nvPr/>
        </p:nvSpPr>
        <p:spPr>
          <a:xfrm>
            <a:off x="9299448" y="3941063"/>
            <a:ext cx="1975104" cy="256032"/>
          </a:xfrm>
          <a:prstGeom prst="rect">
            <a:avLst/>
          </a:prstGeom>
          <a:noFill/>
        </p:spPr>
        <p:txBody>
          <a:bodyPr wrap="square" lIns="0" rIns="0" tIns="0" bIns="0" anchor="t">
            <a:spAutoFit/>
          </a:bodyPr>
          <a:lstStyle/>
          <a:p>
            <a:pPr algn="r">
              <a:spcBef>
                <a:spcPts val="0"/>
              </a:spcBef>
              <a:spcAft>
                <a:spcPts val="0"/>
              </a:spcAft>
            </a:pPr>
            <a:r>
              <a:rPr sz="1250" b="0" i="0">
                <a:solidFill>
                  <a:srgbClr val="3D4653"/>
                </a:solidFill>
                <a:latin typeface="Consolas"/>
              </a:rPr>
              <a:t>70%</a:t>
            </a:r>
          </a:p>
        </p:txBody>
      </p:sp>
      <p:sp>
        <p:nvSpPr>
          <p:cNvPr id="35" name="Rectangle 34"/>
          <p:cNvSpPr/>
          <p:nvPr/>
        </p:nvSpPr>
        <p:spPr>
          <a:xfrm>
            <a:off x="777240" y="4224528"/>
            <a:ext cx="10607040"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4434840"/>
            <a:ext cx="10637215" cy="731520"/>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434840"/>
            <a:ext cx="45720" cy="731520"/>
          </a:xfrm>
          <a:prstGeom prst="rect">
            <a:avLst/>
          </a:prstGeom>
          <a:solidFill>
            <a:srgbClr val="2F4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1560" y="4608576"/>
            <a:ext cx="10241280" cy="548640"/>
          </a:xfrm>
          <a:prstGeom prst="rect">
            <a:avLst/>
          </a:prstGeom>
          <a:noFill/>
        </p:spPr>
        <p:txBody>
          <a:bodyPr wrap="square" lIns="0" rIns="0" tIns="0" bIns="0" anchor="t">
            <a:spAutoFit/>
          </a:bodyPr>
          <a:lstStyle/>
          <a:p>
            <a:pPr>
              <a:lnSpc>
                <a:spcPct val="126000"/>
              </a:lnSpc>
              <a:spcBef>
                <a:spcPts val="0"/>
              </a:spcBef>
              <a:spcAft>
                <a:spcPts val="0"/>
              </a:spcAft>
            </a:pPr>
            <a:r>
              <a:rPr sz="1450" b="1" i="0">
                <a:solidFill>
                  <a:srgbClr val="2F4858"/>
                </a:solidFill>
                <a:latin typeface="Calibri"/>
              </a:rPr>
              <a:t>Callees are the only slice that makes the untrained argmax worse than the body alone, and their interval is the one that crosses zero. Yet the slice does carry signal: it holds the true category for 33% of the misses against 5% of the hits.</a:t>
            </a:r>
          </a:p>
        </p:txBody>
      </p:sp>
      <p:sp>
        <p:nvSpPr>
          <p:cNvPr id="39" name="TextBox 38"/>
          <p:cNvSpPr txBox="1"/>
          <p:nvPr/>
        </p:nvSpPr>
        <p:spPr>
          <a:xfrm>
            <a:off x="777240" y="5394960"/>
            <a:ext cx="512064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Two reasons it fails</a:t>
            </a:r>
          </a:p>
        </p:txBody>
      </p:sp>
      <p:sp>
        <p:nvSpPr>
          <p:cNvPr id="40" name="TextBox 39"/>
          <p:cNvSpPr txBox="1"/>
          <p:nvPr/>
        </p:nvSpPr>
        <p:spPr>
          <a:xfrm>
            <a:off x="777240" y="5669280"/>
            <a:ext cx="5120640" cy="73152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Depth 1 is too shallow: in TestPeerCache the daemon is three hops out. And production bodies are long, so one bag dilutes the body's own signal.</a:t>
            </a:r>
          </a:p>
        </p:txBody>
      </p:sp>
      <p:sp>
        <p:nvSpPr>
          <p:cNvPr id="41" name="TextBox 40"/>
          <p:cNvSpPr txBox="1"/>
          <p:nvPr/>
        </p:nvSpPr>
        <p:spPr>
          <a:xfrm>
            <a:off x="6309359" y="5394960"/>
            <a:ext cx="5852160" cy="274320"/>
          </a:xfrm>
          <a:prstGeom prst="rect">
            <a:avLst/>
          </a:prstGeom>
          <a:noFill/>
        </p:spPr>
        <p:txBody>
          <a:bodyPr wrap="square" lIns="0" rIns="0" tIns="0" bIns="0" anchor="t">
            <a:spAutoFit/>
          </a:bodyPr>
          <a:lstStyle/>
          <a:p>
            <a:pPr>
              <a:spcBef>
                <a:spcPts val="0"/>
              </a:spcBef>
              <a:spcAft>
                <a:spcPts val="0"/>
              </a:spcAft>
            </a:pPr>
            <a:r>
              <a:rPr sz="1400" b="1" i="0">
                <a:solidFill>
                  <a:srgbClr val="151A21"/>
                </a:solidFill>
                <a:latin typeface="Calibri"/>
              </a:rPr>
              <a:t>What we would change</a:t>
            </a:r>
          </a:p>
        </p:txBody>
      </p:sp>
      <p:sp>
        <p:nvSpPr>
          <p:cNvPr id="42" name="TextBox 41"/>
          <p:cNvSpPr txBox="1"/>
          <p:nvPr/>
        </p:nvSpPr>
        <p:spPr>
          <a:xfrm>
            <a:off x="6309359" y="5669280"/>
            <a:ext cx="5852160" cy="731520"/>
          </a:xfrm>
          <a:prstGeom prst="rect">
            <a:avLst/>
          </a:prstGeom>
          <a:noFill/>
        </p:spPr>
        <p:txBody>
          <a:bodyPr wrap="square" lIns="0" rIns="0" tIns="0" bIns="0" anchor="t">
            <a:spAutoFit/>
          </a:bodyPr>
          <a:lstStyle/>
          <a:p>
            <a:pPr>
              <a:lnSpc>
                <a:spcPct val="124000"/>
              </a:lnSpc>
              <a:spcBef>
                <a:spcPts val="0"/>
              </a:spcBef>
              <a:spcAft>
                <a:spcPts val="0"/>
              </a:spcAft>
            </a:pPr>
            <a:r>
              <a:rPr sz="1300" b="0" i="0">
                <a:solidFill>
                  <a:srgbClr val="3D4653"/>
                </a:solidFill>
                <a:latin typeface="Calibri"/>
              </a:rPr>
              <a:t>Go deeper than 1, keep callees a separate feature group rather than concatenated, and expect the gain in concurrency, not order dependency.</a:t>
            </a:r>
          </a:p>
        </p:txBody>
      </p:sp>
      <p:sp>
        <p:nvSpPr>
          <p:cNvPr id="43" name="TextBox 42"/>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SUMMARY</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What we have established</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01368"/>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1</a:t>
            </a:r>
          </a:p>
        </p:txBody>
      </p:sp>
      <p:sp>
        <p:nvSpPr>
          <p:cNvPr id="6" name="TextBox 5"/>
          <p:cNvSpPr txBox="1"/>
          <p:nvPr/>
        </p:nvSpPr>
        <p:spPr>
          <a:xfrm>
            <a:off x="1188720" y="1783080"/>
            <a:ext cx="1005840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Context outside the test body carries category signal</a:t>
            </a:r>
          </a:p>
        </p:txBody>
      </p:sp>
      <p:sp>
        <p:nvSpPr>
          <p:cNvPr id="7" name="TextBox 6"/>
          <p:cNvSpPr txBox="1"/>
          <p:nvPr/>
        </p:nvSpPr>
        <p:spPr>
          <a:xfrm>
            <a:off x="1188720" y="2093976"/>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Adding class fields and fixtures raises the untrained classifier from 32% to 54% accuracy, and the trained one by +0.096 macro-F1, CI [+0.075, +0.118], permutation p &lt;= 0.003.</a:t>
            </a:r>
          </a:p>
        </p:txBody>
      </p:sp>
      <p:sp>
        <p:nvSpPr>
          <p:cNvPr id="8" name="Rectangle 7"/>
          <p:cNvSpPr/>
          <p:nvPr/>
        </p:nvSpPr>
        <p:spPr>
          <a:xfrm>
            <a:off x="777240" y="271576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16936"/>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2</a:t>
            </a:r>
          </a:p>
        </p:txBody>
      </p:sp>
      <p:sp>
        <p:nvSpPr>
          <p:cNvPr id="10" name="TextBox 9"/>
          <p:cNvSpPr txBox="1"/>
          <p:nvPr/>
        </p:nvSpPr>
        <p:spPr>
          <a:xfrm>
            <a:off x="1188720" y="2898648"/>
            <a:ext cx="1005840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The gain is concentrated in order dependency</a:t>
            </a:r>
          </a:p>
        </p:txBody>
      </p:sp>
      <p:sp>
        <p:nvSpPr>
          <p:cNvPr id="11" name="TextBox 10"/>
          <p:cNvSpPr txBox="1"/>
          <p:nvPr/>
        </p:nvSpPr>
        <p:spPr>
          <a:xfrm>
            <a:off x="1188720" y="3209544"/>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Its recall goes 20% to 70%. No other category improves. Fields, fixtures and siblings each help alone; siblings are redundant once fixtures are present.</a:t>
            </a:r>
          </a:p>
        </p:txBody>
      </p:sp>
      <p:sp>
        <p:nvSpPr>
          <p:cNvPr id="12" name="Rectangle 11"/>
          <p:cNvSpPr/>
          <p:nvPr/>
        </p:nvSpPr>
        <p:spPr>
          <a:xfrm>
            <a:off x="777240" y="3831335"/>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32503"/>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3</a:t>
            </a:r>
          </a:p>
        </p:txBody>
      </p:sp>
      <p:sp>
        <p:nvSpPr>
          <p:cNvPr id="14" name="TextBox 13"/>
          <p:cNvSpPr txBox="1"/>
          <p:nvPr/>
        </p:nvSpPr>
        <p:spPr>
          <a:xfrm>
            <a:off x="1188720" y="4014215"/>
            <a:ext cx="1005840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Fields are the sharpest single signal</a:t>
            </a:r>
          </a:p>
        </p:txBody>
      </p:sp>
      <p:sp>
        <p:nvSpPr>
          <p:cNvPr id="15" name="TextBox 14"/>
          <p:cNvSpPr txBox="1"/>
          <p:nvPr/>
        </p:nvSpPr>
        <p:spPr>
          <a:xfrm>
            <a:off x="1188720" y="4325112"/>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They carry the true category for 49% of the model's misses and 12% of its hits. They are also the cheapest thing to extract: no resolution, no build.</a:t>
            </a:r>
          </a:p>
        </p:txBody>
      </p:sp>
      <p:sp>
        <p:nvSpPr>
          <p:cNvPr id="16" name="Rectangle 15"/>
          <p:cNvSpPr/>
          <p:nvPr/>
        </p:nvSpPr>
        <p:spPr>
          <a:xfrm>
            <a:off x="777240" y="4946903"/>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148071"/>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4</a:t>
            </a:r>
          </a:p>
        </p:txBody>
      </p:sp>
      <p:sp>
        <p:nvSpPr>
          <p:cNvPr id="18" name="TextBox 17"/>
          <p:cNvSpPr txBox="1"/>
          <p:nvPr/>
        </p:nvSpPr>
        <p:spPr>
          <a:xfrm>
            <a:off x="1188720" y="5129783"/>
            <a:ext cx="10058400"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Depth-1 callees are implemented but do not yet pay</a:t>
            </a:r>
          </a:p>
        </p:txBody>
      </p:sp>
      <p:sp>
        <p:nvSpPr>
          <p:cNvPr id="19" name="TextBox 18"/>
          <p:cNvSpPr txBox="1"/>
          <p:nvPr/>
        </p:nvSpPr>
        <p:spPr>
          <a:xfrm>
            <a:off x="1188720" y="5440679"/>
            <a:ext cx="10058400" cy="73152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The signal is present, 33% against 5%, but regex resolution and a depth of 1 cannot reach it.</a:t>
            </a:r>
          </a:p>
        </p:txBody>
      </p:sp>
      <p:sp>
        <p:nvSpPr>
          <p:cNvPr id="20" name="TextBox 19"/>
          <p:cNvSpPr txBox="1"/>
          <p:nvPr/>
        </p:nvSpPr>
        <p:spPr>
          <a:xfrm>
            <a:off x="777240" y="6263640"/>
            <a:ext cx="10607040" cy="274320"/>
          </a:xfrm>
          <a:prstGeom prst="rect">
            <a:avLst/>
          </a:prstGeom>
          <a:noFill/>
        </p:spPr>
        <p:txBody>
          <a:bodyPr wrap="square" lIns="0" rIns="0" tIns="0" bIns="0" anchor="t">
            <a:spAutoFit/>
          </a:bodyPr>
          <a:lstStyle/>
          <a:p>
            <a:pPr>
              <a:spcBef>
                <a:spcPts val="0"/>
              </a:spcBef>
              <a:spcAft>
                <a:spcPts val="0"/>
              </a:spcAft>
            </a:pPr>
            <a:r>
              <a:rPr sz="1250" b="0" i="0">
                <a:solidFill>
                  <a:srgbClr val="6B7684"/>
                </a:solidFill>
                <a:latin typeface="Calibri"/>
              </a:rPr>
              <a:t>Caveat: 80 tests, order dependency is 46 of them, and a regex lexicon is a floor rather than a prediction of what a fine-tuned encoder would gain.</a:t>
            </a:r>
          </a:p>
        </p:txBody>
      </p:sp>
      <p:sp>
        <p:nvSpPr>
          <p:cNvPr id="21" name="TextBox 20"/>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420624"/>
            <a:ext cx="10515600" cy="274320"/>
          </a:xfrm>
          <a:prstGeom prst="rect">
            <a:avLst/>
          </a:prstGeom>
          <a:noFill/>
        </p:spPr>
        <p:txBody>
          <a:bodyPr wrap="square" lIns="0" rIns="0" tIns="0" bIns="0" anchor="t">
            <a:spAutoFit/>
          </a:bodyPr>
          <a:lstStyle/>
          <a:p>
            <a:pPr>
              <a:spcBef>
                <a:spcPts val="0"/>
              </a:spcBef>
              <a:spcAft>
                <a:spcPts val="0"/>
              </a:spcAft>
            </a:pPr>
            <a:r>
              <a:rPr sz="1050" b="0" i="0">
                <a:solidFill>
                  <a:srgbClr val="6B7684"/>
                </a:solidFill>
                <a:latin typeface="Consolas"/>
              </a:rPr>
              <a:t>NEXT</a:t>
            </a:r>
          </a:p>
        </p:txBody>
      </p:sp>
      <p:sp>
        <p:nvSpPr>
          <p:cNvPr id="3" name="TextBox 2"/>
          <p:cNvSpPr txBox="1"/>
          <p:nvPr/>
        </p:nvSpPr>
        <p:spPr>
          <a:xfrm>
            <a:off x="777240" y="768096"/>
            <a:ext cx="10789920" cy="731520"/>
          </a:xfrm>
          <a:prstGeom prst="rect">
            <a:avLst/>
          </a:prstGeom>
          <a:noFill/>
        </p:spPr>
        <p:txBody>
          <a:bodyPr wrap="square" lIns="0" rIns="0" tIns="0" bIns="0" anchor="t">
            <a:spAutoFit/>
          </a:bodyPr>
          <a:lstStyle/>
          <a:p>
            <a:pPr>
              <a:lnSpc>
                <a:spcPct val="105000"/>
              </a:lnSpc>
              <a:spcBef>
                <a:spcPts val="0"/>
              </a:spcBef>
              <a:spcAft>
                <a:spcPts val="0"/>
              </a:spcAft>
            </a:pPr>
            <a:r>
              <a:rPr sz="2800" b="1" i="0">
                <a:solidFill>
                  <a:srgbClr val="151A21"/>
                </a:solidFill>
                <a:latin typeface="Calibri"/>
              </a:rPr>
              <a:t>Proposed next steps</a:t>
            </a:r>
          </a:p>
        </p:txBody>
      </p:sp>
      <p:sp>
        <p:nvSpPr>
          <p:cNvPr id="4" name="Rectangle 3"/>
          <p:cNvSpPr/>
          <p:nvPr/>
        </p:nvSpPr>
        <p:spPr>
          <a:xfrm>
            <a:off x="777240" y="1481328"/>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73936"/>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1</a:t>
            </a:r>
          </a:p>
        </p:txBody>
      </p:sp>
      <p:sp>
        <p:nvSpPr>
          <p:cNvPr id="6" name="TextBox 5"/>
          <p:cNvSpPr txBox="1"/>
          <p:nvPr/>
        </p:nvSpPr>
        <p:spPr>
          <a:xfrm>
            <a:off x="1188720" y="1755648"/>
            <a:ext cx="7498079"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Replace the regex resolver with Spoon</a:t>
            </a:r>
          </a:p>
        </p:txBody>
      </p:sp>
      <p:sp>
        <p:nvSpPr>
          <p:cNvPr id="7" name="Rectangle 6"/>
          <p:cNvSpPr/>
          <p:nvPr/>
        </p:nvSpPr>
        <p:spPr>
          <a:xfrm>
            <a:off x="9759391" y="1773936"/>
            <a:ext cx="1655064" cy="25603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9391" y="1792224"/>
            <a:ext cx="1655064" cy="237744"/>
          </a:xfrm>
          <a:prstGeom prst="rect">
            <a:avLst/>
          </a:prstGeom>
          <a:noFill/>
        </p:spPr>
        <p:txBody>
          <a:bodyPr wrap="square" lIns="0" rIns="0" tIns="0" bIns="0" anchor="ctr">
            <a:spAutoFit/>
          </a:bodyPr>
          <a:lstStyle/>
          <a:p>
            <a:pPr algn="ctr">
              <a:spcBef>
                <a:spcPts val="0"/>
              </a:spcBef>
              <a:spcAft>
                <a:spcPts val="0"/>
              </a:spcAft>
            </a:pPr>
            <a:r>
              <a:rPr sz="1150" b="1" i="0">
                <a:solidFill>
                  <a:srgbClr val="2F4858"/>
                </a:solidFill>
                <a:latin typeface="Consolas"/>
              </a:rPr>
              <a:t>prototype works</a:t>
            </a:r>
          </a:p>
        </p:txBody>
      </p:sp>
      <p:sp>
        <p:nvSpPr>
          <p:cNvPr id="9" name="TextBox 8"/>
          <p:cNvSpPr txBox="1"/>
          <p:nvPr/>
        </p:nvSpPr>
        <p:spPr>
          <a:xfrm>
            <a:off x="1188720" y="2066543"/>
            <a:ext cx="9692640" cy="82296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Prototype already runs: JDK 11 and Maven are installed, Spoon 10.4.2 compiles, and it resolves PeerCache#put(DatanodeID, Peer) with full signatures and follows the call chain. Gives inheritance, overloads and real depth control.</a:t>
            </a:r>
          </a:p>
        </p:txBody>
      </p:sp>
      <p:sp>
        <p:nvSpPr>
          <p:cNvPr id="10" name="Rectangle 9"/>
          <p:cNvSpPr/>
          <p:nvPr/>
        </p:nvSpPr>
        <p:spPr>
          <a:xfrm>
            <a:off x="777240" y="2743199"/>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962656"/>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2</a:t>
            </a:r>
          </a:p>
        </p:txBody>
      </p:sp>
      <p:sp>
        <p:nvSpPr>
          <p:cNvPr id="12" name="TextBox 11"/>
          <p:cNvSpPr txBox="1"/>
          <p:nvPr/>
        </p:nvSpPr>
        <p:spPr>
          <a:xfrm>
            <a:off x="1188720" y="2944368"/>
            <a:ext cx="7498079"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Settle the depth question with evidence</a:t>
            </a:r>
          </a:p>
        </p:txBody>
      </p:sp>
      <p:sp>
        <p:nvSpPr>
          <p:cNvPr id="13" name="Rectangle 12"/>
          <p:cNvSpPr/>
          <p:nvPr/>
        </p:nvSpPr>
        <p:spPr>
          <a:xfrm>
            <a:off x="9938613" y="2962656"/>
            <a:ext cx="1475841" cy="25603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38613" y="2980944"/>
            <a:ext cx="1475841" cy="237744"/>
          </a:xfrm>
          <a:prstGeom prst="rect">
            <a:avLst/>
          </a:prstGeom>
          <a:noFill/>
        </p:spPr>
        <p:txBody>
          <a:bodyPr wrap="square" lIns="0" rIns="0" tIns="0" bIns="0" anchor="ctr">
            <a:spAutoFit/>
          </a:bodyPr>
          <a:lstStyle/>
          <a:p>
            <a:pPr algn="ctr">
              <a:spcBef>
                <a:spcPts val="0"/>
              </a:spcBef>
              <a:spcAft>
                <a:spcPts val="0"/>
              </a:spcAft>
            </a:pPr>
            <a:r>
              <a:rPr sz="1150" b="1" i="0">
                <a:solidFill>
                  <a:srgbClr val="2F4858"/>
                </a:solidFill>
                <a:latin typeface="Consolas"/>
              </a:rPr>
              <a:t>open question</a:t>
            </a:r>
          </a:p>
        </p:txBody>
      </p:sp>
      <p:sp>
        <p:nvSpPr>
          <p:cNvPr id="15" name="TextBox 14"/>
          <p:cNvSpPr txBox="1"/>
          <p:nvPr/>
        </p:nvSpPr>
        <p:spPr>
          <a:xfrm>
            <a:off x="1188720" y="3255263"/>
            <a:ext cx="9692640" cy="82296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TestPeerCache needs depth 3, and the final hop is an anonymous Runnable handed to a thread, which no call-graph traversal follows. Depth alone will not fix it; the model needs to handle thread starts.</a:t>
            </a:r>
          </a:p>
        </p:txBody>
      </p:sp>
      <p:sp>
        <p:nvSpPr>
          <p:cNvPr id="16" name="Rectangle 15"/>
          <p:cNvSpPr/>
          <p:nvPr/>
        </p:nvSpPr>
        <p:spPr>
          <a:xfrm>
            <a:off x="777240" y="3931920"/>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51375"/>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3</a:t>
            </a:r>
          </a:p>
        </p:txBody>
      </p:sp>
      <p:sp>
        <p:nvSpPr>
          <p:cNvPr id="18" name="TextBox 17"/>
          <p:cNvSpPr txBox="1"/>
          <p:nvPr/>
        </p:nvSpPr>
        <p:spPr>
          <a:xfrm>
            <a:off x="1188720" y="4133087"/>
            <a:ext cx="7498079"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Bring in an LLM as a second reader</a:t>
            </a:r>
          </a:p>
        </p:txBody>
      </p:sp>
      <p:sp>
        <p:nvSpPr>
          <p:cNvPr id="19" name="Rectangle 18"/>
          <p:cNvSpPr/>
          <p:nvPr/>
        </p:nvSpPr>
        <p:spPr>
          <a:xfrm>
            <a:off x="9669780" y="4151375"/>
            <a:ext cx="1744675" cy="25603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9780" y="4169663"/>
            <a:ext cx="1744675" cy="237744"/>
          </a:xfrm>
          <a:prstGeom prst="rect">
            <a:avLst/>
          </a:prstGeom>
          <a:noFill/>
        </p:spPr>
        <p:txBody>
          <a:bodyPr wrap="square" lIns="0" rIns="0" tIns="0" bIns="0" anchor="ctr">
            <a:spAutoFit/>
          </a:bodyPr>
          <a:lstStyle/>
          <a:p>
            <a:pPr algn="ctr">
              <a:spcBef>
                <a:spcPts val="0"/>
              </a:spcBef>
              <a:spcAft>
                <a:spcPts val="0"/>
              </a:spcAft>
            </a:pPr>
            <a:r>
              <a:rPr sz="1150" b="1" i="0">
                <a:solidFill>
                  <a:srgbClr val="2F4858"/>
                </a:solidFill>
                <a:latin typeface="Consolas"/>
              </a:rPr>
              <a:t>cheap, this week</a:t>
            </a:r>
          </a:p>
        </p:txBody>
      </p:sp>
      <p:sp>
        <p:nvSpPr>
          <p:cNvPr id="21" name="TextBox 20"/>
          <p:cNvSpPr txBox="1"/>
          <p:nvPr/>
        </p:nvSpPr>
        <p:spPr>
          <a:xfrm>
            <a:off x="1188720" y="4443983"/>
            <a:ext cx="9692640" cy="82296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Run the existing zero-shot prompt on the flaky tests twice, body alone against body plus the extracted context, and count how many of the current errors flip. No training, and the prompt is already in the repository.</a:t>
            </a:r>
          </a:p>
        </p:txBody>
      </p:sp>
      <p:sp>
        <p:nvSpPr>
          <p:cNvPr id="22" name="Rectangle 21"/>
          <p:cNvSpPr/>
          <p:nvPr/>
        </p:nvSpPr>
        <p:spPr>
          <a:xfrm>
            <a:off x="777240" y="5120640"/>
            <a:ext cx="10637215" cy="12700"/>
          </a:xfrm>
          <a:prstGeom prst="rect">
            <a:avLst/>
          </a:prstGeom>
          <a:solidFill>
            <a:srgbClr val="D5D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340095"/>
            <a:ext cx="365760" cy="274320"/>
          </a:xfrm>
          <a:prstGeom prst="rect">
            <a:avLst/>
          </a:prstGeom>
          <a:noFill/>
        </p:spPr>
        <p:txBody>
          <a:bodyPr wrap="square" lIns="0" rIns="0" tIns="0" bIns="0" anchor="t">
            <a:spAutoFit/>
          </a:bodyPr>
          <a:lstStyle/>
          <a:p>
            <a:pPr>
              <a:spcBef>
                <a:spcPts val="0"/>
              </a:spcBef>
              <a:spcAft>
                <a:spcPts val="0"/>
              </a:spcAft>
            </a:pPr>
            <a:r>
              <a:rPr sz="1350" b="0" i="0">
                <a:solidFill>
                  <a:srgbClr val="6B7684"/>
                </a:solidFill>
                <a:latin typeface="Consolas"/>
              </a:rPr>
              <a:t>4</a:t>
            </a:r>
          </a:p>
        </p:txBody>
      </p:sp>
      <p:sp>
        <p:nvSpPr>
          <p:cNvPr id="24" name="TextBox 23"/>
          <p:cNvSpPr txBox="1"/>
          <p:nvPr/>
        </p:nvSpPr>
        <p:spPr>
          <a:xfrm>
            <a:off x="1188720" y="5321807"/>
            <a:ext cx="7498079" cy="274320"/>
          </a:xfrm>
          <a:prstGeom prst="rect">
            <a:avLst/>
          </a:prstGeom>
          <a:noFill/>
        </p:spPr>
        <p:txBody>
          <a:bodyPr wrap="square" lIns="0" rIns="0" tIns="0" bIns="0" anchor="t">
            <a:spAutoFit/>
          </a:bodyPr>
          <a:lstStyle/>
          <a:p>
            <a:pPr>
              <a:spcBef>
                <a:spcPts val="0"/>
              </a:spcBef>
              <a:spcAft>
                <a:spcPts val="0"/>
              </a:spcAft>
            </a:pPr>
            <a:r>
              <a:rPr sz="1600" b="1" i="0">
                <a:solidFill>
                  <a:srgbClr val="151A21"/>
                </a:solidFill>
                <a:latin typeface="Calibri"/>
              </a:rPr>
              <a:t>Then, and only then, fine-tune</a:t>
            </a:r>
          </a:p>
        </p:txBody>
      </p:sp>
      <p:sp>
        <p:nvSpPr>
          <p:cNvPr id="25" name="Rectangle 24"/>
          <p:cNvSpPr/>
          <p:nvPr/>
        </p:nvSpPr>
        <p:spPr>
          <a:xfrm>
            <a:off x="10297058" y="5340095"/>
            <a:ext cx="1117396" cy="256032"/>
          </a:xfrm>
          <a:prstGeom prst="rect">
            <a:avLst/>
          </a:prstGeom>
          <a:solidFill>
            <a:srgbClr val="E6E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7058" y="5358383"/>
            <a:ext cx="1117396" cy="237744"/>
          </a:xfrm>
          <a:prstGeom prst="rect">
            <a:avLst/>
          </a:prstGeom>
          <a:noFill/>
        </p:spPr>
        <p:txBody>
          <a:bodyPr wrap="square" lIns="0" rIns="0" tIns="0" bIns="0" anchor="ctr">
            <a:spAutoFit/>
          </a:bodyPr>
          <a:lstStyle/>
          <a:p>
            <a:pPr algn="ctr">
              <a:spcBef>
                <a:spcPts val="0"/>
              </a:spcBef>
              <a:spcAft>
                <a:spcPts val="0"/>
              </a:spcAft>
            </a:pPr>
            <a:r>
              <a:rPr sz="1150" b="1" i="0">
                <a:solidFill>
                  <a:srgbClr val="2F4858"/>
                </a:solidFill>
                <a:latin typeface="Consolas"/>
              </a:rPr>
              <a:t>needs GPU</a:t>
            </a:r>
          </a:p>
        </p:txBody>
      </p:sp>
      <p:sp>
        <p:nvSpPr>
          <p:cNvPr id="27" name="TextBox 26"/>
          <p:cNvSpPr txBox="1"/>
          <p:nvPr/>
        </p:nvSpPr>
        <p:spPr>
          <a:xfrm>
            <a:off x="1188720" y="5632703"/>
            <a:ext cx="9692640" cy="822960"/>
          </a:xfrm>
          <a:prstGeom prst="rect">
            <a:avLst/>
          </a:prstGeom>
          <a:noFill/>
        </p:spPr>
        <p:txBody>
          <a:bodyPr wrap="square" lIns="0" rIns="0" tIns="0" bIns="0" anchor="t">
            <a:spAutoFit/>
          </a:bodyPr>
          <a:lstStyle/>
          <a:p>
            <a:pPr>
              <a:lnSpc>
                <a:spcPct val="126000"/>
              </a:lnSpc>
              <a:spcBef>
                <a:spcPts val="0"/>
              </a:spcBef>
              <a:spcAft>
                <a:spcPts val="0"/>
              </a:spcAft>
            </a:pPr>
            <a:r>
              <a:rPr sz="1350" b="0" i="0">
                <a:solidFill>
                  <a:srgbClr val="3D4653"/>
                </a:solidFill>
                <a:latin typeface="Calibri"/>
              </a:rPr>
              <a:t>Retrain the encoder on the same folds with context appended. The 512-token limit is the real obstacle, which is what the two-tower design in the plan is for.</a:t>
            </a:r>
          </a:p>
        </p:txBody>
      </p:sp>
      <p:sp>
        <p:nvSpPr>
          <p:cNvPr id="28" name="TextBox 27"/>
          <p:cNvSpPr txBox="1"/>
          <p:nvPr/>
        </p:nvSpPr>
        <p:spPr>
          <a:xfrm>
            <a:off x="10820095" y="6400800"/>
            <a:ext cx="822960" cy="274320"/>
          </a:xfrm>
          <a:prstGeom prst="rect">
            <a:avLst/>
          </a:prstGeom>
          <a:noFill/>
        </p:spPr>
        <p:txBody>
          <a:bodyPr wrap="square" lIns="0" rIns="0" tIns="0" bIns="0" anchor="t">
            <a:spAutoFit/>
          </a:bodyPr>
          <a:lstStyle/>
          <a:p>
            <a:pPr algn="r">
              <a:spcBef>
                <a:spcPts val="0"/>
              </a:spcBef>
              <a:spcAft>
                <a:spcPts val="0"/>
              </a:spcAft>
            </a:pPr>
            <a:r>
              <a:rPr sz="1000" b="0" i="0">
                <a:solidFill>
                  <a:srgbClr val="6B7684"/>
                </a:solidFill>
                <a:latin typeface="Consola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