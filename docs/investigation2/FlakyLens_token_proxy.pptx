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07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7" y="1481328"/>
            <a:ext cx="10241280" cy="365760"/>
          </a:xfrm>
          <a:prstGeom prst="rect">
            <a:avLst/>
          </a:prstGeom>
          <a:noFill/>
        </p:spPr>
        <p:txBody>
          <a:bodyPr wrap="square" lIns="0" rIns="0" tIns="0" bIns="0" anchor="t">
            <a:spAutoFit/>
          </a:bodyPr>
          <a:lstStyle/>
          <a:p>
            <a:pPr>
              <a:spcBef>
                <a:spcPts val="0"/>
              </a:spcBef>
              <a:spcAft>
                <a:spcPts val="0"/>
              </a:spcAft>
            </a:pPr>
            <a:r>
              <a:rPr sz="1200" b="0" i="0">
                <a:solidFill>
                  <a:srgbClr val="6B7684"/>
                </a:solidFill>
                <a:latin typeface="Consolas"/>
              </a:rPr>
              <a:t>FLAKYLENS · INVESTIGATION 2 · TOKEN-PROXY CHECK</a:t>
            </a:r>
          </a:p>
        </p:txBody>
      </p:sp>
      <p:sp>
        <p:nvSpPr>
          <p:cNvPr id="4" name="TextBox 3"/>
          <p:cNvSpPr txBox="1"/>
          <p:nvPr/>
        </p:nvSpPr>
        <p:spPr>
          <a:xfrm>
            <a:off x="841247" y="1965960"/>
            <a:ext cx="10424160" cy="1280160"/>
          </a:xfrm>
          <a:prstGeom prst="rect">
            <a:avLst/>
          </a:prstGeom>
          <a:noFill/>
        </p:spPr>
        <p:txBody>
          <a:bodyPr wrap="square" lIns="0" rIns="0" tIns="0" bIns="0" anchor="t">
            <a:spAutoFit/>
          </a:bodyPr>
          <a:lstStyle/>
          <a:p>
            <a:pPr>
              <a:lnSpc>
                <a:spcPct val="100000"/>
              </a:lnSpc>
              <a:spcBef>
                <a:spcPts val="0"/>
              </a:spcBef>
              <a:spcAft>
                <a:spcPts val="0"/>
              </a:spcAft>
            </a:pPr>
            <a:r>
              <a:rPr sz="4600" b="1" i="0">
                <a:solidFill>
                  <a:srgbClr val="151A21"/>
                </a:solidFill>
                <a:latin typeface="Calibri"/>
              </a:rPr>
              <a:t>What Context Is Worth</a:t>
            </a:r>
          </a:p>
        </p:txBody>
      </p:sp>
      <p:sp>
        <p:nvSpPr>
          <p:cNvPr id="5" name="TextBox 4"/>
          <p:cNvSpPr txBox="1"/>
          <p:nvPr/>
        </p:nvSpPr>
        <p:spPr>
          <a:xfrm>
            <a:off x="841247" y="3200400"/>
            <a:ext cx="8869680" cy="1371600"/>
          </a:xfrm>
          <a:prstGeom prst="rect">
            <a:avLst/>
          </a:prstGeom>
          <a:noFill/>
        </p:spPr>
        <p:txBody>
          <a:bodyPr wrap="square" lIns="0" rIns="0" tIns="0" bIns="0" anchor="t">
            <a:spAutoFit/>
          </a:bodyPr>
          <a:lstStyle/>
          <a:p>
            <a:pPr>
              <a:lnSpc>
                <a:spcPct val="132000"/>
              </a:lnSpc>
              <a:spcBef>
                <a:spcPts val="0"/>
              </a:spcBef>
              <a:spcAft>
                <a:spcPts val="0"/>
              </a:spcAft>
            </a:pPr>
            <a:r>
              <a:rPr sz="1700" b="0" i="0">
                <a:solidFill>
                  <a:srgbClr val="3D4653"/>
                </a:solidFill>
                <a:latin typeface="Calibri"/>
              </a:rPr>
              <a:t>The class around a test carries category signal the test body does not. Measured with a fixed token lexicon on 80 flaky tests, it is worth about 35 accuracy points to a classifier that was never trained. All of it is order dependency.</a:t>
            </a:r>
          </a:p>
        </p:txBody>
      </p:sp>
      <p:sp>
        <p:nvSpPr>
          <p:cNvPr id="6" name="Rectangle 5"/>
          <p:cNvSpPr/>
          <p:nvPr/>
        </p:nvSpPr>
        <p:spPr>
          <a:xfrm>
            <a:off x="841247" y="4956048"/>
            <a:ext cx="886968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5138928"/>
            <a:ext cx="10058400" cy="822960"/>
          </a:xfrm>
          <a:prstGeom prst="rect">
            <a:avLst/>
          </a:prstGeom>
          <a:noFill/>
        </p:spPr>
        <p:txBody>
          <a:bodyPr wrap="square" lIns="0" rIns="0" tIns="0" bIns="0" anchor="t">
            <a:spAutoFit/>
          </a:bodyPr>
          <a:lstStyle/>
          <a:p>
            <a:pPr>
              <a:lnSpc>
                <a:spcPct val="150000"/>
              </a:lnSpc>
              <a:spcBef>
                <a:spcPts val="0"/>
              </a:spcBef>
              <a:spcAft>
                <a:spcPts val="0"/>
              </a:spcAft>
            </a:pPr>
            <a:r>
              <a:rPr sz="1300" b="0" i="0">
                <a:solidFill>
                  <a:srgbClr val="6B7684"/>
                </a:solidFill>
                <a:latin typeface="Consolas"/>
              </a:rPr>
              <a:t>80 tests · 5 projects · 39 misclassified · lexicon v2.0, 38 families</a:t>
            </a:r>
          </a:p>
          <a:p>
            <a:pPr>
              <a:spcBef>
                <a:spcPts val="300"/>
              </a:spcBef>
              <a:spcAft>
                <a:spcPts val="0"/>
              </a:spcAft>
            </a:pPr>
            <a:r>
              <a:rPr sz="1300" b="0" i="0">
                <a:solidFill>
                  <a:srgbClr val="6B7684"/>
                </a:solidFill>
                <a:latin typeface="Consolas"/>
              </a:rPr>
              <a:t>4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METHOD</a:t>
            </a:r>
          </a:p>
        </p:txBody>
      </p:sp>
      <p:sp>
        <p:nvSpPr>
          <p:cNvPr id="3" name="TextBox 2"/>
          <p:cNvSpPr txBox="1"/>
          <p:nvPr/>
        </p:nvSpPr>
        <p:spPr>
          <a:xfrm>
            <a:off x="658368" y="713232"/>
            <a:ext cx="10881360" cy="822960"/>
          </a:xfrm>
          <a:prstGeom prst="rect">
            <a:avLst/>
          </a:prstGeom>
          <a:noFill/>
        </p:spPr>
        <p:txBody>
          <a:bodyPr wrap="square" lIns="0" rIns="0" tIns="0" bIns="0" anchor="t">
            <a:spAutoFit/>
          </a:bodyPr>
          <a:lstStyle/>
          <a:p>
            <a:pPr>
              <a:lnSpc>
                <a:spcPct val="105000"/>
              </a:lnSpc>
              <a:spcBef>
                <a:spcPts val="0"/>
              </a:spcBef>
              <a:spcAft>
                <a:spcPts val="0"/>
              </a:spcAft>
            </a:pPr>
            <a:r>
              <a:rPr sz="3000" b="1" i="0">
                <a:solidFill>
                  <a:srgbClr val="151A21"/>
                </a:solidFill>
                <a:latin typeface="Calibri"/>
              </a:rPr>
              <a:t>What we did</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810512"/>
            <a:ext cx="411480" cy="365760"/>
          </a:xfrm>
          <a:prstGeom prst="rect">
            <a:avLst/>
          </a:prstGeom>
          <a:noFill/>
        </p:spPr>
        <p:txBody>
          <a:bodyPr wrap="square" lIns="0" rIns="0" tIns="0" bIns="0" anchor="t">
            <a:spAutoFit/>
          </a:bodyPr>
          <a:lstStyle/>
          <a:p>
            <a:pPr>
              <a:spcBef>
                <a:spcPts val="0"/>
              </a:spcBef>
              <a:spcAft>
                <a:spcPts val="0"/>
              </a:spcAft>
            </a:pPr>
            <a:r>
              <a:rPr sz="1500" b="0" i="0">
                <a:solidFill>
                  <a:srgbClr val="6B7684"/>
                </a:solidFill>
                <a:latin typeface="Consolas"/>
              </a:rPr>
              <a:t>1</a:t>
            </a:r>
          </a:p>
        </p:txBody>
      </p:sp>
      <p:sp>
        <p:nvSpPr>
          <p:cNvPr id="6" name="TextBox 5"/>
          <p:cNvSpPr txBox="1"/>
          <p:nvPr/>
        </p:nvSpPr>
        <p:spPr>
          <a:xfrm>
            <a:off x="1097280" y="1783080"/>
            <a:ext cx="10332720" cy="411480"/>
          </a:xfrm>
          <a:prstGeom prst="rect">
            <a:avLst/>
          </a:prstGeom>
          <a:noFill/>
        </p:spPr>
        <p:txBody>
          <a:bodyPr wrap="square" lIns="0" rIns="0" tIns="0" bIns="0" anchor="t">
            <a:spAutoFit/>
          </a:bodyPr>
          <a:lstStyle/>
          <a:p>
            <a:pPr>
              <a:spcBef>
                <a:spcPts val="0"/>
              </a:spcBef>
              <a:spcAft>
                <a:spcPts val="0"/>
              </a:spcAft>
            </a:pPr>
            <a:r>
              <a:rPr sz="1700" b="1" i="0">
                <a:solidFill>
                  <a:srgbClr val="151A21"/>
                </a:solidFill>
                <a:latin typeface="Calibri"/>
              </a:rPr>
              <a:t>Wrote the lexicon before opening the sources</a:t>
            </a:r>
          </a:p>
        </p:txBody>
      </p:sp>
      <p:sp>
        <p:nvSpPr>
          <p:cNvPr id="7" name="TextBox 6"/>
          <p:cNvSpPr txBox="1"/>
          <p:nvPr/>
        </p:nvSpPr>
        <p:spPr>
          <a:xfrm>
            <a:off x="1097280" y="2121408"/>
            <a:ext cx="10241280" cy="777240"/>
          </a:xfrm>
          <a:prstGeom prst="rect">
            <a:avLst/>
          </a:prstGeom>
          <a:noFill/>
        </p:spPr>
        <p:txBody>
          <a:bodyPr wrap="square" lIns="0" rIns="0" tIns="0" bIns="0" anchor="t">
            <a:spAutoFit/>
          </a:bodyPr>
          <a:lstStyle/>
          <a:p>
            <a:pPr>
              <a:lnSpc>
                <a:spcPct val="126000"/>
              </a:lnSpc>
              <a:spcBef>
                <a:spcPts val="0"/>
              </a:spcBef>
              <a:spcAft>
                <a:spcPts val="0"/>
              </a:spcAft>
            </a:pPr>
            <a:r>
              <a:rPr sz="1400" b="0" i="0">
                <a:solidFill>
                  <a:srgbClr val="3D4653"/>
                </a:solidFill>
                <a:latin typeface="Calibri"/>
              </a:rPr>
              <a:t>36 regex token families, 6 to 8 per category, from the standard empirical taxonomy of flaky-test root causes. Applied identically to every slice, so a body-versus-context difference is a property of the code, not of the lexicon.</a:t>
            </a:r>
          </a:p>
        </p:txBody>
      </p:sp>
      <p:sp>
        <p:nvSpPr>
          <p:cNvPr id="8" name="Rectangle 7"/>
          <p:cNvSpPr/>
          <p:nvPr/>
        </p:nvSpPr>
        <p:spPr>
          <a:xfrm>
            <a:off x="658368" y="2798063"/>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980944"/>
            <a:ext cx="411480" cy="365760"/>
          </a:xfrm>
          <a:prstGeom prst="rect">
            <a:avLst/>
          </a:prstGeom>
          <a:noFill/>
        </p:spPr>
        <p:txBody>
          <a:bodyPr wrap="square" lIns="0" rIns="0" tIns="0" bIns="0" anchor="t">
            <a:spAutoFit/>
          </a:bodyPr>
          <a:lstStyle/>
          <a:p>
            <a:pPr>
              <a:spcBef>
                <a:spcPts val="0"/>
              </a:spcBef>
              <a:spcAft>
                <a:spcPts val="0"/>
              </a:spcAft>
            </a:pPr>
            <a:r>
              <a:rPr sz="1500" b="0" i="0">
                <a:solidFill>
                  <a:srgbClr val="6B7684"/>
                </a:solidFill>
                <a:latin typeface="Consolas"/>
              </a:rPr>
              <a:t>2</a:t>
            </a:r>
          </a:p>
        </p:txBody>
      </p:sp>
      <p:sp>
        <p:nvSpPr>
          <p:cNvPr id="10" name="TextBox 9"/>
          <p:cNvSpPr txBox="1"/>
          <p:nvPr/>
        </p:nvSpPr>
        <p:spPr>
          <a:xfrm>
            <a:off x="1097280" y="2953512"/>
            <a:ext cx="10332720" cy="411480"/>
          </a:xfrm>
          <a:prstGeom prst="rect">
            <a:avLst/>
          </a:prstGeom>
          <a:noFill/>
        </p:spPr>
        <p:txBody>
          <a:bodyPr wrap="square" lIns="0" rIns="0" tIns="0" bIns="0" anchor="t">
            <a:spAutoFit/>
          </a:bodyPr>
          <a:lstStyle/>
          <a:p>
            <a:pPr>
              <a:spcBef>
                <a:spcPts val="0"/>
              </a:spcBef>
              <a:spcAft>
                <a:spcPts val="0"/>
              </a:spcAft>
            </a:pPr>
            <a:r>
              <a:rPr sz="1700" b="1" i="0">
                <a:solidFill>
                  <a:srgbClr val="151A21"/>
                </a:solidFill>
                <a:latin typeface="Calibri"/>
              </a:rPr>
              <a:t>Sliced each test class six ways</a:t>
            </a:r>
          </a:p>
        </p:txBody>
      </p:sp>
      <p:sp>
        <p:nvSpPr>
          <p:cNvPr id="11" name="TextBox 10"/>
          <p:cNvSpPr txBox="1"/>
          <p:nvPr/>
        </p:nvSpPr>
        <p:spPr>
          <a:xfrm>
            <a:off x="1097280" y="3291839"/>
            <a:ext cx="10241280" cy="777240"/>
          </a:xfrm>
          <a:prstGeom prst="rect">
            <a:avLst/>
          </a:prstGeom>
          <a:noFill/>
        </p:spPr>
        <p:txBody>
          <a:bodyPr wrap="square" lIns="0" rIns="0" tIns="0" bIns="0" anchor="t">
            <a:spAutoFit/>
          </a:bodyPr>
          <a:lstStyle/>
          <a:p>
            <a:pPr>
              <a:lnSpc>
                <a:spcPct val="126000"/>
              </a:lnSpc>
              <a:spcBef>
                <a:spcPts val="0"/>
              </a:spcBef>
              <a:spcAft>
                <a:spcPts val="0"/>
              </a:spcAft>
            </a:pPr>
            <a:r>
              <a:rPr sz="1400" b="0" i="0">
                <a:solidFill>
                  <a:srgbClr val="3D4653"/>
                </a:solidFill>
                <a:latin typeface="Calibri"/>
              </a:rPr>
              <a:t>body, static fields, fixture bodies, sibling tests, helpers the body actually calls, and context meaning the last four combined. Comments and string literals blanked by a single-pass scanner first.</a:t>
            </a:r>
          </a:p>
        </p:txBody>
      </p:sp>
      <p:sp>
        <p:nvSpPr>
          <p:cNvPr id="12" name="Rectangle 11"/>
          <p:cNvSpPr/>
          <p:nvPr/>
        </p:nvSpPr>
        <p:spPr>
          <a:xfrm>
            <a:off x="658368" y="3968496"/>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151376"/>
            <a:ext cx="411480" cy="365760"/>
          </a:xfrm>
          <a:prstGeom prst="rect">
            <a:avLst/>
          </a:prstGeom>
          <a:noFill/>
        </p:spPr>
        <p:txBody>
          <a:bodyPr wrap="square" lIns="0" rIns="0" tIns="0" bIns="0" anchor="t">
            <a:spAutoFit/>
          </a:bodyPr>
          <a:lstStyle/>
          <a:p>
            <a:pPr>
              <a:spcBef>
                <a:spcPts val="0"/>
              </a:spcBef>
              <a:spcAft>
                <a:spcPts val="0"/>
              </a:spcAft>
            </a:pPr>
            <a:r>
              <a:rPr sz="1500" b="0" i="0">
                <a:solidFill>
                  <a:srgbClr val="6B7684"/>
                </a:solidFill>
                <a:latin typeface="Consolas"/>
              </a:rPr>
              <a:t>3</a:t>
            </a:r>
          </a:p>
        </p:txBody>
      </p:sp>
      <p:sp>
        <p:nvSpPr>
          <p:cNvPr id="14" name="TextBox 13"/>
          <p:cNvSpPr txBox="1"/>
          <p:nvPr/>
        </p:nvSpPr>
        <p:spPr>
          <a:xfrm>
            <a:off x="1097280" y="4123944"/>
            <a:ext cx="10332720" cy="411480"/>
          </a:xfrm>
          <a:prstGeom prst="rect">
            <a:avLst/>
          </a:prstGeom>
          <a:noFill/>
        </p:spPr>
        <p:txBody>
          <a:bodyPr wrap="square" lIns="0" rIns="0" tIns="0" bIns="0" anchor="t">
            <a:spAutoFit/>
          </a:bodyPr>
          <a:lstStyle/>
          <a:p>
            <a:pPr>
              <a:spcBef>
                <a:spcPts val="0"/>
              </a:spcBef>
              <a:spcAft>
                <a:spcPts val="0"/>
              </a:spcAft>
            </a:pPr>
            <a:r>
              <a:rPr sz="1700" b="1" i="0">
                <a:solidFill>
                  <a:srgbClr val="151A21"/>
                </a:solidFill>
                <a:latin typeface="Calibri"/>
              </a:rPr>
              <a:t>Scored by distinct families present, not raw counts</a:t>
            </a:r>
          </a:p>
        </p:txBody>
      </p:sp>
      <p:sp>
        <p:nvSpPr>
          <p:cNvPr id="15" name="TextBox 14"/>
          <p:cNvSpPr txBox="1"/>
          <p:nvPr/>
        </p:nvSpPr>
        <p:spPr>
          <a:xfrm>
            <a:off x="1097280" y="4462272"/>
            <a:ext cx="10241280" cy="777240"/>
          </a:xfrm>
          <a:prstGeom prst="rect">
            <a:avLst/>
          </a:prstGeom>
          <a:noFill/>
        </p:spPr>
        <p:txBody>
          <a:bodyPr wrap="square" lIns="0" rIns="0" tIns="0" bIns="0" anchor="t">
            <a:spAutoFit/>
          </a:bodyPr>
          <a:lstStyle/>
          <a:p>
            <a:pPr>
              <a:lnSpc>
                <a:spcPct val="126000"/>
              </a:lnSpc>
              <a:spcBef>
                <a:spcPts val="0"/>
              </a:spcBef>
              <a:spcAft>
                <a:spcPts val="0"/>
              </a:spcAft>
            </a:pPr>
            <a:r>
              <a:rPr sz="1400" b="0" i="0">
                <a:solidFill>
                  <a:srgbClr val="3D4653"/>
                </a:solidFill>
                <a:latin typeface="Calibri"/>
              </a:rPr>
              <a:t>Context is far longer than a body. Counting occurrences would reward length rather than signal, so each family counts once.</a:t>
            </a:r>
          </a:p>
        </p:txBody>
      </p:sp>
      <p:sp>
        <p:nvSpPr>
          <p:cNvPr id="16" name="Rectangle 15"/>
          <p:cNvSpPr/>
          <p:nvPr/>
        </p:nvSpPr>
        <p:spPr>
          <a:xfrm>
            <a:off x="658368" y="5138928"/>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321808"/>
            <a:ext cx="411480" cy="365760"/>
          </a:xfrm>
          <a:prstGeom prst="rect">
            <a:avLst/>
          </a:prstGeom>
          <a:noFill/>
        </p:spPr>
        <p:txBody>
          <a:bodyPr wrap="square" lIns="0" rIns="0" tIns="0" bIns="0" anchor="t">
            <a:spAutoFit/>
          </a:bodyPr>
          <a:lstStyle/>
          <a:p>
            <a:pPr>
              <a:spcBef>
                <a:spcPts val="0"/>
              </a:spcBef>
              <a:spcAft>
                <a:spcPts val="0"/>
              </a:spcAft>
            </a:pPr>
            <a:r>
              <a:rPr sz="1500" b="0" i="0">
                <a:solidFill>
                  <a:srgbClr val="6B7684"/>
                </a:solidFill>
                <a:latin typeface="Consolas"/>
              </a:rPr>
              <a:t>4</a:t>
            </a:r>
          </a:p>
        </p:txBody>
      </p:sp>
      <p:sp>
        <p:nvSpPr>
          <p:cNvPr id="18" name="TextBox 17"/>
          <p:cNvSpPr txBox="1"/>
          <p:nvPr/>
        </p:nvSpPr>
        <p:spPr>
          <a:xfrm>
            <a:off x="1097280" y="5294376"/>
            <a:ext cx="10332720" cy="411480"/>
          </a:xfrm>
          <a:prstGeom prst="rect">
            <a:avLst/>
          </a:prstGeom>
          <a:noFill/>
        </p:spPr>
        <p:txBody>
          <a:bodyPr wrap="square" lIns="0" rIns="0" tIns="0" bIns="0" anchor="t">
            <a:spAutoFit/>
          </a:bodyPr>
          <a:lstStyle/>
          <a:p>
            <a:pPr>
              <a:spcBef>
                <a:spcPts val="0"/>
              </a:spcBef>
              <a:spcAft>
                <a:spcPts val="0"/>
              </a:spcAft>
            </a:pPr>
            <a:r>
              <a:rPr sz="1700" b="1" i="0">
                <a:solidFill>
                  <a:srgbClr val="151A21"/>
                </a:solidFill>
                <a:latin typeface="Calibri"/>
              </a:rPr>
              <a:t>Ran five tests, weakest to strongest</a:t>
            </a:r>
          </a:p>
        </p:txBody>
      </p:sp>
      <p:sp>
        <p:nvSpPr>
          <p:cNvPr id="19" name="TextBox 18"/>
          <p:cNvSpPr txBox="1"/>
          <p:nvPr/>
        </p:nvSpPr>
        <p:spPr>
          <a:xfrm>
            <a:off x="1097280" y="5632704"/>
            <a:ext cx="10241280" cy="777240"/>
          </a:xfrm>
          <a:prstGeom prst="rect">
            <a:avLst/>
          </a:prstGeom>
          <a:noFill/>
        </p:spPr>
        <p:txBody>
          <a:bodyPr wrap="square" lIns="0" rIns="0" tIns="0" bIns="0" anchor="t">
            <a:spAutoFit/>
          </a:bodyPr>
          <a:lstStyle/>
          <a:p>
            <a:pPr>
              <a:lnSpc>
                <a:spcPct val="126000"/>
              </a:lnSpc>
              <a:spcBef>
                <a:spcPts val="0"/>
              </a:spcBef>
              <a:spcAft>
                <a:spcPts val="0"/>
              </a:spcAft>
            </a:pPr>
            <a:r>
              <a:rPr sz="1400" b="0" i="0">
                <a:solidFill>
                  <a:srgbClr val="3D4653"/>
                </a:solidFill>
                <a:latin typeface="Calibri"/>
              </a:rPr>
              <a:t>coverage of the true category, a zero-training argmax proxy, a flip analysis on the model's errors, a scikit-learn linear classifier with cross-validation and a label-permutation null, and baselines with random tie-breaking.</a:t>
            </a:r>
          </a:p>
        </p:txBody>
      </p:sp>
      <p:sp>
        <p:nvSpPr>
          <p:cNvPr id="20" name="TextBox 19"/>
          <p:cNvSpPr txBox="1"/>
          <p:nvPr/>
        </p:nvSpPr>
        <p:spPr>
          <a:xfrm>
            <a:off x="10820095" y="6382512"/>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WORKED EXAMPLE · TESTDFSIO.TESTREAD</a:t>
            </a:r>
          </a:p>
        </p:txBody>
      </p:sp>
      <p:sp>
        <p:nvSpPr>
          <p:cNvPr id="3" name="TextBox 2"/>
          <p:cNvSpPr txBox="1"/>
          <p:nvPr/>
        </p:nvSpPr>
        <p:spPr>
          <a:xfrm>
            <a:off x="658368" y="713232"/>
            <a:ext cx="10881360" cy="822960"/>
          </a:xfrm>
          <a:prstGeom prst="rect">
            <a:avLst/>
          </a:prstGeom>
          <a:noFill/>
        </p:spPr>
        <p:txBody>
          <a:bodyPr wrap="square" lIns="0" rIns="0" tIns="0" bIns="0" anchor="t">
            <a:spAutoFit/>
          </a:bodyPr>
          <a:lstStyle/>
          <a:p>
            <a:pPr>
              <a:lnSpc>
                <a:spcPct val="105000"/>
              </a:lnSpc>
              <a:spcBef>
                <a:spcPts val="0"/>
              </a:spcBef>
              <a:spcAft>
                <a:spcPts val="0"/>
              </a:spcAft>
            </a:pPr>
            <a:r>
              <a:rPr sz="3000" b="1" i="0">
                <a:solidFill>
                  <a:srgbClr val="151A21"/>
                </a:solidFill>
                <a:latin typeface="Calibri"/>
              </a:rPr>
              <a:t>One test, end to end</a:t>
            </a:r>
          </a:p>
        </p:txBody>
      </p:sp>
      <p:sp>
        <p:nvSpPr>
          <p:cNvPr id="4" name="Rectangle 3"/>
          <p:cNvSpPr/>
          <p:nvPr/>
        </p:nvSpPr>
        <p:spPr>
          <a:xfrm>
            <a:off x="658368" y="1426464"/>
            <a:ext cx="1810512" cy="274320"/>
          </a:xfrm>
          <a:prstGeom prst="rect">
            <a:avLst/>
          </a:prstGeom>
          <a:solidFill>
            <a:srgbClr val="E3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44752"/>
            <a:ext cx="1810512" cy="256032"/>
          </a:xfrm>
          <a:prstGeom prst="rect">
            <a:avLst/>
          </a:prstGeom>
          <a:noFill/>
        </p:spPr>
        <p:txBody>
          <a:bodyPr wrap="square" lIns="0" rIns="0" tIns="0" bIns="0" anchor="ctr">
            <a:spAutoFit/>
          </a:bodyPr>
          <a:lstStyle/>
          <a:p>
            <a:pPr algn="ctr">
              <a:spcBef>
                <a:spcPts val="0"/>
              </a:spcBef>
              <a:spcAft>
                <a:spcPts val="0"/>
              </a:spcAft>
            </a:pPr>
            <a:r>
              <a:rPr sz="1200" b="1" i="0">
                <a:solidFill>
                  <a:srgbClr val="3A6650"/>
                </a:solidFill>
                <a:latin typeface="Consolas"/>
              </a:rPr>
              <a:t>order dependency</a:t>
            </a:r>
          </a:p>
        </p:txBody>
      </p:sp>
      <p:sp>
        <p:nvSpPr>
          <p:cNvPr id="6" name="TextBox 5"/>
          <p:cNvSpPr txBox="1"/>
          <p:nvPr/>
        </p:nvSpPr>
        <p:spPr>
          <a:xfrm>
            <a:off x="2578608" y="1444752"/>
            <a:ext cx="822960" cy="256032"/>
          </a:xfrm>
          <a:prstGeom prst="rect">
            <a:avLst/>
          </a:prstGeom>
          <a:noFill/>
        </p:spPr>
        <p:txBody>
          <a:bodyPr wrap="square" lIns="0" rIns="0" tIns="0" bIns="0" anchor="t">
            <a:spAutoFit/>
          </a:bodyPr>
          <a:lstStyle/>
          <a:p>
            <a:pPr>
              <a:spcBef>
                <a:spcPts val="0"/>
              </a:spcBef>
              <a:spcAft>
                <a:spcPts val="0"/>
              </a:spcAft>
            </a:pPr>
            <a:r>
              <a:rPr sz="1200" b="0" i="1">
                <a:solidFill>
                  <a:srgbClr val="6B7684"/>
                </a:solidFill>
                <a:latin typeface="Calibri"/>
              </a:rPr>
              <a:t>read as</a:t>
            </a:r>
          </a:p>
        </p:txBody>
      </p:sp>
      <p:sp>
        <p:nvSpPr>
          <p:cNvPr id="7" name="Rectangle 6"/>
          <p:cNvSpPr/>
          <p:nvPr/>
        </p:nvSpPr>
        <p:spPr>
          <a:xfrm>
            <a:off x="3337560" y="1426464"/>
            <a:ext cx="658368" cy="274320"/>
          </a:xfrm>
          <a:prstGeom prst="rect">
            <a:avLst/>
          </a:prstGeom>
          <a:solidFill>
            <a:srgbClr val="F6E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37560" y="1444752"/>
            <a:ext cx="658368" cy="256032"/>
          </a:xfrm>
          <a:prstGeom prst="rect">
            <a:avLst/>
          </a:prstGeom>
          <a:noFill/>
        </p:spPr>
        <p:txBody>
          <a:bodyPr wrap="square" lIns="0" rIns="0" tIns="0" bIns="0" anchor="ctr">
            <a:spAutoFit/>
          </a:bodyPr>
          <a:lstStyle/>
          <a:p>
            <a:pPr algn="ctr">
              <a:spcBef>
                <a:spcPts val="0"/>
              </a:spcBef>
              <a:spcAft>
                <a:spcPts val="0"/>
              </a:spcAft>
            </a:pPr>
            <a:r>
              <a:rPr sz="1200" b="1" i="0">
                <a:solidFill>
                  <a:srgbClr val="A8452B"/>
                </a:solidFill>
                <a:latin typeface="Consolas"/>
              </a:rPr>
              <a:t>time</a:t>
            </a:r>
          </a:p>
        </p:txBody>
      </p:sp>
      <p:sp>
        <p:nvSpPr>
          <p:cNvPr id="9" name="TextBox 8"/>
          <p:cNvSpPr txBox="1"/>
          <p:nvPr/>
        </p:nvSpPr>
        <p:spPr>
          <a:xfrm>
            <a:off x="658368" y="1920240"/>
            <a:ext cx="5486400" cy="274320"/>
          </a:xfrm>
          <a:prstGeom prst="rect">
            <a:avLst/>
          </a:prstGeom>
          <a:noFill/>
        </p:spPr>
        <p:txBody>
          <a:bodyPr wrap="square" lIns="0" rIns="0" tIns="0" bIns="0" anchor="t">
            <a:spAutoFit/>
          </a:bodyPr>
          <a:lstStyle/>
          <a:p>
            <a:pPr>
              <a:spcBef>
                <a:spcPts val="0"/>
              </a:spcBef>
              <a:spcAft>
                <a:spcPts val="0"/>
              </a:spcAft>
            </a:pPr>
            <a:r>
              <a:rPr sz="1400" b="1" i="0">
                <a:solidFill>
                  <a:srgbClr val="151A21"/>
                </a:solidFill>
                <a:latin typeface="Calibri"/>
              </a:rPr>
              <a:t>The body FlakyLens actually saw</a:t>
            </a:r>
          </a:p>
        </p:txBody>
      </p:sp>
      <p:sp>
        <p:nvSpPr>
          <p:cNvPr id="10" name="Rectangle 9"/>
          <p:cNvSpPr/>
          <p:nvPr/>
        </p:nvSpPr>
        <p:spPr>
          <a:xfrm>
            <a:off x="658368" y="2267712"/>
            <a:ext cx="5577840" cy="2362078"/>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414016"/>
            <a:ext cx="5285231" cy="2069470"/>
          </a:xfrm>
          <a:prstGeom prst="rect">
            <a:avLst/>
          </a:prstGeom>
          <a:noFill/>
        </p:spPr>
        <p:txBody>
          <a:bodyPr wrap="square" lIns="0" rIns="0" tIns="0" bIns="0" anchor="t">
            <a:spAutoFit/>
          </a:bodyPr>
          <a:lstStyle/>
          <a:p>
            <a:pPr>
              <a:lnSpc>
                <a:spcPct val="128000"/>
              </a:lnSpc>
              <a:spcBef>
                <a:spcPts val="0"/>
              </a:spcBef>
              <a:spcAft>
                <a:spcPts val="0"/>
              </a:spcAft>
            </a:pPr>
            <a:r>
              <a:rPr sz="1150" b="0" i="0">
                <a:solidFill>
                  <a:srgbClr val="3D4653"/>
                </a:solidFill>
                <a:latin typeface="Consolas"/>
              </a:rPr>
              <a:t>public void testRead() throws Exception {</a:t>
            </a:r>
          </a:p>
          <a:p>
            <a:pPr>
              <a:lnSpc>
                <a:spcPct val="128000"/>
              </a:lnSpc>
              <a:spcBef>
                <a:spcPts val="0"/>
              </a:spcBef>
              <a:spcAft>
                <a:spcPts val="0"/>
              </a:spcAft>
            </a:pPr>
            <a:r>
              <a:rPr sz="1150" b="0" i="0">
                <a:solidFill>
                  <a:srgbClr val="3D4653"/>
                </a:solidFill>
                <a:latin typeface="Consolas"/>
              </a:rPr>
              <a:t>  FileSystem fs = cluster.getFileSystem();</a:t>
            </a:r>
          </a:p>
          <a:p>
            <a:pPr>
              <a:lnSpc>
                <a:spcPct val="128000"/>
              </a:lnSpc>
              <a:spcBef>
                <a:spcPts val="0"/>
              </a:spcBef>
              <a:spcAft>
                <a:spcPts val="0"/>
              </a:spcAft>
            </a:pPr>
            <a:r>
              <a:rPr sz="1150" b="1" i="0">
                <a:solidFill>
                  <a:srgbClr val="A8452B"/>
                </a:solidFill>
                <a:latin typeface="Consolas"/>
              </a:rPr>
              <a:t>  long tStart = System.currentTimeMillis();</a:t>
            </a:r>
          </a:p>
          <a:p>
            <a:pPr>
              <a:lnSpc>
                <a:spcPct val="128000"/>
              </a:lnSpc>
              <a:spcBef>
                <a:spcPts val="0"/>
              </a:spcBef>
              <a:spcAft>
                <a:spcPts val="0"/>
              </a:spcAft>
            </a:pPr>
            <a:r>
              <a:rPr sz="1150" b="0" i="0">
                <a:solidFill>
                  <a:srgbClr val="3D4653"/>
                </a:solidFill>
                <a:latin typeface="Consolas"/>
              </a:rPr>
              <a:t>  bench.readTest(fs);</a:t>
            </a:r>
          </a:p>
          <a:p>
            <a:pPr>
              <a:lnSpc>
                <a:spcPct val="128000"/>
              </a:lnSpc>
              <a:spcBef>
                <a:spcPts val="0"/>
              </a:spcBef>
              <a:spcAft>
                <a:spcPts val="0"/>
              </a:spcAft>
            </a:pPr>
            <a:r>
              <a:rPr sz="1150" b="1" i="0">
                <a:solidFill>
                  <a:srgbClr val="A8452B"/>
                </a:solidFill>
                <a:latin typeface="Consolas"/>
              </a:rPr>
              <a:t>  long execTime = System.currentTimeMillis()</a:t>
            </a:r>
          </a:p>
          <a:p>
            <a:pPr>
              <a:lnSpc>
                <a:spcPct val="128000"/>
              </a:lnSpc>
              <a:spcBef>
                <a:spcPts val="0"/>
              </a:spcBef>
              <a:spcAft>
                <a:spcPts val="0"/>
              </a:spcAft>
            </a:pPr>
            <a:r>
              <a:rPr sz="1150" b="1" i="0">
                <a:solidFill>
                  <a:srgbClr val="A8452B"/>
                </a:solidFill>
                <a:latin typeface="Consolas"/>
              </a:rPr>
              <a:t>                  - tStart;</a:t>
            </a:r>
          </a:p>
          <a:p>
            <a:pPr>
              <a:lnSpc>
                <a:spcPct val="128000"/>
              </a:lnSpc>
              <a:spcBef>
                <a:spcPts val="0"/>
              </a:spcBef>
              <a:spcAft>
                <a:spcPts val="0"/>
              </a:spcAft>
            </a:pPr>
            <a:r>
              <a:rPr sz="1150" b="0" i="0">
                <a:solidFill>
                  <a:srgbClr val="3D4653"/>
                </a:solidFill>
                <a:latin typeface="Consolas"/>
              </a:rPr>
              <a:t>  bench.analyzeResult(fs, TEST_TYPE_READ,</a:t>
            </a:r>
          </a:p>
          <a:p>
            <a:pPr>
              <a:lnSpc>
                <a:spcPct val="128000"/>
              </a:lnSpc>
              <a:spcBef>
                <a:spcPts val="0"/>
              </a:spcBef>
              <a:spcAft>
                <a:spcPts val="0"/>
              </a:spcAft>
            </a:pPr>
            <a:r>
              <a:rPr sz="1150" b="0" i="0">
                <a:solidFill>
                  <a:srgbClr val="3D4653"/>
                </a:solidFill>
                <a:latin typeface="Consolas"/>
              </a:rPr>
              <a:t>                      execTime);</a:t>
            </a:r>
          </a:p>
          <a:p>
            <a:pPr>
              <a:lnSpc>
                <a:spcPct val="128000"/>
              </a:lnSpc>
              <a:spcBef>
                <a:spcPts val="0"/>
              </a:spcBef>
              <a:spcAft>
                <a:spcPts val="0"/>
              </a:spcAft>
            </a:pPr>
            <a:r>
              <a:rPr sz="1150" b="0" i="0">
                <a:solidFill>
                  <a:srgbClr val="3D4653"/>
                </a:solidFill>
                <a:latin typeface="Consolas"/>
              </a:rPr>
              <a:t>}</a:t>
            </a:r>
          </a:p>
        </p:txBody>
      </p:sp>
      <p:sp>
        <p:nvSpPr>
          <p:cNvPr id="12" name="TextBox 11"/>
          <p:cNvSpPr txBox="1"/>
          <p:nvPr/>
        </p:nvSpPr>
        <p:spPr>
          <a:xfrm>
            <a:off x="6556248" y="1920240"/>
            <a:ext cx="5303520" cy="274320"/>
          </a:xfrm>
          <a:prstGeom prst="rect">
            <a:avLst/>
          </a:prstGeom>
          <a:noFill/>
        </p:spPr>
        <p:txBody>
          <a:bodyPr wrap="square" lIns="0" rIns="0" tIns="0" bIns="0" anchor="t">
            <a:spAutoFit/>
          </a:bodyPr>
          <a:lstStyle/>
          <a:p>
            <a:pPr>
              <a:spcBef>
                <a:spcPts val="0"/>
              </a:spcBef>
              <a:spcAft>
                <a:spcPts val="0"/>
              </a:spcAft>
            </a:pPr>
            <a:r>
              <a:rPr sz="1400" b="1" i="0">
                <a:solidFill>
                  <a:srgbClr val="151A21"/>
                </a:solidFill>
                <a:latin typeface="Calibri"/>
              </a:rPr>
              <a:t>Score: distinct families present</a:t>
            </a:r>
          </a:p>
        </p:txBody>
      </p:sp>
      <p:sp>
        <p:nvSpPr>
          <p:cNvPr id="13" name="Rectangle 12"/>
          <p:cNvSpPr/>
          <p:nvPr/>
        </p:nvSpPr>
        <p:spPr>
          <a:xfrm>
            <a:off x="6556248" y="2267712"/>
            <a:ext cx="5257800" cy="2362078"/>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02552" y="2414016"/>
            <a:ext cx="4965192" cy="2069470"/>
          </a:xfrm>
          <a:prstGeom prst="rect">
            <a:avLst/>
          </a:prstGeom>
          <a:noFill/>
        </p:spPr>
        <p:txBody>
          <a:bodyPr wrap="square" lIns="0" rIns="0" tIns="0" bIns="0" anchor="t">
            <a:spAutoFit/>
          </a:bodyPr>
          <a:lstStyle/>
          <a:p>
            <a:pPr>
              <a:lnSpc>
                <a:spcPct val="128000"/>
              </a:lnSpc>
              <a:spcBef>
                <a:spcPts val="0"/>
              </a:spcBef>
              <a:spcAft>
                <a:spcPts val="0"/>
              </a:spcAft>
            </a:pPr>
            <a:r>
              <a:rPr sz="1150" b="0" i="0">
                <a:solidFill>
                  <a:srgbClr val="6B7684"/>
                </a:solidFill>
                <a:latin typeface="Consolas"/>
              </a:rPr>
              <a:t>slice        async  conc  time    uc    od</a:t>
            </a:r>
          </a:p>
          <a:p>
            <a:pPr>
              <a:lnSpc>
                <a:spcPct val="128000"/>
              </a:lnSpc>
              <a:spcBef>
                <a:spcPts val="0"/>
              </a:spcBef>
              <a:spcAft>
                <a:spcPts val="0"/>
              </a:spcAft>
            </a:pPr>
            <a:r>
              <a:rPr sz="1150" b="0" i="0">
                <a:solidFill>
                  <a:srgbClr val="3D4653"/>
                </a:solidFill>
                <a:latin typeface="Consolas"/>
              </a:rPr>
              <a:t>body             0     0     1     0     1</a:t>
            </a:r>
          </a:p>
          <a:p>
            <a:pPr>
              <a:lnSpc>
                <a:spcPct val="128000"/>
              </a:lnSpc>
              <a:spcBef>
                <a:spcPts val="0"/>
              </a:spcBef>
              <a:spcAft>
                <a:spcPts val="0"/>
              </a:spcAft>
            </a:pPr>
            <a:r>
              <a:rPr sz="1150" b="0" i="0">
                <a:solidFill>
                  <a:srgbClr val="3D4653"/>
                </a:solidFill>
                <a:latin typeface="Consolas"/>
              </a:rPr>
              <a:t>fields           0     0     0     0     2</a:t>
            </a:r>
          </a:p>
          <a:p>
            <a:pPr>
              <a:lnSpc>
                <a:spcPct val="128000"/>
              </a:lnSpc>
              <a:spcBef>
                <a:spcPts val="0"/>
              </a:spcBef>
              <a:spcAft>
                <a:spcPts val="0"/>
              </a:spcAft>
            </a:pPr>
            <a:r>
              <a:rPr sz="1150" b="0" i="0">
                <a:solidFill>
                  <a:srgbClr val="3D4653"/>
                </a:solidFill>
                <a:latin typeface="Consolas"/>
              </a:rPr>
              <a:t>fixtures         0     0     0     0     3</a:t>
            </a:r>
          </a:p>
          <a:p>
            <a:pPr>
              <a:lnSpc>
                <a:spcPct val="128000"/>
              </a:lnSpc>
              <a:spcBef>
                <a:spcPts val="0"/>
              </a:spcBef>
              <a:spcAft>
                <a:spcPts val="0"/>
              </a:spcAft>
            </a:pPr>
            <a:r>
              <a:rPr sz="1150" b="0" i="0">
                <a:solidFill>
                  <a:srgbClr val="3D4653"/>
                </a:solidFill>
                <a:latin typeface="Consolas"/>
              </a:rPr>
              <a:t>helpers          0     0     2     0     3</a:t>
            </a:r>
          </a:p>
          <a:p>
            <a:pPr>
              <a:lnSpc>
                <a:spcPct val="128000"/>
              </a:lnSpc>
              <a:spcBef>
                <a:spcPts val="0"/>
              </a:spcBef>
              <a:spcAft>
                <a:spcPts val="0"/>
              </a:spcAft>
            </a:pPr>
            <a:r>
              <a:rPr sz="1150" b="0" i="0">
                <a:solidFill>
                  <a:srgbClr val="3D4653"/>
                </a:solidFill>
                <a:latin typeface="Consolas"/>
              </a:rPr>
              <a:t> </a:t>
            </a:r>
          </a:p>
          <a:p>
            <a:pPr>
              <a:lnSpc>
                <a:spcPct val="128000"/>
              </a:lnSpc>
              <a:spcBef>
                <a:spcPts val="0"/>
              </a:spcBef>
              <a:spcAft>
                <a:spcPts val="0"/>
              </a:spcAft>
            </a:pPr>
            <a:r>
              <a:rPr sz="1150" b="1" i="0">
                <a:solidFill>
                  <a:srgbClr val="A8452B"/>
                </a:solidFill>
                <a:latin typeface="Consolas"/>
              </a:rPr>
              <a:t>body only            time=1 od=1  tie, wrong</a:t>
            </a:r>
          </a:p>
          <a:p>
            <a:pPr>
              <a:lnSpc>
                <a:spcPct val="128000"/>
              </a:lnSpc>
              <a:spcBef>
                <a:spcPts val="0"/>
              </a:spcBef>
              <a:spcAft>
                <a:spcPts val="0"/>
              </a:spcAft>
            </a:pPr>
            <a:r>
              <a:rPr sz="1150" b="1" i="0">
                <a:solidFill>
                  <a:srgbClr val="2F4858"/>
                </a:solidFill>
                <a:latin typeface="Consolas"/>
              </a:rPr>
              <a:t>body + fields/fixtures      od=5  CORRECT</a:t>
            </a:r>
          </a:p>
          <a:p>
            <a:pPr>
              <a:lnSpc>
                <a:spcPct val="128000"/>
              </a:lnSpc>
              <a:spcBef>
                <a:spcPts val="0"/>
              </a:spcBef>
              <a:spcAft>
                <a:spcPts val="0"/>
              </a:spcAft>
            </a:pPr>
            <a:r>
              <a:rPr sz="1150" b="1" i="0">
                <a:solidFill>
                  <a:srgbClr val="2F4858"/>
                </a:solidFill>
                <a:latin typeface="Consolas"/>
              </a:rPr>
              <a:t>body + full context         od=5  CORRECT</a:t>
            </a:r>
          </a:p>
        </p:txBody>
      </p:sp>
      <p:sp>
        <p:nvSpPr>
          <p:cNvPr id="15" name="TextBox 14"/>
          <p:cNvSpPr txBox="1"/>
          <p:nvPr/>
        </p:nvSpPr>
        <p:spPr>
          <a:xfrm>
            <a:off x="658368" y="4983480"/>
            <a:ext cx="10874959" cy="822960"/>
          </a:xfrm>
          <a:prstGeom prst="rect">
            <a:avLst/>
          </a:prstGeom>
          <a:noFill/>
        </p:spPr>
        <p:txBody>
          <a:bodyPr wrap="square" lIns="0" rIns="0" tIns="0" bIns="0" anchor="t">
            <a:spAutoFit/>
          </a:bodyPr>
          <a:lstStyle/>
          <a:p>
            <a:pPr>
              <a:lnSpc>
                <a:spcPct val="128000"/>
              </a:lnSpc>
              <a:spcBef>
                <a:spcPts val="0"/>
              </a:spcBef>
              <a:spcAft>
                <a:spcPts val="0"/>
              </a:spcAft>
            </a:pPr>
            <a:r>
              <a:rPr sz="1450" b="0" i="0">
                <a:solidFill>
                  <a:srgbClr val="151A21"/>
                </a:solidFill>
                <a:latin typeface="Calibri"/>
              </a:rPr>
              <a:t>The body holds a wall-clock idiom twice, which is exactly why the model answers time. The static cluster and the @BeforeClass that calls testWrite hold five order-dependency families and never reach the model.</a:t>
            </a:r>
          </a:p>
        </p:txBody>
      </p:sp>
      <p:sp>
        <p:nvSpPr>
          <p:cNvPr id="16" name="Rectangle 15"/>
          <p:cNvSpPr/>
          <p:nvPr/>
        </p:nvSpPr>
        <p:spPr>
          <a:xfrm>
            <a:off x="658368" y="5742432"/>
            <a:ext cx="10874959" cy="841248"/>
          </a:xfrm>
          <a:prstGeom prst="rect">
            <a:avLst/>
          </a:prstGeom>
          <a:solidFill>
            <a:srgbClr val="F6E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5742432"/>
            <a:ext cx="45720" cy="841248"/>
          </a:xfrm>
          <a:prstGeom prst="rect">
            <a:avLst/>
          </a:prstGeom>
          <a:solidFill>
            <a:srgbClr val="A8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5888736"/>
            <a:ext cx="10234879" cy="640080"/>
          </a:xfrm>
          <a:prstGeom prst="rect">
            <a:avLst/>
          </a:prstGeom>
          <a:noFill/>
        </p:spPr>
        <p:txBody>
          <a:bodyPr wrap="square" lIns="0" rIns="0" tIns="0" bIns="0" anchor="t">
            <a:spAutoFit/>
          </a:bodyPr>
          <a:lstStyle/>
          <a:p>
            <a:pPr>
              <a:lnSpc>
                <a:spcPct val="126000"/>
              </a:lnSpc>
              <a:spcBef>
                <a:spcPts val="0"/>
              </a:spcBef>
              <a:spcAft>
                <a:spcPts val="0"/>
              </a:spcAft>
            </a:pPr>
            <a:r>
              <a:rPr sz="1350" b="0" i="0">
                <a:solidFill>
                  <a:srgbClr val="3D4653"/>
                </a:solidFill>
                <a:latin typeface="Calibri"/>
              </a:rPr>
              <a:t>Provenance matters: the commit pinned in the benchmark holds a refactored version of this test reading "long execTime = bench.readTest(fs)", with no clock call at all. Scoring against that copy would have hidden why the model said time.</a:t>
            </a:r>
          </a:p>
        </p:txBody>
      </p:sp>
      <p:sp>
        <p:nvSpPr>
          <p:cNvPr id="19" name="TextBox 18"/>
          <p:cNvSpPr txBox="1"/>
          <p:nvPr/>
        </p:nvSpPr>
        <p:spPr>
          <a:xfrm>
            <a:off x="10820095" y="6382512"/>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RESULT</a:t>
            </a:r>
          </a:p>
        </p:txBody>
      </p:sp>
      <p:sp>
        <p:nvSpPr>
          <p:cNvPr id="3" name="TextBox 2"/>
          <p:cNvSpPr txBox="1"/>
          <p:nvPr/>
        </p:nvSpPr>
        <p:spPr>
          <a:xfrm>
            <a:off x="658368" y="713232"/>
            <a:ext cx="10881360" cy="822960"/>
          </a:xfrm>
          <a:prstGeom prst="rect">
            <a:avLst/>
          </a:prstGeom>
          <a:noFill/>
        </p:spPr>
        <p:txBody>
          <a:bodyPr wrap="square" lIns="0" rIns="0" tIns="0" bIns="0" anchor="t">
            <a:spAutoFit/>
          </a:bodyPr>
          <a:lstStyle/>
          <a:p>
            <a:pPr>
              <a:lnSpc>
                <a:spcPct val="105000"/>
              </a:lnSpc>
              <a:spcBef>
                <a:spcPts val="0"/>
              </a:spcBef>
              <a:spcAft>
                <a:spcPts val="0"/>
              </a:spcAft>
            </a:pPr>
            <a:r>
              <a:rPr sz="3000" b="1" i="0">
                <a:solidFill>
                  <a:srgbClr val="151A21"/>
                </a:solidFill>
                <a:latin typeface="Calibri"/>
              </a:rPr>
              <a:t>The finding</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874519"/>
            <a:ext cx="2567863" cy="201168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2103120"/>
            <a:ext cx="2202103" cy="822960"/>
          </a:xfrm>
          <a:prstGeom prst="rect">
            <a:avLst/>
          </a:prstGeom>
          <a:noFill/>
        </p:spPr>
        <p:txBody>
          <a:bodyPr wrap="square" lIns="0" rIns="0" tIns="0" bIns="0" anchor="t">
            <a:spAutoFit/>
          </a:bodyPr>
          <a:lstStyle/>
          <a:p>
            <a:pPr>
              <a:lnSpc>
                <a:spcPct val="100000"/>
              </a:lnSpc>
              <a:spcBef>
                <a:spcPts val="0"/>
              </a:spcBef>
              <a:spcAft>
                <a:spcPts val="0"/>
              </a:spcAft>
            </a:pPr>
            <a:r>
              <a:rPr sz="4000" b="1" i="0">
                <a:solidFill>
                  <a:srgbClr val="3A6650"/>
                </a:solidFill>
                <a:latin typeface="Calibri"/>
              </a:rPr>
              <a:t>+0.138</a:t>
            </a:r>
          </a:p>
        </p:txBody>
      </p:sp>
      <p:sp>
        <p:nvSpPr>
          <p:cNvPr id="7" name="TextBox 6"/>
          <p:cNvSpPr txBox="1"/>
          <p:nvPr/>
        </p:nvSpPr>
        <p:spPr>
          <a:xfrm>
            <a:off x="877824" y="2926080"/>
            <a:ext cx="2128951" cy="868680"/>
          </a:xfrm>
          <a:prstGeom prst="rect">
            <a:avLst/>
          </a:prstGeom>
          <a:noFill/>
        </p:spPr>
        <p:txBody>
          <a:bodyPr wrap="square" lIns="0" rIns="0" tIns="0" bIns="0" anchor="t">
            <a:spAutoFit/>
          </a:bodyPr>
          <a:lstStyle/>
          <a:p>
            <a:pPr>
              <a:lnSpc>
                <a:spcPct val="124000"/>
              </a:lnSpc>
              <a:spcBef>
                <a:spcPts val="0"/>
              </a:spcBef>
              <a:spcAft>
                <a:spcPts val="0"/>
              </a:spcAft>
            </a:pPr>
            <a:r>
              <a:rPr sz="1300" b="0" i="0">
                <a:solidFill>
                  <a:srgbClr val="3D4653"/>
                </a:solidFill>
                <a:latin typeface="Calibri"/>
              </a:rPr>
              <a:t>Macro-F1 gained by adding fields and fixtures. 95% CI [+0.109, +0.164]</a:t>
            </a:r>
          </a:p>
        </p:txBody>
      </p:sp>
      <p:sp>
        <p:nvSpPr>
          <p:cNvPr id="8" name="Rectangle 7"/>
          <p:cNvSpPr/>
          <p:nvPr/>
        </p:nvSpPr>
        <p:spPr>
          <a:xfrm>
            <a:off x="3427399" y="1874519"/>
            <a:ext cx="2567863" cy="201168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46855" y="2103120"/>
            <a:ext cx="2202103" cy="822960"/>
          </a:xfrm>
          <a:prstGeom prst="rect">
            <a:avLst/>
          </a:prstGeom>
          <a:noFill/>
        </p:spPr>
        <p:txBody>
          <a:bodyPr wrap="square" lIns="0" rIns="0" tIns="0" bIns="0" anchor="t">
            <a:spAutoFit/>
          </a:bodyPr>
          <a:lstStyle/>
          <a:p>
            <a:pPr>
              <a:lnSpc>
                <a:spcPct val="100000"/>
              </a:lnSpc>
              <a:spcBef>
                <a:spcPts val="0"/>
              </a:spcBef>
              <a:spcAft>
                <a:spcPts val="0"/>
              </a:spcAft>
            </a:pPr>
            <a:r>
              <a:rPr sz="4000" b="1" i="0">
                <a:solidFill>
                  <a:srgbClr val="2F4858"/>
                </a:solidFill>
                <a:latin typeface="Calibri"/>
              </a:rPr>
              <a:t>49%</a:t>
            </a:r>
          </a:p>
        </p:txBody>
      </p:sp>
      <p:sp>
        <p:nvSpPr>
          <p:cNvPr id="10" name="TextBox 9"/>
          <p:cNvSpPr txBox="1"/>
          <p:nvPr/>
        </p:nvSpPr>
        <p:spPr>
          <a:xfrm>
            <a:off x="3646855" y="2926080"/>
            <a:ext cx="2128951" cy="868680"/>
          </a:xfrm>
          <a:prstGeom prst="rect">
            <a:avLst/>
          </a:prstGeom>
          <a:noFill/>
        </p:spPr>
        <p:txBody>
          <a:bodyPr wrap="square" lIns="0" rIns="0" tIns="0" bIns="0" anchor="t">
            <a:spAutoFit/>
          </a:bodyPr>
          <a:lstStyle/>
          <a:p>
            <a:pPr>
              <a:lnSpc>
                <a:spcPct val="124000"/>
              </a:lnSpc>
              <a:spcBef>
                <a:spcPts val="0"/>
              </a:spcBef>
              <a:spcAft>
                <a:spcPts val="0"/>
              </a:spcAft>
            </a:pPr>
            <a:r>
              <a:rPr sz="1300" b="0" i="0">
                <a:solidFill>
                  <a:srgbClr val="3D4653"/>
                </a:solidFill>
                <a:latin typeface="Calibri"/>
              </a:rPr>
              <a:t>Tests whose true category is absent from the body and present in the context</a:t>
            </a:r>
          </a:p>
        </p:txBody>
      </p:sp>
      <p:sp>
        <p:nvSpPr>
          <p:cNvPr id="11" name="Rectangle 10"/>
          <p:cNvSpPr/>
          <p:nvPr/>
        </p:nvSpPr>
        <p:spPr>
          <a:xfrm>
            <a:off x="6196431" y="1874519"/>
            <a:ext cx="2567863" cy="201168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5887" y="2103120"/>
            <a:ext cx="2202103" cy="822960"/>
          </a:xfrm>
          <a:prstGeom prst="rect">
            <a:avLst/>
          </a:prstGeom>
          <a:noFill/>
        </p:spPr>
        <p:txBody>
          <a:bodyPr wrap="square" lIns="0" rIns="0" tIns="0" bIns="0" anchor="t">
            <a:spAutoFit/>
          </a:bodyPr>
          <a:lstStyle/>
          <a:p>
            <a:pPr>
              <a:lnSpc>
                <a:spcPct val="100000"/>
              </a:lnSpc>
              <a:spcBef>
                <a:spcPts val="0"/>
              </a:spcBef>
              <a:spcAft>
                <a:spcPts val="0"/>
              </a:spcAft>
            </a:pPr>
            <a:r>
              <a:rPr sz="4000" b="1" i="0">
                <a:solidFill>
                  <a:srgbClr val="3A6650"/>
                </a:solidFill>
                <a:latin typeface="Calibri"/>
              </a:rPr>
              <a:t>15 → 76%</a:t>
            </a:r>
          </a:p>
        </p:txBody>
      </p:sp>
      <p:sp>
        <p:nvSpPr>
          <p:cNvPr id="13" name="TextBox 12"/>
          <p:cNvSpPr txBox="1"/>
          <p:nvPr/>
        </p:nvSpPr>
        <p:spPr>
          <a:xfrm>
            <a:off x="6415887" y="2926080"/>
            <a:ext cx="2128951" cy="868680"/>
          </a:xfrm>
          <a:prstGeom prst="rect">
            <a:avLst/>
          </a:prstGeom>
          <a:noFill/>
        </p:spPr>
        <p:txBody>
          <a:bodyPr wrap="square" lIns="0" rIns="0" tIns="0" bIns="0" anchor="t">
            <a:spAutoFit/>
          </a:bodyPr>
          <a:lstStyle/>
          <a:p>
            <a:pPr>
              <a:lnSpc>
                <a:spcPct val="124000"/>
              </a:lnSpc>
              <a:spcBef>
                <a:spcPts val="0"/>
              </a:spcBef>
              <a:spcAft>
                <a:spcPts val="0"/>
              </a:spcAft>
            </a:pPr>
            <a:r>
              <a:rPr sz="1300" b="0" i="0">
                <a:solidFill>
                  <a:srgbClr val="3D4653"/>
                </a:solidFill>
                <a:latin typeface="Calibri"/>
              </a:rPr>
              <a:t>Order-dependency recall, body only against body plus fields and fixtures</a:t>
            </a:r>
          </a:p>
        </p:txBody>
      </p:sp>
      <p:sp>
        <p:nvSpPr>
          <p:cNvPr id="14" name="Rectangle 13"/>
          <p:cNvSpPr/>
          <p:nvPr/>
        </p:nvSpPr>
        <p:spPr>
          <a:xfrm>
            <a:off x="8965463" y="1874519"/>
            <a:ext cx="2567863" cy="201168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4919" y="2103120"/>
            <a:ext cx="2202103" cy="822960"/>
          </a:xfrm>
          <a:prstGeom prst="rect">
            <a:avLst/>
          </a:prstGeom>
          <a:noFill/>
        </p:spPr>
        <p:txBody>
          <a:bodyPr wrap="square" lIns="0" rIns="0" tIns="0" bIns="0" anchor="t">
            <a:spAutoFit/>
          </a:bodyPr>
          <a:lstStyle/>
          <a:p>
            <a:pPr>
              <a:lnSpc>
                <a:spcPct val="100000"/>
              </a:lnSpc>
              <a:spcBef>
                <a:spcPts val="0"/>
              </a:spcBef>
              <a:spcAft>
                <a:spcPts val="0"/>
              </a:spcAft>
            </a:pPr>
            <a:r>
              <a:rPr sz="4000" b="1" i="0">
                <a:solidFill>
                  <a:srgbClr val="A8452B"/>
                </a:solidFill>
                <a:latin typeface="Calibri"/>
              </a:rPr>
              <a:t>0 of 4</a:t>
            </a:r>
          </a:p>
        </p:txBody>
      </p:sp>
      <p:sp>
        <p:nvSpPr>
          <p:cNvPr id="16" name="TextBox 15"/>
          <p:cNvSpPr txBox="1"/>
          <p:nvPr/>
        </p:nvSpPr>
        <p:spPr>
          <a:xfrm>
            <a:off x="9184919" y="2926080"/>
            <a:ext cx="2128951" cy="868680"/>
          </a:xfrm>
          <a:prstGeom prst="rect">
            <a:avLst/>
          </a:prstGeom>
          <a:noFill/>
        </p:spPr>
        <p:txBody>
          <a:bodyPr wrap="square" lIns="0" rIns="0" tIns="0" bIns="0" anchor="t">
            <a:spAutoFit/>
          </a:bodyPr>
          <a:lstStyle/>
          <a:p>
            <a:pPr>
              <a:lnSpc>
                <a:spcPct val="124000"/>
              </a:lnSpc>
              <a:spcBef>
                <a:spcPts val="0"/>
              </a:spcBef>
              <a:spcAft>
                <a:spcPts val="0"/>
              </a:spcAft>
            </a:pPr>
            <a:r>
              <a:rPr sz="1300" b="0" i="0">
                <a:solidFill>
                  <a:srgbClr val="3D4653"/>
                </a:solidFill>
                <a:latin typeface="Calibri"/>
              </a:rPr>
              <a:t>Other categories that improve. Two of them get worse</a:t>
            </a:r>
          </a:p>
        </p:txBody>
      </p:sp>
      <p:sp>
        <p:nvSpPr>
          <p:cNvPr id="17" name="Rectangle 16"/>
          <p:cNvSpPr/>
          <p:nvPr/>
        </p:nvSpPr>
        <p:spPr>
          <a:xfrm>
            <a:off x="658368" y="4279392"/>
            <a:ext cx="10874959" cy="932688"/>
          </a:xfrm>
          <a:prstGeom prst="rect">
            <a:avLst/>
          </a:prstGeom>
          <a:solidFill>
            <a:srgbClr val="F6E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279392"/>
            <a:ext cx="45720" cy="932688"/>
          </a:xfrm>
          <a:prstGeom prst="rect">
            <a:avLst/>
          </a:prstGeom>
          <a:solidFill>
            <a:srgbClr val="A8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4462272"/>
            <a:ext cx="10234879" cy="731520"/>
          </a:xfrm>
          <a:prstGeom prst="rect">
            <a:avLst/>
          </a:prstGeom>
          <a:noFill/>
        </p:spPr>
        <p:txBody>
          <a:bodyPr wrap="square" lIns="0" rIns="0" tIns="0" bIns="0" anchor="t">
            <a:spAutoFit/>
          </a:bodyPr>
          <a:lstStyle/>
          <a:p>
            <a:pPr>
              <a:lnSpc>
                <a:spcPct val="128000"/>
              </a:lnSpc>
              <a:spcBef>
                <a:spcPts val="0"/>
              </a:spcBef>
              <a:spcAft>
                <a:spcPts val="0"/>
              </a:spcAft>
            </a:pPr>
            <a:r>
              <a:rPr sz="1550" b="1" i="0">
                <a:solidFill>
                  <a:srgbClr val="151A21"/>
                </a:solidFill>
                <a:latin typeface="Calibri"/>
              </a:rPr>
              <a:t>Read this as "context helps order dependency", not "context helps". Nothing here shows a gain for async wait, concurrency, time or unordered collections. On this sample the first two get worse.</a:t>
            </a:r>
          </a:p>
        </p:txBody>
      </p:sp>
      <p:sp>
        <p:nvSpPr>
          <p:cNvPr id="20" name="TextBox 19"/>
          <p:cNvSpPr txBox="1"/>
          <p:nvPr/>
        </p:nvSpPr>
        <p:spPr>
          <a:xfrm>
            <a:off x="658368" y="5486400"/>
            <a:ext cx="10874959" cy="822960"/>
          </a:xfrm>
          <a:prstGeom prst="rect">
            <a:avLst/>
          </a:prstGeom>
          <a:noFill/>
        </p:spPr>
        <p:txBody>
          <a:bodyPr wrap="square" lIns="0" rIns="0" tIns="0" bIns="0" anchor="t">
            <a:spAutoFit/>
          </a:bodyPr>
          <a:lstStyle/>
          <a:p>
            <a:pPr>
              <a:lnSpc>
                <a:spcPct val="128000"/>
              </a:lnSpc>
              <a:spcBef>
                <a:spcPts val="0"/>
              </a:spcBef>
              <a:spcAft>
                <a:spcPts val="0"/>
              </a:spcAft>
            </a:pPr>
            <a:r>
              <a:rPr sz="1500" b="0" i="0">
                <a:solidFill>
                  <a:srgbClr val="3D4653"/>
                </a:solidFill>
                <a:latin typeface="Calibri"/>
              </a:rPr>
              <a:t>Independent confirmation: of the 6 errors the proxy recovers, 5 are cases found by hand in investigation 1, by a different method answering a different question.</a:t>
            </a:r>
          </a:p>
        </p:txBody>
      </p:sp>
      <p:sp>
        <p:nvSpPr>
          <p:cNvPr id="21" name="TextBox 20"/>
          <p:cNvSpPr txBox="1"/>
          <p:nvPr/>
        </p:nvSpPr>
        <p:spPr>
          <a:xfrm>
            <a:off x="10820095" y="6382512"/>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FIVE-WAY FLAKY CATEGORY TASK</a:t>
            </a:r>
          </a:p>
        </p:txBody>
      </p:sp>
      <p:sp>
        <p:nvSpPr>
          <p:cNvPr id="3" name="TextBox 2"/>
          <p:cNvSpPr txBox="1"/>
          <p:nvPr/>
        </p:nvSpPr>
        <p:spPr>
          <a:xfrm>
            <a:off x="658368" y="713232"/>
            <a:ext cx="10881360" cy="822960"/>
          </a:xfrm>
          <a:prstGeom prst="rect">
            <a:avLst/>
          </a:prstGeom>
          <a:noFill/>
        </p:spPr>
        <p:txBody>
          <a:bodyPr wrap="square" lIns="0" rIns="0" tIns="0" bIns="0" anchor="t">
            <a:spAutoFit/>
          </a:bodyPr>
          <a:lstStyle/>
          <a:p>
            <a:pPr>
              <a:lnSpc>
                <a:spcPct val="105000"/>
              </a:lnSpc>
              <a:spcBef>
                <a:spcPts val="0"/>
              </a:spcBef>
              <a:spcAft>
                <a:spcPts val="0"/>
              </a:spcAft>
            </a:pPr>
            <a:r>
              <a:rPr sz="3000" b="1" i="0">
                <a:solidFill>
                  <a:srgbClr val="151A21"/>
                </a:solidFill>
                <a:latin typeface="Calibri"/>
              </a:rPr>
              <a:t>Macro-F1 by what the classifier is fed</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37360"/>
            <a:ext cx="7315200" cy="274320"/>
          </a:xfrm>
          <a:prstGeom prst="rect">
            <a:avLst/>
          </a:prstGeom>
          <a:noFill/>
        </p:spPr>
        <p:txBody>
          <a:bodyPr wrap="square" lIns="0" rIns="0" tIns="0" bIns="0" anchor="t">
            <a:spAutoFit/>
          </a:bodyPr>
          <a:lstStyle/>
          <a:p>
            <a:pPr>
              <a:spcBef>
                <a:spcPts val="0"/>
              </a:spcBef>
              <a:spcAft>
                <a:spcPts val="0"/>
              </a:spcAft>
            </a:pPr>
            <a:r>
              <a:rPr sz="1400" b="0" i="0">
                <a:solidFill>
                  <a:srgbClr val="6B7684"/>
                </a:solidFill>
                <a:latin typeface="Calibri"/>
              </a:rPr>
              <a:t>Same 80 tests, same metric, ties broken at random over 2,000 draws.</a:t>
            </a:r>
          </a:p>
        </p:txBody>
      </p:sp>
      <p:sp>
        <p:nvSpPr>
          <p:cNvPr id="6" name="Rectangle 5"/>
          <p:cNvSpPr/>
          <p:nvPr/>
        </p:nvSpPr>
        <p:spPr>
          <a:xfrm>
            <a:off x="658368" y="2121408"/>
            <a:ext cx="146304" cy="146304"/>
          </a:xfrm>
          <a:prstGeom prst="rect">
            <a:avLst/>
          </a:prstGeom>
          <a:solidFill>
            <a:srgbClr val="007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066543"/>
            <a:ext cx="1463040" cy="274320"/>
          </a:xfrm>
          <a:prstGeom prst="rect">
            <a:avLst/>
          </a:prstGeom>
          <a:noFill/>
        </p:spPr>
        <p:txBody>
          <a:bodyPr wrap="square" lIns="0" rIns="0" tIns="0" bIns="0" anchor="t">
            <a:spAutoFit/>
          </a:bodyPr>
          <a:lstStyle/>
          <a:p>
            <a:pPr>
              <a:spcBef>
                <a:spcPts val="0"/>
              </a:spcBef>
              <a:spcAft>
                <a:spcPts val="0"/>
              </a:spcAft>
            </a:pPr>
            <a:r>
              <a:rPr sz="1300" b="0" i="0">
                <a:solidFill>
                  <a:srgbClr val="3D4653"/>
                </a:solidFill>
                <a:latin typeface="Calibri"/>
              </a:rPr>
              <a:t>token proxy</a:t>
            </a:r>
          </a:p>
        </p:txBody>
      </p:sp>
      <p:sp>
        <p:nvSpPr>
          <p:cNvPr id="8" name="Rectangle 7"/>
          <p:cNvSpPr/>
          <p:nvPr/>
        </p:nvSpPr>
        <p:spPr>
          <a:xfrm>
            <a:off x="2350008" y="2121408"/>
            <a:ext cx="146304" cy="146304"/>
          </a:xfrm>
          <a:prstGeom prst="rect">
            <a:avLst/>
          </a:prstGeom>
          <a:solidFill>
            <a:srgbClr val="8B9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87752" y="2066543"/>
            <a:ext cx="1645920" cy="274320"/>
          </a:xfrm>
          <a:prstGeom prst="rect">
            <a:avLst/>
          </a:prstGeom>
          <a:noFill/>
        </p:spPr>
        <p:txBody>
          <a:bodyPr wrap="square" lIns="0" rIns="0" tIns="0" bIns="0" anchor="t">
            <a:spAutoFit/>
          </a:bodyPr>
          <a:lstStyle/>
          <a:p>
            <a:pPr>
              <a:spcBef>
                <a:spcPts val="0"/>
              </a:spcBef>
              <a:spcAft>
                <a:spcPts val="0"/>
              </a:spcAft>
            </a:pPr>
            <a:r>
              <a:rPr sz="1300" b="0" i="0">
                <a:solidFill>
                  <a:srgbClr val="3D4653"/>
                </a:solidFill>
                <a:latin typeface="Calibri"/>
              </a:rPr>
              <a:t>reference point</a:t>
            </a:r>
          </a:p>
        </p:txBody>
      </p:sp>
      <p:sp>
        <p:nvSpPr>
          <p:cNvPr id="10" name="Rectangle 9"/>
          <p:cNvSpPr/>
          <p:nvPr/>
        </p:nvSpPr>
        <p:spPr>
          <a:xfrm>
            <a:off x="5577840" y="2487168"/>
            <a:ext cx="12700" cy="278892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57800" y="5330952"/>
            <a:ext cx="640080" cy="274320"/>
          </a:xfrm>
          <a:prstGeom prst="rect">
            <a:avLst/>
          </a:prstGeom>
          <a:noFill/>
        </p:spPr>
        <p:txBody>
          <a:bodyPr wrap="square" lIns="0" rIns="0" tIns="0" bIns="0" anchor="t">
            <a:spAutoFit/>
          </a:bodyPr>
          <a:lstStyle/>
          <a:p>
            <a:pPr algn="ctr">
              <a:spcBef>
                <a:spcPts val="0"/>
              </a:spcBef>
              <a:spcAft>
                <a:spcPts val="0"/>
              </a:spcAft>
            </a:pPr>
            <a:r>
              <a:rPr sz="1100" b="0" i="0">
                <a:solidFill>
                  <a:srgbClr val="6B7684"/>
                </a:solidFill>
                <a:latin typeface="Consolas"/>
              </a:rPr>
              <a:t>0.10</a:t>
            </a:r>
          </a:p>
        </p:txBody>
      </p:sp>
      <p:sp>
        <p:nvSpPr>
          <p:cNvPr id="12" name="Rectangle 11"/>
          <p:cNvSpPr/>
          <p:nvPr/>
        </p:nvSpPr>
        <p:spPr>
          <a:xfrm>
            <a:off x="7223760" y="2487168"/>
            <a:ext cx="12700" cy="278892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5330952"/>
            <a:ext cx="640080" cy="274320"/>
          </a:xfrm>
          <a:prstGeom prst="rect">
            <a:avLst/>
          </a:prstGeom>
          <a:noFill/>
        </p:spPr>
        <p:txBody>
          <a:bodyPr wrap="square" lIns="0" rIns="0" tIns="0" bIns="0" anchor="t">
            <a:spAutoFit/>
          </a:bodyPr>
          <a:lstStyle/>
          <a:p>
            <a:pPr algn="ctr">
              <a:spcBef>
                <a:spcPts val="0"/>
              </a:spcBef>
              <a:spcAft>
                <a:spcPts val="0"/>
              </a:spcAft>
            </a:pPr>
            <a:r>
              <a:rPr sz="1100" b="0" i="0">
                <a:solidFill>
                  <a:srgbClr val="6B7684"/>
                </a:solidFill>
                <a:latin typeface="Consolas"/>
              </a:rPr>
              <a:t>0.20</a:t>
            </a:r>
          </a:p>
        </p:txBody>
      </p:sp>
      <p:sp>
        <p:nvSpPr>
          <p:cNvPr id="14" name="Rectangle 13"/>
          <p:cNvSpPr/>
          <p:nvPr/>
        </p:nvSpPr>
        <p:spPr>
          <a:xfrm>
            <a:off x="8869680" y="2487168"/>
            <a:ext cx="12700" cy="278892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5330952"/>
            <a:ext cx="640080" cy="274320"/>
          </a:xfrm>
          <a:prstGeom prst="rect">
            <a:avLst/>
          </a:prstGeom>
          <a:noFill/>
        </p:spPr>
        <p:txBody>
          <a:bodyPr wrap="square" lIns="0" rIns="0" tIns="0" bIns="0" anchor="t">
            <a:spAutoFit/>
          </a:bodyPr>
          <a:lstStyle/>
          <a:p>
            <a:pPr algn="ctr">
              <a:spcBef>
                <a:spcPts val="0"/>
              </a:spcBef>
              <a:spcAft>
                <a:spcPts val="0"/>
              </a:spcAft>
            </a:pPr>
            <a:r>
              <a:rPr sz="1100" b="0" i="0">
                <a:solidFill>
                  <a:srgbClr val="6B7684"/>
                </a:solidFill>
                <a:latin typeface="Consolas"/>
              </a:rPr>
              <a:t>0.30</a:t>
            </a:r>
          </a:p>
        </p:txBody>
      </p:sp>
      <p:sp>
        <p:nvSpPr>
          <p:cNvPr id="16" name="Rectangle 15"/>
          <p:cNvSpPr/>
          <p:nvPr/>
        </p:nvSpPr>
        <p:spPr>
          <a:xfrm>
            <a:off x="10515600" y="2487168"/>
            <a:ext cx="12700" cy="278892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95560" y="5330952"/>
            <a:ext cx="640080" cy="274320"/>
          </a:xfrm>
          <a:prstGeom prst="rect">
            <a:avLst/>
          </a:prstGeom>
          <a:noFill/>
        </p:spPr>
        <p:txBody>
          <a:bodyPr wrap="square" lIns="0" rIns="0" tIns="0" bIns="0" anchor="t">
            <a:spAutoFit/>
          </a:bodyPr>
          <a:lstStyle/>
          <a:p>
            <a:pPr algn="ctr">
              <a:spcBef>
                <a:spcPts val="0"/>
              </a:spcBef>
              <a:spcAft>
                <a:spcPts val="0"/>
              </a:spcAft>
            </a:pPr>
            <a:r>
              <a:rPr sz="1100" b="0" i="0">
                <a:solidFill>
                  <a:srgbClr val="6B7684"/>
                </a:solidFill>
                <a:latin typeface="Consolas"/>
              </a:rPr>
              <a:t>0.40</a:t>
            </a:r>
          </a:p>
        </p:txBody>
      </p:sp>
      <p:sp>
        <p:nvSpPr>
          <p:cNvPr id="18" name="TextBox 17"/>
          <p:cNvSpPr txBox="1"/>
          <p:nvPr/>
        </p:nvSpPr>
        <p:spPr>
          <a:xfrm>
            <a:off x="3611879" y="5330952"/>
            <a:ext cx="640080" cy="274320"/>
          </a:xfrm>
          <a:prstGeom prst="rect">
            <a:avLst/>
          </a:prstGeom>
          <a:noFill/>
        </p:spPr>
        <p:txBody>
          <a:bodyPr wrap="square" lIns="0" rIns="0" tIns="0" bIns="0" anchor="t">
            <a:spAutoFit/>
          </a:bodyPr>
          <a:lstStyle/>
          <a:p>
            <a:pPr algn="ctr">
              <a:spcBef>
                <a:spcPts val="0"/>
              </a:spcBef>
              <a:spcAft>
                <a:spcPts val="0"/>
              </a:spcAft>
            </a:pPr>
            <a:r>
              <a:rPr sz="1100" b="0" i="0">
                <a:solidFill>
                  <a:srgbClr val="6B7684"/>
                </a:solidFill>
                <a:latin typeface="Consolas"/>
              </a:rPr>
              <a:t>0</a:t>
            </a:r>
          </a:p>
        </p:txBody>
      </p:sp>
      <p:sp>
        <p:nvSpPr>
          <p:cNvPr id="19" name="TextBox 18"/>
          <p:cNvSpPr txBox="1"/>
          <p:nvPr/>
        </p:nvSpPr>
        <p:spPr>
          <a:xfrm>
            <a:off x="6858000" y="5559552"/>
            <a:ext cx="1280160" cy="274320"/>
          </a:xfrm>
          <a:prstGeom prst="rect">
            <a:avLst/>
          </a:prstGeom>
          <a:noFill/>
        </p:spPr>
        <p:txBody>
          <a:bodyPr wrap="square" lIns="0" rIns="0" tIns="0" bIns="0" anchor="t">
            <a:spAutoFit/>
          </a:bodyPr>
          <a:lstStyle/>
          <a:p>
            <a:pPr>
              <a:spcBef>
                <a:spcPts val="0"/>
              </a:spcBef>
              <a:spcAft>
                <a:spcPts val="0"/>
              </a:spcAft>
            </a:pPr>
            <a:r>
              <a:rPr sz="1150" b="0" i="0">
                <a:solidFill>
                  <a:srgbClr val="6B7684"/>
                </a:solidFill>
                <a:latin typeface="Consolas"/>
              </a:rPr>
              <a:t>macro-F1</a:t>
            </a:r>
          </a:p>
        </p:txBody>
      </p:sp>
      <p:sp>
        <p:nvSpPr>
          <p:cNvPr id="20" name="TextBox 19"/>
          <p:cNvSpPr txBox="1"/>
          <p:nvPr/>
        </p:nvSpPr>
        <p:spPr>
          <a:xfrm>
            <a:off x="658368" y="2560320"/>
            <a:ext cx="3154680" cy="292608"/>
          </a:xfrm>
          <a:prstGeom prst="rect">
            <a:avLst/>
          </a:prstGeom>
          <a:noFill/>
        </p:spPr>
        <p:txBody>
          <a:bodyPr wrap="square" lIns="0" rIns="0" tIns="0" bIns="0" anchor="t">
            <a:spAutoFit/>
          </a:bodyPr>
          <a:lstStyle/>
          <a:p>
            <a:pPr algn="r">
              <a:spcBef>
                <a:spcPts val="0"/>
              </a:spcBef>
              <a:spcAft>
                <a:spcPts val="0"/>
              </a:spcAft>
            </a:pPr>
            <a:r>
              <a:rPr sz="1400" b="0" i="0">
                <a:solidFill>
                  <a:srgbClr val="3D4653"/>
                </a:solidFill>
                <a:latin typeface="Calibri"/>
              </a:rPr>
              <a:t>majority class</a:t>
            </a:r>
          </a:p>
        </p:txBody>
      </p:sp>
      <p:sp>
        <p:nvSpPr>
          <p:cNvPr id="21" name="Rectangle 20"/>
          <p:cNvSpPr/>
          <p:nvPr/>
        </p:nvSpPr>
        <p:spPr>
          <a:xfrm>
            <a:off x="3931920" y="2578608"/>
            <a:ext cx="2403043" cy="274320"/>
          </a:xfrm>
          <a:prstGeom prst="rect">
            <a:avLst/>
          </a:prstGeom>
          <a:solidFill>
            <a:srgbClr val="8B9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4691" y="2569464"/>
            <a:ext cx="1737360" cy="292608"/>
          </a:xfrm>
          <a:prstGeom prst="rect">
            <a:avLst/>
          </a:prstGeom>
          <a:noFill/>
        </p:spPr>
        <p:txBody>
          <a:bodyPr wrap="square" lIns="0" rIns="0" tIns="0" bIns="0" anchor="t">
            <a:spAutoFit/>
          </a:bodyPr>
          <a:lstStyle/>
          <a:p>
            <a:pPr>
              <a:spcBef>
                <a:spcPts val="0"/>
              </a:spcBef>
              <a:spcAft>
                <a:spcPts val="0"/>
              </a:spcAft>
            </a:pPr>
            <a:r>
              <a:rPr sz="1300" b="1" i="0">
                <a:solidFill>
                  <a:srgbClr val="151A21"/>
                </a:solidFill>
                <a:latin typeface="Consolas"/>
              </a:rPr>
              <a:t>0.146</a:t>
            </a:r>
          </a:p>
        </p:txBody>
      </p:sp>
      <p:sp>
        <p:nvSpPr>
          <p:cNvPr id="23" name="TextBox 22"/>
          <p:cNvSpPr txBox="1"/>
          <p:nvPr/>
        </p:nvSpPr>
        <p:spPr>
          <a:xfrm>
            <a:off x="7066483" y="2569464"/>
            <a:ext cx="1737360" cy="292608"/>
          </a:xfrm>
          <a:prstGeom prst="rect">
            <a:avLst/>
          </a:prstGeom>
          <a:noFill/>
        </p:spPr>
        <p:txBody>
          <a:bodyPr wrap="square" lIns="0" rIns="0" tIns="0" bIns="0" anchor="t">
            <a:spAutoFit/>
          </a:bodyPr>
          <a:lstStyle/>
          <a:p>
            <a:pPr>
              <a:spcBef>
                <a:spcPts val="0"/>
              </a:spcBef>
              <a:spcAft>
                <a:spcPts val="0"/>
              </a:spcAft>
            </a:pPr>
            <a:r>
              <a:rPr sz="1200" b="0" i="0">
                <a:solidFill>
                  <a:srgbClr val="6B7684"/>
                </a:solidFill>
                <a:latin typeface="Consolas"/>
              </a:rPr>
              <a:t>· 57.5% acc</a:t>
            </a:r>
          </a:p>
        </p:txBody>
      </p:sp>
      <p:sp>
        <p:nvSpPr>
          <p:cNvPr id="24" name="TextBox 23"/>
          <p:cNvSpPr txBox="1"/>
          <p:nvPr/>
        </p:nvSpPr>
        <p:spPr>
          <a:xfrm>
            <a:off x="658368" y="3090672"/>
            <a:ext cx="3154680" cy="292608"/>
          </a:xfrm>
          <a:prstGeom prst="rect">
            <a:avLst/>
          </a:prstGeom>
          <a:noFill/>
        </p:spPr>
        <p:txBody>
          <a:bodyPr wrap="square" lIns="0" rIns="0" tIns="0" bIns="0" anchor="t">
            <a:spAutoFit/>
          </a:bodyPr>
          <a:lstStyle/>
          <a:p>
            <a:pPr algn="r">
              <a:spcBef>
                <a:spcPts val="0"/>
              </a:spcBef>
              <a:spcAft>
                <a:spcPts val="0"/>
              </a:spcAft>
            </a:pPr>
            <a:r>
              <a:rPr sz="1400" b="0" i="0">
                <a:solidFill>
                  <a:srgbClr val="3D4653"/>
                </a:solidFill>
                <a:latin typeface="Calibri"/>
              </a:rPr>
              <a:t>body only</a:t>
            </a:r>
          </a:p>
        </p:txBody>
      </p:sp>
      <p:sp>
        <p:nvSpPr>
          <p:cNvPr id="25" name="Rectangle 24"/>
          <p:cNvSpPr/>
          <p:nvPr/>
        </p:nvSpPr>
        <p:spPr>
          <a:xfrm>
            <a:off x="3931920" y="3108960"/>
            <a:ext cx="3472891" cy="274320"/>
          </a:xfrm>
          <a:prstGeom prst="rect">
            <a:avLst/>
          </a:prstGeom>
          <a:solidFill>
            <a:srgbClr val="007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14539" y="3099816"/>
            <a:ext cx="1737360" cy="292608"/>
          </a:xfrm>
          <a:prstGeom prst="rect">
            <a:avLst/>
          </a:prstGeom>
          <a:noFill/>
        </p:spPr>
        <p:txBody>
          <a:bodyPr wrap="square" lIns="0" rIns="0" tIns="0" bIns="0" anchor="t">
            <a:spAutoFit/>
          </a:bodyPr>
          <a:lstStyle/>
          <a:p>
            <a:pPr>
              <a:spcBef>
                <a:spcPts val="0"/>
              </a:spcBef>
              <a:spcAft>
                <a:spcPts val="0"/>
              </a:spcAft>
            </a:pPr>
            <a:r>
              <a:rPr sz="1300" b="1" i="0">
                <a:solidFill>
                  <a:srgbClr val="151A21"/>
                </a:solidFill>
                <a:latin typeface="Consolas"/>
              </a:rPr>
              <a:t>0.211</a:t>
            </a:r>
          </a:p>
        </p:txBody>
      </p:sp>
      <p:sp>
        <p:nvSpPr>
          <p:cNvPr id="27" name="TextBox 26"/>
          <p:cNvSpPr txBox="1"/>
          <p:nvPr/>
        </p:nvSpPr>
        <p:spPr>
          <a:xfrm>
            <a:off x="8136331" y="3099816"/>
            <a:ext cx="1737360" cy="292608"/>
          </a:xfrm>
          <a:prstGeom prst="rect">
            <a:avLst/>
          </a:prstGeom>
          <a:noFill/>
        </p:spPr>
        <p:txBody>
          <a:bodyPr wrap="square" lIns="0" rIns="0" tIns="0" bIns="0" anchor="t">
            <a:spAutoFit/>
          </a:bodyPr>
          <a:lstStyle/>
          <a:p>
            <a:pPr>
              <a:spcBef>
                <a:spcPts val="0"/>
              </a:spcBef>
              <a:spcAft>
                <a:spcPts val="0"/>
              </a:spcAft>
            </a:pPr>
            <a:r>
              <a:rPr sz="1200" b="0" i="0">
                <a:solidFill>
                  <a:srgbClr val="6B7684"/>
                </a:solidFill>
                <a:latin typeface="Consolas"/>
              </a:rPr>
              <a:t>· 22.5% acc</a:t>
            </a:r>
          </a:p>
        </p:txBody>
      </p:sp>
      <p:sp>
        <p:nvSpPr>
          <p:cNvPr id="28" name="TextBox 27"/>
          <p:cNvSpPr txBox="1"/>
          <p:nvPr/>
        </p:nvSpPr>
        <p:spPr>
          <a:xfrm>
            <a:off x="658368" y="3621024"/>
            <a:ext cx="3154680" cy="292608"/>
          </a:xfrm>
          <a:prstGeom prst="rect">
            <a:avLst/>
          </a:prstGeom>
          <a:noFill/>
        </p:spPr>
        <p:txBody>
          <a:bodyPr wrap="square" lIns="0" rIns="0" tIns="0" bIns="0" anchor="t">
            <a:spAutoFit/>
          </a:bodyPr>
          <a:lstStyle/>
          <a:p>
            <a:pPr algn="r">
              <a:spcBef>
                <a:spcPts val="0"/>
              </a:spcBef>
              <a:spcAft>
                <a:spcPts val="0"/>
              </a:spcAft>
            </a:pPr>
            <a:r>
              <a:rPr sz="1400" b="0" i="0">
                <a:solidFill>
                  <a:srgbClr val="3D4653"/>
                </a:solidFill>
                <a:latin typeface="Calibri"/>
              </a:rPr>
              <a:t>body + full context</a:t>
            </a:r>
          </a:p>
        </p:txBody>
      </p:sp>
      <p:sp>
        <p:nvSpPr>
          <p:cNvPr id="29" name="Rectangle 28"/>
          <p:cNvSpPr/>
          <p:nvPr/>
        </p:nvSpPr>
        <p:spPr>
          <a:xfrm>
            <a:off x="3931920" y="3639312"/>
            <a:ext cx="5365699" cy="274320"/>
          </a:xfrm>
          <a:prstGeom prst="rect">
            <a:avLst/>
          </a:prstGeom>
          <a:solidFill>
            <a:srgbClr val="007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07347" y="3630168"/>
            <a:ext cx="1737360" cy="292608"/>
          </a:xfrm>
          <a:prstGeom prst="rect">
            <a:avLst/>
          </a:prstGeom>
          <a:noFill/>
        </p:spPr>
        <p:txBody>
          <a:bodyPr wrap="square" lIns="0" rIns="0" tIns="0" bIns="0" anchor="t">
            <a:spAutoFit/>
          </a:bodyPr>
          <a:lstStyle/>
          <a:p>
            <a:pPr>
              <a:spcBef>
                <a:spcPts val="0"/>
              </a:spcBef>
              <a:spcAft>
                <a:spcPts val="0"/>
              </a:spcAft>
            </a:pPr>
            <a:r>
              <a:rPr sz="1300" b="1" i="0">
                <a:solidFill>
                  <a:srgbClr val="151A21"/>
                </a:solidFill>
                <a:latin typeface="Consolas"/>
              </a:rPr>
              <a:t>0.326</a:t>
            </a:r>
          </a:p>
        </p:txBody>
      </p:sp>
      <p:sp>
        <p:nvSpPr>
          <p:cNvPr id="31" name="TextBox 30"/>
          <p:cNvSpPr txBox="1"/>
          <p:nvPr/>
        </p:nvSpPr>
        <p:spPr>
          <a:xfrm>
            <a:off x="10029139" y="3630168"/>
            <a:ext cx="1737360" cy="292608"/>
          </a:xfrm>
          <a:prstGeom prst="rect">
            <a:avLst/>
          </a:prstGeom>
          <a:noFill/>
        </p:spPr>
        <p:txBody>
          <a:bodyPr wrap="square" lIns="0" rIns="0" tIns="0" bIns="0" anchor="t">
            <a:spAutoFit/>
          </a:bodyPr>
          <a:lstStyle/>
          <a:p>
            <a:pPr>
              <a:spcBef>
                <a:spcPts val="0"/>
              </a:spcBef>
              <a:spcAft>
                <a:spcPts val="0"/>
              </a:spcAft>
            </a:pPr>
            <a:r>
              <a:rPr sz="1200" b="0" i="0">
                <a:solidFill>
                  <a:srgbClr val="6B7684"/>
                </a:solidFill>
                <a:latin typeface="Consolas"/>
              </a:rPr>
              <a:t>· 38.8% acc</a:t>
            </a:r>
          </a:p>
        </p:txBody>
      </p:sp>
      <p:sp>
        <p:nvSpPr>
          <p:cNvPr id="32" name="TextBox 31"/>
          <p:cNvSpPr txBox="1"/>
          <p:nvPr/>
        </p:nvSpPr>
        <p:spPr>
          <a:xfrm>
            <a:off x="658368" y="4151376"/>
            <a:ext cx="3154680" cy="292608"/>
          </a:xfrm>
          <a:prstGeom prst="rect">
            <a:avLst/>
          </a:prstGeom>
          <a:noFill/>
        </p:spPr>
        <p:txBody>
          <a:bodyPr wrap="square" lIns="0" rIns="0" tIns="0" bIns="0" anchor="t">
            <a:spAutoFit/>
          </a:bodyPr>
          <a:lstStyle/>
          <a:p>
            <a:pPr algn="r">
              <a:spcBef>
                <a:spcPts val="0"/>
              </a:spcBef>
              <a:spcAft>
                <a:spcPts val="0"/>
              </a:spcAft>
            </a:pPr>
            <a:r>
              <a:rPr sz="1400" b="1" i="0">
                <a:solidFill>
                  <a:srgbClr val="151A21"/>
                </a:solidFill>
                <a:latin typeface="Calibri"/>
              </a:rPr>
              <a:t>body + fields + fixtures</a:t>
            </a:r>
          </a:p>
        </p:txBody>
      </p:sp>
      <p:sp>
        <p:nvSpPr>
          <p:cNvPr id="33" name="Rectangle 32"/>
          <p:cNvSpPr/>
          <p:nvPr/>
        </p:nvSpPr>
        <p:spPr>
          <a:xfrm>
            <a:off x="3931920" y="4169663"/>
            <a:ext cx="7274966" cy="274320"/>
          </a:xfrm>
          <a:prstGeom prst="rect">
            <a:avLst/>
          </a:prstGeom>
          <a:solidFill>
            <a:srgbClr val="007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16614" y="4160520"/>
            <a:ext cx="1737360" cy="292608"/>
          </a:xfrm>
          <a:prstGeom prst="rect">
            <a:avLst/>
          </a:prstGeom>
          <a:noFill/>
        </p:spPr>
        <p:txBody>
          <a:bodyPr wrap="square" lIns="0" rIns="0" tIns="0" bIns="0" anchor="t">
            <a:spAutoFit/>
          </a:bodyPr>
          <a:lstStyle/>
          <a:p>
            <a:pPr>
              <a:spcBef>
                <a:spcPts val="0"/>
              </a:spcBef>
              <a:spcAft>
                <a:spcPts val="0"/>
              </a:spcAft>
            </a:pPr>
            <a:r>
              <a:rPr sz="1300" b="1" i="0">
                <a:solidFill>
                  <a:srgbClr val="151A21"/>
                </a:solidFill>
                <a:latin typeface="Consolas"/>
              </a:rPr>
              <a:t>0.442</a:t>
            </a:r>
          </a:p>
        </p:txBody>
      </p:sp>
      <p:sp>
        <p:nvSpPr>
          <p:cNvPr id="35" name="TextBox 34"/>
          <p:cNvSpPr txBox="1"/>
          <p:nvPr/>
        </p:nvSpPr>
        <p:spPr>
          <a:xfrm>
            <a:off x="11938406" y="4160520"/>
            <a:ext cx="1737360" cy="292608"/>
          </a:xfrm>
          <a:prstGeom prst="rect">
            <a:avLst/>
          </a:prstGeom>
          <a:noFill/>
        </p:spPr>
        <p:txBody>
          <a:bodyPr wrap="square" lIns="0" rIns="0" tIns="0" bIns="0" anchor="t">
            <a:spAutoFit/>
          </a:bodyPr>
          <a:lstStyle/>
          <a:p>
            <a:pPr>
              <a:spcBef>
                <a:spcPts val="0"/>
              </a:spcBef>
              <a:spcAft>
                <a:spcPts val="0"/>
              </a:spcAft>
            </a:pPr>
            <a:r>
              <a:rPr sz="1200" b="0" i="0">
                <a:solidFill>
                  <a:srgbClr val="6B7684"/>
                </a:solidFill>
                <a:latin typeface="Consolas"/>
              </a:rPr>
              <a:t>· 57.5% acc</a:t>
            </a:r>
          </a:p>
        </p:txBody>
      </p:sp>
      <p:sp>
        <p:nvSpPr>
          <p:cNvPr id="36" name="TextBox 35"/>
          <p:cNvSpPr txBox="1"/>
          <p:nvPr/>
        </p:nvSpPr>
        <p:spPr>
          <a:xfrm>
            <a:off x="658368" y="4681728"/>
            <a:ext cx="3154680" cy="292608"/>
          </a:xfrm>
          <a:prstGeom prst="rect">
            <a:avLst/>
          </a:prstGeom>
          <a:noFill/>
        </p:spPr>
        <p:txBody>
          <a:bodyPr wrap="square" lIns="0" rIns="0" tIns="0" bIns="0" anchor="t">
            <a:spAutoFit/>
          </a:bodyPr>
          <a:lstStyle/>
          <a:p>
            <a:pPr algn="r">
              <a:spcBef>
                <a:spcPts val="0"/>
              </a:spcBef>
              <a:spcAft>
                <a:spcPts val="0"/>
              </a:spcAft>
            </a:pPr>
            <a:r>
              <a:rPr sz="1400" b="0" i="0">
                <a:solidFill>
                  <a:srgbClr val="3D4653"/>
                </a:solidFill>
                <a:latin typeface="Calibri"/>
              </a:rPr>
              <a:t>FlakyLens, shipped</a:t>
            </a:r>
          </a:p>
        </p:txBody>
      </p:sp>
      <p:sp>
        <p:nvSpPr>
          <p:cNvPr id="37" name="Rectangle 36"/>
          <p:cNvSpPr/>
          <p:nvPr/>
        </p:nvSpPr>
        <p:spPr>
          <a:xfrm>
            <a:off x="3931920" y="4700016"/>
            <a:ext cx="6056985" cy="274320"/>
          </a:xfrm>
          <a:prstGeom prst="rect">
            <a:avLst/>
          </a:prstGeom>
          <a:solidFill>
            <a:srgbClr val="8B95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98633" y="4690872"/>
            <a:ext cx="1737360" cy="292608"/>
          </a:xfrm>
          <a:prstGeom prst="rect">
            <a:avLst/>
          </a:prstGeom>
          <a:noFill/>
        </p:spPr>
        <p:txBody>
          <a:bodyPr wrap="square" lIns="0" rIns="0" tIns="0" bIns="0" anchor="t">
            <a:spAutoFit/>
          </a:bodyPr>
          <a:lstStyle/>
          <a:p>
            <a:pPr>
              <a:spcBef>
                <a:spcPts val="0"/>
              </a:spcBef>
              <a:spcAft>
                <a:spcPts val="0"/>
              </a:spcAft>
            </a:pPr>
            <a:r>
              <a:rPr sz="1300" b="1" i="0">
                <a:solidFill>
                  <a:srgbClr val="151A21"/>
                </a:solidFill>
                <a:latin typeface="Consolas"/>
              </a:rPr>
              <a:t>0.368</a:t>
            </a:r>
          </a:p>
        </p:txBody>
      </p:sp>
      <p:sp>
        <p:nvSpPr>
          <p:cNvPr id="39" name="TextBox 38"/>
          <p:cNvSpPr txBox="1"/>
          <p:nvPr/>
        </p:nvSpPr>
        <p:spPr>
          <a:xfrm>
            <a:off x="10720425" y="4690872"/>
            <a:ext cx="1737360" cy="292608"/>
          </a:xfrm>
          <a:prstGeom prst="rect">
            <a:avLst/>
          </a:prstGeom>
          <a:noFill/>
        </p:spPr>
        <p:txBody>
          <a:bodyPr wrap="square" lIns="0" rIns="0" tIns="0" bIns="0" anchor="t">
            <a:spAutoFit/>
          </a:bodyPr>
          <a:lstStyle/>
          <a:p>
            <a:pPr>
              <a:spcBef>
                <a:spcPts val="0"/>
              </a:spcBef>
              <a:spcAft>
                <a:spcPts val="0"/>
              </a:spcAft>
            </a:pPr>
            <a:r>
              <a:rPr sz="1200" b="0" i="0">
                <a:solidFill>
                  <a:srgbClr val="6B7684"/>
                </a:solidFill>
                <a:latin typeface="Consolas"/>
              </a:rPr>
              <a:t>· 51.2% acc</a:t>
            </a:r>
          </a:p>
        </p:txBody>
      </p:sp>
      <p:sp>
        <p:nvSpPr>
          <p:cNvPr id="40" name="TextBox 39"/>
          <p:cNvSpPr txBox="1"/>
          <p:nvPr/>
        </p:nvSpPr>
        <p:spPr>
          <a:xfrm>
            <a:off x="658368" y="5897880"/>
            <a:ext cx="10874959" cy="822960"/>
          </a:xfrm>
          <a:prstGeom prst="rect">
            <a:avLst/>
          </a:prstGeom>
          <a:noFill/>
        </p:spPr>
        <p:txBody>
          <a:bodyPr wrap="square" lIns="0" rIns="0" tIns="0" bIns="0" anchor="t">
            <a:spAutoFit/>
          </a:bodyPr>
          <a:lstStyle/>
          <a:p>
            <a:pPr>
              <a:lnSpc>
                <a:spcPct val="128000"/>
              </a:lnSpc>
              <a:spcBef>
                <a:spcPts val="0"/>
              </a:spcBef>
              <a:spcAft>
                <a:spcPts val="0"/>
              </a:spcAft>
            </a:pPr>
            <a:r>
              <a:rPr sz="1350" b="0" i="0">
                <a:solidFill>
                  <a:srgbClr val="6B7684"/>
                </a:solidFill>
                <a:latin typeface="Calibri"/>
              </a:rPr>
              <a:t>Trained macro-F1 (scikit-learn): 0.253 body only, 0.391 with fields and fixtures, 0.382 with full context; both beat a permutation null at p &lt;= 0.007. The FlakyLens bar is not like-for-like: these 80 tests over-represent projects where classes could be located.</a:t>
            </a:r>
          </a:p>
        </p:txBody>
      </p:sp>
      <p:sp>
        <p:nvSpPr>
          <p:cNvPr id="41" name="TextBox 40"/>
          <p:cNvSpPr txBox="1"/>
          <p:nvPr/>
        </p:nvSpPr>
        <p:spPr>
          <a:xfrm>
            <a:off x="10820095" y="6382512"/>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PER-CATEGORY RECALL</a:t>
            </a:r>
          </a:p>
        </p:txBody>
      </p:sp>
      <p:sp>
        <p:nvSpPr>
          <p:cNvPr id="3" name="TextBox 2"/>
          <p:cNvSpPr txBox="1"/>
          <p:nvPr/>
        </p:nvSpPr>
        <p:spPr>
          <a:xfrm>
            <a:off x="658368" y="713232"/>
            <a:ext cx="10881360" cy="822960"/>
          </a:xfrm>
          <a:prstGeom prst="rect">
            <a:avLst/>
          </a:prstGeom>
          <a:noFill/>
        </p:spPr>
        <p:txBody>
          <a:bodyPr wrap="square" lIns="0" rIns="0" tIns="0" bIns="0" anchor="t">
            <a:spAutoFit/>
          </a:bodyPr>
          <a:lstStyle/>
          <a:p>
            <a:pPr>
              <a:lnSpc>
                <a:spcPct val="105000"/>
              </a:lnSpc>
              <a:spcBef>
                <a:spcPts val="0"/>
              </a:spcBef>
              <a:spcAft>
                <a:spcPts val="0"/>
              </a:spcAft>
            </a:pPr>
            <a:r>
              <a:rPr sz="3000" b="1" i="0">
                <a:solidFill>
                  <a:srgbClr val="151A21"/>
                </a:solidFill>
                <a:latin typeface="Calibri"/>
              </a:rPr>
              <a:t>All of the gain is one category</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1228" y="1805939"/>
            <a:ext cx="137160" cy="137160"/>
          </a:xfrm>
          <a:prstGeom prst="ellipse">
            <a:avLst/>
          </a:prstGeom>
          <a:solidFill>
            <a:srgbClr val="007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755648"/>
            <a:ext cx="1371600" cy="274320"/>
          </a:xfrm>
          <a:prstGeom prst="rect">
            <a:avLst/>
          </a:prstGeom>
          <a:noFill/>
        </p:spPr>
        <p:txBody>
          <a:bodyPr wrap="square" lIns="0" rIns="0" tIns="0" bIns="0" anchor="t">
            <a:spAutoFit/>
          </a:bodyPr>
          <a:lstStyle/>
          <a:p>
            <a:pPr>
              <a:spcBef>
                <a:spcPts val="0"/>
              </a:spcBef>
              <a:spcAft>
                <a:spcPts val="0"/>
              </a:spcAft>
            </a:pPr>
            <a:r>
              <a:rPr sz="1300" b="0" i="0">
                <a:solidFill>
                  <a:srgbClr val="3D4653"/>
                </a:solidFill>
                <a:latin typeface="Calibri"/>
              </a:rPr>
              <a:t>body only</a:t>
            </a:r>
          </a:p>
        </p:txBody>
      </p:sp>
      <p:sp>
        <p:nvSpPr>
          <p:cNvPr id="7" name="Oval 6"/>
          <p:cNvSpPr/>
          <p:nvPr/>
        </p:nvSpPr>
        <p:spPr>
          <a:xfrm>
            <a:off x="2281428" y="1805939"/>
            <a:ext cx="137160" cy="137160"/>
          </a:xfrm>
          <a:prstGeom prst="ellipse">
            <a:avLst/>
          </a:prstGeom>
          <a:solidFill>
            <a:srgbClr val="C2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32887" y="1755648"/>
            <a:ext cx="2560320" cy="274320"/>
          </a:xfrm>
          <a:prstGeom prst="rect">
            <a:avLst/>
          </a:prstGeom>
          <a:noFill/>
        </p:spPr>
        <p:txBody>
          <a:bodyPr wrap="square" lIns="0" rIns="0" tIns="0" bIns="0" anchor="t">
            <a:spAutoFit/>
          </a:bodyPr>
          <a:lstStyle/>
          <a:p>
            <a:pPr>
              <a:spcBef>
                <a:spcPts val="0"/>
              </a:spcBef>
              <a:spcAft>
                <a:spcPts val="0"/>
              </a:spcAft>
            </a:pPr>
            <a:r>
              <a:rPr sz="1300" b="0" i="0">
                <a:solidFill>
                  <a:srgbClr val="3D4653"/>
                </a:solidFill>
                <a:latin typeface="Calibri"/>
              </a:rPr>
              <a:t>body + fields + fixtures</a:t>
            </a:r>
          </a:p>
        </p:txBody>
      </p:sp>
      <p:sp>
        <p:nvSpPr>
          <p:cNvPr id="9" name="Rectangle 8"/>
          <p:cNvSpPr/>
          <p:nvPr/>
        </p:nvSpPr>
        <p:spPr>
          <a:xfrm>
            <a:off x="4206240" y="2212848"/>
            <a:ext cx="12700" cy="301752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79" y="5303520"/>
            <a:ext cx="731520" cy="274320"/>
          </a:xfrm>
          <a:prstGeom prst="rect">
            <a:avLst/>
          </a:prstGeom>
          <a:noFill/>
        </p:spPr>
        <p:txBody>
          <a:bodyPr wrap="square" lIns="0" rIns="0" tIns="0" bIns="0" anchor="t">
            <a:spAutoFit/>
          </a:bodyPr>
          <a:lstStyle/>
          <a:p>
            <a:pPr algn="ctr">
              <a:spcBef>
                <a:spcPts val="0"/>
              </a:spcBef>
              <a:spcAft>
                <a:spcPts val="0"/>
              </a:spcAft>
            </a:pPr>
            <a:r>
              <a:rPr sz="1100" b="0" i="0">
                <a:solidFill>
                  <a:srgbClr val="6B7684"/>
                </a:solidFill>
                <a:latin typeface="Consolas"/>
              </a:rPr>
              <a:t>0</a:t>
            </a:r>
          </a:p>
        </p:txBody>
      </p:sp>
      <p:sp>
        <p:nvSpPr>
          <p:cNvPr id="11" name="Rectangle 10"/>
          <p:cNvSpPr/>
          <p:nvPr/>
        </p:nvSpPr>
        <p:spPr>
          <a:xfrm>
            <a:off x="5852159" y="2212848"/>
            <a:ext cx="12700" cy="301752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399" y="5303520"/>
            <a:ext cx="731520" cy="274320"/>
          </a:xfrm>
          <a:prstGeom prst="rect">
            <a:avLst/>
          </a:prstGeom>
          <a:noFill/>
        </p:spPr>
        <p:txBody>
          <a:bodyPr wrap="square" lIns="0" rIns="0" tIns="0" bIns="0" anchor="t">
            <a:spAutoFit/>
          </a:bodyPr>
          <a:lstStyle/>
          <a:p>
            <a:pPr algn="ctr">
              <a:spcBef>
                <a:spcPts val="0"/>
              </a:spcBef>
              <a:spcAft>
                <a:spcPts val="0"/>
              </a:spcAft>
            </a:pPr>
            <a:r>
              <a:rPr sz="1100" b="0" i="0">
                <a:solidFill>
                  <a:srgbClr val="6B7684"/>
                </a:solidFill>
                <a:latin typeface="Consolas"/>
              </a:rPr>
              <a:t>25%</a:t>
            </a:r>
          </a:p>
        </p:txBody>
      </p:sp>
      <p:sp>
        <p:nvSpPr>
          <p:cNvPr id="13" name="Rectangle 12"/>
          <p:cNvSpPr/>
          <p:nvPr/>
        </p:nvSpPr>
        <p:spPr>
          <a:xfrm>
            <a:off x="7498079" y="2212848"/>
            <a:ext cx="12700" cy="301752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19" y="5303520"/>
            <a:ext cx="731520" cy="274320"/>
          </a:xfrm>
          <a:prstGeom prst="rect">
            <a:avLst/>
          </a:prstGeom>
          <a:noFill/>
        </p:spPr>
        <p:txBody>
          <a:bodyPr wrap="square" lIns="0" rIns="0" tIns="0" bIns="0" anchor="t">
            <a:spAutoFit/>
          </a:bodyPr>
          <a:lstStyle/>
          <a:p>
            <a:pPr algn="ctr">
              <a:spcBef>
                <a:spcPts val="0"/>
              </a:spcBef>
              <a:spcAft>
                <a:spcPts val="0"/>
              </a:spcAft>
            </a:pPr>
            <a:r>
              <a:rPr sz="1100" b="0" i="0">
                <a:solidFill>
                  <a:srgbClr val="6B7684"/>
                </a:solidFill>
                <a:latin typeface="Consolas"/>
              </a:rPr>
              <a:t>50%</a:t>
            </a:r>
          </a:p>
        </p:txBody>
      </p:sp>
      <p:sp>
        <p:nvSpPr>
          <p:cNvPr id="15" name="Rectangle 14"/>
          <p:cNvSpPr/>
          <p:nvPr/>
        </p:nvSpPr>
        <p:spPr>
          <a:xfrm>
            <a:off x="9144000" y="2212848"/>
            <a:ext cx="12700" cy="301752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0" y="5303520"/>
            <a:ext cx="731520" cy="274320"/>
          </a:xfrm>
          <a:prstGeom prst="rect">
            <a:avLst/>
          </a:prstGeom>
          <a:noFill/>
        </p:spPr>
        <p:txBody>
          <a:bodyPr wrap="square" lIns="0" rIns="0" tIns="0" bIns="0" anchor="t">
            <a:spAutoFit/>
          </a:bodyPr>
          <a:lstStyle/>
          <a:p>
            <a:pPr algn="ctr">
              <a:spcBef>
                <a:spcPts val="0"/>
              </a:spcBef>
              <a:spcAft>
                <a:spcPts val="0"/>
              </a:spcAft>
            </a:pPr>
            <a:r>
              <a:rPr sz="1100" b="0" i="0">
                <a:solidFill>
                  <a:srgbClr val="6B7684"/>
                </a:solidFill>
                <a:latin typeface="Consolas"/>
              </a:rPr>
              <a:t>75%</a:t>
            </a:r>
          </a:p>
        </p:txBody>
      </p:sp>
      <p:sp>
        <p:nvSpPr>
          <p:cNvPr id="17" name="Rectangle 16"/>
          <p:cNvSpPr/>
          <p:nvPr/>
        </p:nvSpPr>
        <p:spPr>
          <a:xfrm>
            <a:off x="10789919" y="2212848"/>
            <a:ext cx="12700" cy="301752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59" y="5303520"/>
            <a:ext cx="731520" cy="274320"/>
          </a:xfrm>
          <a:prstGeom prst="rect">
            <a:avLst/>
          </a:prstGeom>
          <a:noFill/>
        </p:spPr>
        <p:txBody>
          <a:bodyPr wrap="square" lIns="0" rIns="0" tIns="0" bIns="0" anchor="t">
            <a:spAutoFit/>
          </a:bodyPr>
          <a:lstStyle/>
          <a:p>
            <a:pPr algn="ctr">
              <a:spcBef>
                <a:spcPts val="0"/>
              </a:spcBef>
              <a:spcAft>
                <a:spcPts val="0"/>
              </a:spcAft>
            </a:pPr>
            <a:r>
              <a:rPr sz="1100" b="0" i="0">
                <a:solidFill>
                  <a:srgbClr val="6B7684"/>
                </a:solidFill>
                <a:latin typeface="Consolas"/>
              </a:rPr>
              <a:t>100%</a:t>
            </a:r>
          </a:p>
        </p:txBody>
      </p:sp>
      <p:sp>
        <p:nvSpPr>
          <p:cNvPr id="19" name="TextBox 18"/>
          <p:cNvSpPr txBox="1"/>
          <p:nvPr/>
        </p:nvSpPr>
        <p:spPr>
          <a:xfrm>
            <a:off x="6949440" y="5532120"/>
            <a:ext cx="1280160" cy="274320"/>
          </a:xfrm>
          <a:prstGeom prst="rect">
            <a:avLst/>
          </a:prstGeom>
          <a:noFill/>
        </p:spPr>
        <p:txBody>
          <a:bodyPr wrap="square" lIns="0" rIns="0" tIns="0" bIns="0" anchor="t">
            <a:spAutoFit/>
          </a:bodyPr>
          <a:lstStyle/>
          <a:p>
            <a:pPr>
              <a:spcBef>
                <a:spcPts val="0"/>
              </a:spcBef>
              <a:spcAft>
                <a:spcPts val="0"/>
              </a:spcAft>
            </a:pPr>
            <a:r>
              <a:rPr sz="1150" b="0" i="0">
                <a:solidFill>
                  <a:srgbClr val="6B7684"/>
                </a:solidFill>
                <a:latin typeface="Consolas"/>
              </a:rPr>
              <a:t>recall</a:t>
            </a:r>
          </a:p>
        </p:txBody>
      </p:sp>
      <p:sp>
        <p:nvSpPr>
          <p:cNvPr id="20" name="TextBox 19"/>
          <p:cNvSpPr txBox="1"/>
          <p:nvPr/>
        </p:nvSpPr>
        <p:spPr>
          <a:xfrm>
            <a:off x="658368" y="2286000"/>
            <a:ext cx="3429000" cy="274320"/>
          </a:xfrm>
          <a:prstGeom prst="rect">
            <a:avLst/>
          </a:prstGeom>
          <a:noFill/>
        </p:spPr>
        <p:txBody>
          <a:bodyPr wrap="square" lIns="0" rIns="0" tIns="0" bIns="0" anchor="t">
            <a:spAutoFit/>
          </a:bodyPr>
          <a:lstStyle/>
          <a:p>
            <a:pPr algn="r">
              <a:spcBef>
                <a:spcPts val="0"/>
              </a:spcBef>
              <a:spcAft>
                <a:spcPts val="0"/>
              </a:spcAft>
            </a:pPr>
            <a:r>
              <a:rPr sz="1400" b="1" i="0">
                <a:solidFill>
                  <a:srgbClr val="151A21"/>
                </a:solidFill>
                <a:latin typeface="Calibri"/>
              </a:rPr>
              <a:t>test order dependency</a:t>
            </a:r>
          </a:p>
        </p:txBody>
      </p:sp>
      <p:sp>
        <p:nvSpPr>
          <p:cNvPr id="21" name="TextBox 20"/>
          <p:cNvSpPr txBox="1"/>
          <p:nvPr/>
        </p:nvSpPr>
        <p:spPr>
          <a:xfrm>
            <a:off x="658368" y="2523744"/>
            <a:ext cx="3429000" cy="237744"/>
          </a:xfrm>
          <a:prstGeom prst="rect">
            <a:avLst/>
          </a:prstGeom>
          <a:noFill/>
        </p:spPr>
        <p:txBody>
          <a:bodyPr wrap="square" lIns="0" rIns="0" tIns="0" bIns="0" anchor="t">
            <a:spAutoFit/>
          </a:bodyPr>
          <a:lstStyle/>
          <a:p>
            <a:pPr algn="r">
              <a:spcBef>
                <a:spcPts val="0"/>
              </a:spcBef>
              <a:spcAft>
                <a:spcPts val="0"/>
              </a:spcAft>
            </a:pPr>
            <a:r>
              <a:rPr sz="1100" b="0" i="0">
                <a:solidFill>
                  <a:srgbClr val="6B7684"/>
                </a:solidFill>
                <a:latin typeface="Consolas"/>
              </a:rPr>
              <a:t>n=46</a:t>
            </a:r>
          </a:p>
        </p:txBody>
      </p:sp>
      <p:sp>
        <p:nvSpPr>
          <p:cNvPr id="22" name="Rectangle 21"/>
          <p:cNvSpPr/>
          <p:nvPr/>
        </p:nvSpPr>
        <p:spPr>
          <a:xfrm>
            <a:off x="5193792" y="2418588"/>
            <a:ext cx="4016044" cy="27432"/>
          </a:xfrm>
          <a:prstGeom prst="rect">
            <a:avLst/>
          </a:prstGeom>
          <a:solidFill>
            <a:srgbClr val="3A66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116068" y="2354580"/>
            <a:ext cx="155448" cy="155448"/>
          </a:xfrm>
          <a:prstGeom prst="ellipse">
            <a:avLst/>
          </a:prstGeom>
          <a:solidFill>
            <a:srgbClr val="00789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32112" y="2354580"/>
            <a:ext cx="155448" cy="155448"/>
          </a:xfrm>
          <a:prstGeom prst="ellipse">
            <a:avLst/>
          </a:prstGeom>
          <a:solidFill>
            <a:srgbClr val="C25B2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74428" y="2322576"/>
            <a:ext cx="914400" cy="274320"/>
          </a:xfrm>
          <a:prstGeom prst="rect">
            <a:avLst/>
          </a:prstGeom>
          <a:noFill/>
        </p:spPr>
        <p:txBody>
          <a:bodyPr wrap="square" lIns="0" rIns="0" tIns="0" bIns="0" anchor="t">
            <a:spAutoFit/>
          </a:bodyPr>
          <a:lstStyle/>
          <a:p>
            <a:pPr>
              <a:spcBef>
                <a:spcPts val="0"/>
              </a:spcBef>
              <a:spcAft>
                <a:spcPts val="0"/>
              </a:spcAft>
            </a:pPr>
            <a:r>
              <a:rPr sz="1300" b="1" i="0">
                <a:solidFill>
                  <a:srgbClr val="3A6650"/>
                </a:solidFill>
                <a:latin typeface="Consolas"/>
              </a:rPr>
              <a:t>76%</a:t>
            </a:r>
          </a:p>
        </p:txBody>
      </p:sp>
      <p:sp>
        <p:nvSpPr>
          <p:cNvPr id="26" name="TextBox 25"/>
          <p:cNvSpPr txBox="1"/>
          <p:nvPr/>
        </p:nvSpPr>
        <p:spPr>
          <a:xfrm>
            <a:off x="4142231" y="2322576"/>
            <a:ext cx="914400" cy="274320"/>
          </a:xfrm>
          <a:prstGeom prst="rect">
            <a:avLst/>
          </a:prstGeom>
          <a:noFill/>
        </p:spPr>
        <p:txBody>
          <a:bodyPr wrap="square" lIns="0" rIns="0" tIns="0" bIns="0" anchor="t">
            <a:spAutoFit/>
          </a:bodyPr>
          <a:lstStyle/>
          <a:p>
            <a:pPr algn="r">
              <a:spcBef>
                <a:spcPts val="0"/>
              </a:spcBef>
              <a:spcAft>
                <a:spcPts val="0"/>
              </a:spcAft>
            </a:pPr>
            <a:r>
              <a:rPr sz="1300" b="0" i="0">
                <a:solidFill>
                  <a:srgbClr val="6B7684"/>
                </a:solidFill>
                <a:latin typeface="Consolas"/>
              </a:rPr>
              <a:t>15%</a:t>
            </a:r>
          </a:p>
        </p:txBody>
      </p:sp>
      <p:sp>
        <p:nvSpPr>
          <p:cNvPr id="27" name="TextBox 26"/>
          <p:cNvSpPr txBox="1"/>
          <p:nvPr/>
        </p:nvSpPr>
        <p:spPr>
          <a:xfrm>
            <a:off x="658368" y="2871216"/>
            <a:ext cx="3429000" cy="274320"/>
          </a:xfrm>
          <a:prstGeom prst="rect">
            <a:avLst/>
          </a:prstGeom>
          <a:noFill/>
        </p:spPr>
        <p:txBody>
          <a:bodyPr wrap="square" lIns="0" rIns="0" tIns="0" bIns="0" anchor="t">
            <a:spAutoFit/>
          </a:bodyPr>
          <a:lstStyle/>
          <a:p>
            <a:pPr algn="r">
              <a:spcBef>
                <a:spcPts val="0"/>
              </a:spcBef>
              <a:spcAft>
                <a:spcPts val="0"/>
              </a:spcAft>
            </a:pPr>
            <a:r>
              <a:rPr sz="1400" b="0" i="0">
                <a:solidFill>
                  <a:srgbClr val="3D4653"/>
                </a:solidFill>
                <a:latin typeface="Calibri"/>
              </a:rPr>
              <a:t>async wait</a:t>
            </a:r>
          </a:p>
        </p:txBody>
      </p:sp>
      <p:sp>
        <p:nvSpPr>
          <p:cNvPr id="28" name="TextBox 27"/>
          <p:cNvSpPr txBox="1"/>
          <p:nvPr/>
        </p:nvSpPr>
        <p:spPr>
          <a:xfrm>
            <a:off x="658368" y="3108960"/>
            <a:ext cx="3429000" cy="237744"/>
          </a:xfrm>
          <a:prstGeom prst="rect">
            <a:avLst/>
          </a:prstGeom>
          <a:noFill/>
        </p:spPr>
        <p:txBody>
          <a:bodyPr wrap="square" lIns="0" rIns="0" tIns="0" bIns="0" anchor="t">
            <a:spAutoFit/>
          </a:bodyPr>
          <a:lstStyle/>
          <a:p>
            <a:pPr algn="r">
              <a:spcBef>
                <a:spcPts val="0"/>
              </a:spcBef>
              <a:spcAft>
                <a:spcPts val="0"/>
              </a:spcAft>
            </a:pPr>
            <a:r>
              <a:rPr sz="1100" b="0" i="0">
                <a:solidFill>
                  <a:srgbClr val="6B7684"/>
                </a:solidFill>
                <a:latin typeface="Consolas"/>
              </a:rPr>
              <a:t>n=18</a:t>
            </a:r>
          </a:p>
        </p:txBody>
      </p:sp>
      <p:sp>
        <p:nvSpPr>
          <p:cNvPr id="29" name="Rectangle 28"/>
          <p:cNvSpPr/>
          <p:nvPr/>
        </p:nvSpPr>
        <p:spPr>
          <a:xfrm>
            <a:off x="6378854" y="3003804"/>
            <a:ext cx="395020" cy="27432"/>
          </a:xfrm>
          <a:prstGeom prst="rect">
            <a:avLst/>
          </a:prstGeom>
          <a:solidFill>
            <a:srgbClr val="A8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96151" y="2939796"/>
            <a:ext cx="155448" cy="155448"/>
          </a:xfrm>
          <a:prstGeom prst="ellipse">
            <a:avLst/>
          </a:prstGeom>
          <a:solidFill>
            <a:srgbClr val="00789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01130" y="2939796"/>
            <a:ext cx="155448" cy="155448"/>
          </a:xfrm>
          <a:prstGeom prst="ellipse">
            <a:avLst/>
          </a:prstGeom>
          <a:solidFill>
            <a:srgbClr val="C25B2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27294" y="2907792"/>
            <a:ext cx="914400" cy="274320"/>
          </a:xfrm>
          <a:prstGeom prst="rect">
            <a:avLst/>
          </a:prstGeom>
          <a:noFill/>
        </p:spPr>
        <p:txBody>
          <a:bodyPr wrap="square" lIns="0" rIns="0" tIns="0" bIns="0" anchor="t">
            <a:spAutoFit/>
          </a:bodyPr>
          <a:lstStyle/>
          <a:p>
            <a:pPr algn="r">
              <a:spcBef>
                <a:spcPts val="0"/>
              </a:spcBef>
              <a:spcAft>
                <a:spcPts val="0"/>
              </a:spcAft>
            </a:pPr>
            <a:r>
              <a:rPr sz="1300" b="1" i="0">
                <a:solidFill>
                  <a:srgbClr val="A8452B"/>
                </a:solidFill>
                <a:latin typeface="Consolas"/>
              </a:rPr>
              <a:t>33%</a:t>
            </a:r>
          </a:p>
        </p:txBody>
      </p:sp>
      <p:sp>
        <p:nvSpPr>
          <p:cNvPr id="33" name="TextBox 32"/>
          <p:cNvSpPr txBox="1"/>
          <p:nvPr/>
        </p:nvSpPr>
        <p:spPr>
          <a:xfrm>
            <a:off x="6938467" y="2907792"/>
            <a:ext cx="914400" cy="274320"/>
          </a:xfrm>
          <a:prstGeom prst="rect">
            <a:avLst/>
          </a:prstGeom>
          <a:noFill/>
        </p:spPr>
        <p:txBody>
          <a:bodyPr wrap="square" lIns="0" rIns="0" tIns="0" bIns="0" anchor="t">
            <a:spAutoFit/>
          </a:bodyPr>
          <a:lstStyle/>
          <a:p>
            <a:pPr>
              <a:spcBef>
                <a:spcPts val="0"/>
              </a:spcBef>
              <a:spcAft>
                <a:spcPts val="0"/>
              </a:spcAft>
            </a:pPr>
            <a:r>
              <a:rPr sz="1300" b="0" i="0">
                <a:solidFill>
                  <a:srgbClr val="6B7684"/>
                </a:solidFill>
                <a:latin typeface="Consolas"/>
              </a:rPr>
              <a:t>39%</a:t>
            </a:r>
          </a:p>
        </p:txBody>
      </p:sp>
      <p:sp>
        <p:nvSpPr>
          <p:cNvPr id="34" name="TextBox 33"/>
          <p:cNvSpPr txBox="1"/>
          <p:nvPr/>
        </p:nvSpPr>
        <p:spPr>
          <a:xfrm>
            <a:off x="658368" y="3456432"/>
            <a:ext cx="3429000" cy="274320"/>
          </a:xfrm>
          <a:prstGeom prst="rect">
            <a:avLst/>
          </a:prstGeom>
          <a:noFill/>
        </p:spPr>
        <p:txBody>
          <a:bodyPr wrap="square" lIns="0" rIns="0" tIns="0" bIns="0" anchor="t">
            <a:spAutoFit/>
          </a:bodyPr>
          <a:lstStyle/>
          <a:p>
            <a:pPr algn="r">
              <a:spcBef>
                <a:spcPts val="0"/>
              </a:spcBef>
              <a:spcAft>
                <a:spcPts val="0"/>
              </a:spcAft>
            </a:pPr>
            <a:r>
              <a:rPr sz="1400" b="0" i="0">
                <a:solidFill>
                  <a:srgbClr val="3D4653"/>
                </a:solidFill>
                <a:latin typeface="Calibri"/>
              </a:rPr>
              <a:t>concurrency</a:t>
            </a:r>
          </a:p>
        </p:txBody>
      </p:sp>
      <p:sp>
        <p:nvSpPr>
          <p:cNvPr id="35" name="TextBox 34"/>
          <p:cNvSpPr txBox="1"/>
          <p:nvPr/>
        </p:nvSpPr>
        <p:spPr>
          <a:xfrm>
            <a:off x="658368" y="3694176"/>
            <a:ext cx="3429000" cy="237744"/>
          </a:xfrm>
          <a:prstGeom prst="rect">
            <a:avLst/>
          </a:prstGeom>
          <a:noFill/>
        </p:spPr>
        <p:txBody>
          <a:bodyPr wrap="square" lIns="0" rIns="0" tIns="0" bIns="0" anchor="t">
            <a:spAutoFit/>
          </a:bodyPr>
          <a:lstStyle/>
          <a:p>
            <a:pPr algn="r">
              <a:spcBef>
                <a:spcPts val="0"/>
              </a:spcBef>
              <a:spcAft>
                <a:spcPts val="0"/>
              </a:spcAft>
            </a:pPr>
            <a:r>
              <a:rPr sz="1100" b="0" i="0">
                <a:solidFill>
                  <a:srgbClr val="6B7684"/>
                </a:solidFill>
                <a:latin typeface="Consolas"/>
              </a:rPr>
              <a:t>n=10</a:t>
            </a:r>
          </a:p>
        </p:txBody>
      </p:sp>
      <p:sp>
        <p:nvSpPr>
          <p:cNvPr id="36" name="Rectangle 35"/>
          <p:cNvSpPr/>
          <p:nvPr/>
        </p:nvSpPr>
        <p:spPr>
          <a:xfrm>
            <a:off x="4864607" y="3589020"/>
            <a:ext cx="658367" cy="27432"/>
          </a:xfrm>
          <a:prstGeom prst="rect">
            <a:avLst/>
          </a:prstGeom>
          <a:solidFill>
            <a:srgbClr val="3A66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786883" y="3525012"/>
            <a:ext cx="155448" cy="155448"/>
          </a:xfrm>
          <a:prstGeom prst="ellipse">
            <a:avLst/>
          </a:prstGeom>
          <a:solidFill>
            <a:srgbClr val="00789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445251" y="3525012"/>
            <a:ext cx="155448" cy="155448"/>
          </a:xfrm>
          <a:prstGeom prst="ellipse">
            <a:avLst/>
          </a:prstGeom>
          <a:solidFill>
            <a:srgbClr val="C25B2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87567" y="3493008"/>
            <a:ext cx="914400" cy="274320"/>
          </a:xfrm>
          <a:prstGeom prst="rect">
            <a:avLst/>
          </a:prstGeom>
          <a:noFill/>
        </p:spPr>
        <p:txBody>
          <a:bodyPr wrap="square" lIns="0" rIns="0" tIns="0" bIns="0" anchor="t">
            <a:spAutoFit/>
          </a:bodyPr>
          <a:lstStyle/>
          <a:p>
            <a:pPr>
              <a:spcBef>
                <a:spcPts val="0"/>
              </a:spcBef>
              <a:spcAft>
                <a:spcPts val="0"/>
              </a:spcAft>
            </a:pPr>
            <a:r>
              <a:rPr sz="1300" b="1" i="0">
                <a:solidFill>
                  <a:srgbClr val="3A6650"/>
                </a:solidFill>
                <a:latin typeface="Consolas"/>
              </a:rPr>
              <a:t>20%</a:t>
            </a:r>
          </a:p>
        </p:txBody>
      </p:sp>
      <p:sp>
        <p:nvSpPr>
          <p:cNvPr id="40" name="TextBox 39"/>
          <p:cNvSpPr txBox="1"/>
          <p:nvPr/>
        </p:nvSpPr>
        <p:spPr>
          <a:xfrm>
            <a:off x="3813048" y="3493008"/>
            <a:ext cx="914400" cy="274320"/>
          </a:xfrm>
          <a:prstGeom prst="rect">
            <a:avLst/>
          </a:prstGeom>
          <a:noFill/>
        </p:spPr>
        <p:txBody>
          <a:bodyPr wrap="square" lIns="0" rIns="0" tIns="0" bIns="0" anchor="t">
            <a:spAutoFit/>
          </a:bodyPr>
          <a:lstStyle/>
          <a:p>
            <a:pPr algn="r">
              <a:spcBef>
                <a:spcPts val="0"/>
              </a:spcBef>
              <a:spcAft>
                <a:spcPts val="0"/>
              </a:spcAft>
            </a:pPr>
            <a:r>
              <a:rPr sz="1300" b="0" i="0">
                <a:solidFill>
                  <a:srgbClr val="6B7684"/>
                </a:solidFill>
                <a:latin typeface="Consolas"/>
              </a:rPr>
              <a:t>10%</a:t>
            </a:r>
          </a:p>
        </p:txBody>
      </p:sp>
      <p:sp>
        <p:nvSpPr>
          <p:cNvPr id="41" name="TextBox 40"/>
          <p:cNvSpPr txBox="1"/>
          <p:nvPr/>
        </p:nvSpPr>
        <p:spPr>
          <a:xfrm>
            <a:off x="658368" y="4041648"/>
            <a:ext cx="3429000" cy="274320"/>
          </a:xfrm>
          <a:prstGeom prst="rect">
            <a:avLst/>
          </a:prstGeom>
          <a:noFill/>
        </p:spPr>
        <p:txBody>
          <a:bodyPr wrap="square" lIns="0" rIns="0" tIns="0" bIns="0" anchor="t">
            <a:spAutoFit/>
          </a:bodyPr>
          <a:lstStyle/>
          <a:p>
            <a:pPr algn="r">
              <a:spcBef>
                <a:spcPts val="0"/>
              </a:spcBef>
              <a:spcAft>
                <a:spcPts val="0"/>
              </a:spcAft>
            </a:pPr>
            <a:r>
              <a:rPr sz="1400" b="0" i="0">
                <a:solidFill>
                  <a:srgbClr val="3D4653"/>
                </a:solidFill>
                <a:latin typeface="Calibri"/>
              </a:rPr>
              <a:t>time</a:t>
            </a:r>
          </a:p>
        </p:txBody>
      </p:sp>
      <p:sp>
        <p:nvSpPr>
          <p:cNvPr id="42" name="TextBox 41"/>
          <p:cNvSpPr txBox="1"/>
          <p:nvPr/>
        </p:nvSpPr>
        <p:spPr>
          <a:xfrm>
            <a:off x="658368" y="4279392"/>
            <a:ext cx="3429000" cy="237744"/>
          </a:xfrm>
          <a:prstGeom prst="rect">
            <a:avLst/>
          </a:prstGeom>
          <a:noFill/>
        </p:spPr>
        <p:txBody>
          <a:bodyPr wrap="square" lIns="0" rIns="0" tIns="0" bIns="0" anchor="t">
            <a:spAutoFit/>
          </a:bodyPr>
          <a:lstStyle/>
          <a:p>
            <a:pPr algn="r">
              <a:spcBef>
                <a:spcPts val="0"/>
              </a:spcBef>
              <a:spcAft>
                <a:spcPts val="0"/>
              </a:spcAft>
            </a:pPr>
            <a:r>
              <a:rPr sz="1100" b="0" i="0">
                <a:solidFill>
                  <a:srgbClr val="6B7684"/>
                </a:solidFill>
                <a:latin typeface="Consolas"/>
              </a:rPr>
              <a:t>n=4</a:t>
            </a:r>
          </a:p>
        </p:txBody>
      </p:sp>
      <p:sp>
        <p:nvSpPr>
          <p:cNvPr id="43" name="Oval 42"/>
          <p:cNvSpPr/>
          <p:nvPr/>
        </p:nvSpPr>
        <p:spPr>
          <a:xfrm>
            <a:off x="7420355" y="4110228"/>
            <a:ext cx="155448" cy="155448"/>
          </a:xfrm>
          <a:prstGeom prst="ellipse">
            <a:avLst/>
          </a:prstGeom>
          <a:solidFill>
            <a:srgbClr val="00789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459675" y="4149547"/>
            <a:ext cx="76809" cy="76809"/>
          </a:xfrm>
          <a:prstGeom prst="ellipse">
            <a:avLst/>
          </a:prstGeom>
          <a:solidFill>
            <a:srgbClr val="C2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80959" y="4078224"/>
            <a:ext cx="2194560" cy="274320"/>
          </a:xfrm>
          <a:prstGeom prst="rect">
            <a:avLst/>
          </a:prstGeom>
          <a:noFill/>
        </p:spPr>
        <p:txBody>
          <a:bodyPr wrap="square" lIns="0" rIns="0" tIns="0" bIns="0" anchor="t">
            <a:spAutoFit/>
          </a:bodyPr>
          <a:lstStyle/>
          <a:p>
            <a:pPr>
              <a:spcBef>
                <a:spcPts val="0"/>
              </a:spcBef>
              <a:spcAft>
                <a:spcPts val="0"/>
              </a:spcAft>
            </a:pPr>
            <a:r>
              <a:rPr sz="1250" b="0" i="0">
                <a:solidFill>
                  <a:srgbClr val="6B7684"/>
                </a:solidFill>
                <a:latin typeface="Consolas"/>
              </a:rPr>
              <a:t>50%, unchanged</a:t>
            </a:r>
          </a:p>
        </p:txBody>
      </p:sp>
      <p:sp>
        <p:nvSpPr>
          <p:cNvPr id="46" name="TextBox 45"/>
          <p:cNvSpPr txBox="1"/>
          <p:nvPr/>
        </p:nvSpPr>
        <p:spPr>
          <a:xfrm>
            <a:off x="658368" y="4626864"/>
            <a:ext cx="3429000" cy="274320"/>
          </a:xfrm>
          <a:prstGeom prst="rect">
            <a:avLst/>
          </a:prstGeom>
          <a:noFill/>
        </p:spPr>
        <p:txBody>
          <a:bodyPr wrap="square" lIns="0" rIns="0" tIns="0" bIns="0" anchor="t">
            <a:spAutoFit/>
          </a:bodyPr>
          <a:lstStyle/>
          <a:p>
            <a:pPr algn="r">
              <a:spcBef>
                <a:spcPts val="0"/>
              </a:spcBef>
              <a:spcAft>
                <a:spcPts val="0"/>
              </a:spcAft>
            </a:pPr>
            <a:r>
              <a:rPr sz="1400" b="0" i="0">
                <a:solidFill>
                  <a:srgbClr val="3D4653"/>
                </a:solidFill>
                <a:latin typeface="Calibri"/>
              </a:rPr>
              <a:t>unordered collections</a:t>
            </a:r>
          </a:p>
        </p:txBody>
      </p:sp>
      <p:sp>
        <p:nvSpPr>
          <p:cNvPr id="47" name="TextBox 46"/>
          <p:cNvSpPr txBox="1"/>
          <p:nvPr/>
        </p:nvSpPr>
        <p:spPr>
          <a:xfrm>
            <a:off x="658368" y="4864608"/>
            <a:ext cx="3429000" cy="237744"/>
          </a:xfrm>
          <a:prstGeom prst="rect">
            <a:avLst/>
          </a:prstGeom>
          <a:noFill/>
        </p:spPr>
        <p:txBody>
          <a:bodyPr wrap="square" lIns="0" rIns="0" tIns="0" bIns="0" anchor="t">
            <a:spAutoFit/>
          </a:bodyPr>
          <a:lstStyle/>
          <a:p>
            <a:pPr algn="r">
              <a:spcBef>
                <a:spcPts val="0"/>
              </a:spcBef>
              <a:spcAft>
                <a:spcPts val="0"/>
              </a:spcAft>
            </a:pPr>
            <a:r>
              <a:rPr sz="1100" b="0" i="0">
                <a:solidFill>
                  <a:srgbClr val="6B7684"/>
                </a:solidFill>
                <a:latin typeface="Consolas"/>
              </a:rPr>
              <a:t>n=2</a:t>
            </a:r>
          </a:p>
        </p:txBody>
      </p:sp>
      <p:sp>
        <p:nvSpPr>
          <p:cNvPr id="48" name="Oval 47"/>
          <p:cNvSpPr/>
          <p:nvPr/>
        </p:nvSpPr>
        <p:spPr>
          <a:xfrm>
            <a:off x="7420355" y="4695444"/>
            <a:ext cx="155448" cy="155448"/>
          </a:xfrm>
          <a:prstGeom prst="ellipse">
            <a:avLst/>
          </a:prstGeom>
          <a:solidFill>
            <a:srgbClr val="00789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7459675" y="4734763"/>
            <a:ext cx="76809" cy="76809"/>
          </a:xfrm>
          <a:prstGeom prst="ellipse">
            <a:avLst/>
          </a:prstGeom>
          <a:solidFill>
            <a:srgbClr val="C2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0959" y="4663440"/>
            <a:ext cx="2194560" cy="274320"/>
          </a:xfrm>
          <a:prstGeom prst="rect">
            <a:avLst/>
          </a:prstGeom>
          <a:noFill/>
        </p:spPr>
        <p:txBody>
          <a:bodyPr wrap="square" lIns="0" rIns="0" tIns="0" bIns="0" anchor="t">
            <a:spAutoFit/>
          </a:bodyPr>
          <a:lstStyle/>
          <a:p>
            <a:pPr>
              <a:spcBef>
                <a:spcPts val="0"/>
              </a:spcBef>
              <a:spcAft>
                <a:spcPts val="0"/>
              </a:spcAft>
            </a:pPr>
            <a:r>
              <a:rPr sz="1250" b="0" i="0">
                <a:solidFill>
                  <a:srgbClr val="6B7684"/>
                </a:solidFill>
                <a:latin typeface="Consolas"/>
              </a:rPr>
              <a:t>50%, unchanged</a:t>
            </a:r>
          </a:p>
        </p:txBody>
      </p:sp>
      <p:sp>
        <p:nvSpPr>
          <p:cNvPr id="51" name="TextBox 50"/>
          <p:cNvSpPr txBox="1"/>
          <p:nvPr/>
        </p:nvSpPr>
        <p:spPr>
          <a:xfrm>
            <a:off x="658368" y="5760720"/>
            <a:ext cx="10874959" cy="822960"/>
          </a:xfrm>
          <a:prstGeom prst="rect">
            <a:avLst/>
          </a:prstGeom>
          <a:noFill/>
        </p:spPr>
        <p:txBody>
          <a:bodyPr wrap="square" lIns="0" rIns="0" tIns="0" bIns="0" anchor="t">
            <a:spAutoFit/>
          </a:bodyPr>
          <a:lstStyle/>
          <a:p>
            <a:pPr>
              <a:lnSpc>
                <a:spcPct val="128000"/>
              </a:lnSpc>
              <a:spcBef>
                <a:spcPts val="0"/>
              </a:spcBef>
              <a:spcAft>
                <a:spcPts val="0"/>
              </a:spcAft>
            </a:pPr>
            <a:r>
              <a:rPr sz="1400" b="0" i="0">
                <a:solidFill>
                  <a:srgbClr val="3D4653"/>
                </a:solidFill>
                <a:latin typeface="Calibri"/>
              </a:rPr>
              <a:t>With the full context instead, order dependency reaches only 52% and concurrency drops to 0, because helper and sibling text pulls tests back. Async wait loses either way, so context must enter as separate feature groups. Time and unordered collections have 4 and 2 examples and carry no weight.</a:t>
            </a:r>
          </a:p>
        </p:txBody>
      </p:sp>
      <p:sp>
        <p:nvSpPr>
          <p:cNvPr id="52" name="TextBox 51"/>
          <p:cNvSpPr txBox="1"/>
          <p:nvPr/>
        </p:nvSpPr>
        <p:spPr>
          <a:xfrm>
            <a:off x="10820095" y="6382512"/>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COVERAGE</a:t>
            </a:r>
          </a:p>
        </p:txBody>
      </p:sp>
      <p:sp>
        <p:nvSpPr>
          <p:cNvPr id="3" name="TextBox 2"/>
          <p:cNvSpPr txBox="1"/>
          <p:nvPr/>
        </p:nvSpPr>
        <p:spPr>
          <a:xfrm>
            <a:off x="658368" y="713232"/>
            <a:ext cx="10881360" cy="822960"/>
          </a:xfrm>
          <a:prstGeom prst="rect">
            <a:avLst/>
          </a:prstGeom>
          <a:noFill/>
        </p:spPr>
        <p:txBody>
          <a:bodyPr wrap="square" lIns="0" rIns="0" tIns="0" bIns="0" anchor="t">
            <a:spAutoFit/>
          </a:bodyPr>
          <a:lstStyle/>
          <a:p>
            <a:pPr>
              <a:lnSpc>
                <a:spcPct val="105000"/>
              </a:lnSpc>
              <a:spcBef>
                <a:spcPts val="0"/>
              </a:spcBef>
              <a:spcAft>
                <a:spcPts val="0"/>
              </a:spcAft>
            </a:pPr>
            <a:r>
              <a:rPr sz="3000" b="1" i="0">
                <a:solidFill>
                  <a:srgbClr val="151A21"/>
                </a:solidFill>
                <a:latin typeface="Calibri"/>
              </a:rPr>
              <a:t>Where the true category actually appears</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55648"/>
            <a:ext cx="10874959" cy="822960"/>
          </a:xfrm>
          <a:prstGeom prst="rect">
            <a:avLst/>
          </a:prstGeom>
          <a:noFill/>
        </p:spPr>
        <p:txBody>
          <a:bodyPr wrap="square" lIns="0" rIns="0" tIns="0" bIns="0" anchor="t">
            <a:spAutoFit/>
          </a:bodyPr>
          <a:lstStyle/>
          <a:p>
            <a:pPr>
              <a:lnSpc>
                <a:spcPct val="128000"/>
              </a:lnSpc>
              <a:spcBef>
                <a:spcPts val="0"/>
              </a:spcBef>
              <a:spcAft>
                <a:spcPts val="0"/>
              </a:spcAft>
            </a:pPr>
            <a:r>
              <a:rPr sz="1400" b="0" i="0">
                <a:solidFill>
                  <a:srgbClr val="6B7684"/>
                </a:solidFill>
                <a:latin typeface="Calibri"/>
              </a:rPr>
              <a:t>Share of the 80 tests whose true category has at least one lexicon family present in a given slice.</a:t>
            </a:r>
          </a:p>
        </p:txBody>
      </p:sp>
      <p:sp>
        <p:nvSpPr>
          <p:cNvPr id="6" name="Rectangle 5"/>
          <p:cNvSpPr/>
          <p:nvPr/>
        </p:nvSpPr>
        <p:spPr>
          <a:xfrm>
            <a:off x="658368" y="2212848"/>
            <a:ext cx="10881360" cy="36576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295144"/>
            <a:ext cx="3803904" cy="256032"/>
          </a:xfrm>
          <a:prstGeom prst="rect">
            <a:avLst/>
          </a:prstGeom>
          <a:noFill/>
        </p:spPr>
        <p:txBody>
          <a:bodyPr wrap="square" lIns="0" rIns="0" tIns="0" bIns="0" anchor="t">
            <a:spAutoFit/>
          </a:bodyPr>
          <a:lstStyle/>
          <a:p>
            <a:pPr algn="l">
              <a:spcBef>
                <a:spcPts val="0"/>
              </a:spcBef>
              <a:spcAft>
                <a:spcPts val="0"/>
              </a:spcAft>
            </a:pPr>
            <a:r>
              <a:rPr sz="1100" b="1" i="0">
                <a:solidFill>
                  <a:srgbClr val="6B7684"/>
                </a:solidFill>
                <a:latin typeface="Consolas"/>
              </a:rPr>
              <a:t>SLICE</a:t>
            </a:r>
          </a:p>
        </p:txBody>
      </p:sp>
      <p:sp>
        <p:nvSpPr>
          <p:cNvPr id="8" name="TextBox 7"/>
          <p:cNvSpPr txBox="1"/>
          <p:nvPr/>
        </p:nvSpPr>
        <p:spPr>
          <a:xfrm>
            <a:off x="4791456" y="2295144"/>
            <a:ext cx="133502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ALL 80</a:t>
            </a:r>
          </a:p>
        </p:txBody>
      </p:sp>
      <p:sp>
        <p:nvSpPr>
          <p:cNvPr id="9" name="TextBox 8"/>
          <p:cNvSpPr txBox="1"/>
          <p:nvPr/>
        </p:nvSpPr>
        <p:spPr>
          <a:xfrm>
            <a:off x="6345936" y="2295144"/>
            <a:ext cx="1883663"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MODEL WRONG (39)</a:t>
            </a:r>
          </a:p>
        </p:txBody>
      </p:sp>
      <p:sp>
        <p:nvSpPr>
          <p:cNvPr id="10" name="TextBox 9"/>
          <p:cNvSpPr txBox="1"/>
          <p:nvPr/>
        </p:nvSpPr>
        <p:spPr>
          <a:xfrm>
            <a:off x="8449056" y="2295144"/>
            <a:ext cx="1883663"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MODEL RIGHT (41)</a:t>
            </a:r>
          </a:p>
        </p:txBody>
      </p:sp>
      <p:sp>
        <p:nvSpPr>
          <p:cNvPr id="11" name="TextBox 10"/>
          <p:cNvSpPr txBox="1"/>
          <p:nvPr/>
        </p:nvSpPr>
        <p:spPr>
          <a:xfrm>
            <a:off x="10552176" y="2295144"/>
            <a:ext cx="87782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GAP</a:t>
            </a:r>
          </a:p>
        </p:txBody>
      </p:sp>
      <p:sp>
        <p:nvSpPr>
          <p:cNvPr id="12" name="TextBox 11"/>
          <p:cNvSpPr txBox="1"/>
          <p:nvPr/>
        </p:nvSpPr>
        <p:spPr>
          <a:xfrm>
            <a:off x="768096" y="2651760"/>
            <a:ext cx="380390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body</a:t>
            </a:r>
          </a:p>
        </p:txBody>
      </p:sp>
      <p:sp>
        <p:nvSpPr>
          <p:cNvPr id="13" name="TextBox 12"/>
          <p:cNvSpPr txBox="1"/>
          <p:nvPr/>
        </p:nvSpPr>
        <p:spPr>
          <a:xfrm>
            <a:off x="4791456" y="2651760"/>
            <a:ext cx="13350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48%</a:t>
            </a:r>
          </a:p>
        </p:txBody>
      </p:sp>
      <p:sp>
        <p:nvSpPr>
          <p:cNvPr id="14" name="TextBox 13"/>
          <p:cNvSpPr txBox="1"/>
          <p:nvPr/>
        </p:nvSpPr>
        <p:spPr>
          <a:xfrm>
            <a:off x="6345936" y="2651760"/>
            <a:ext cx="18836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51%</a:t>
            </a:r>
          </a:p>
        </p:txBody>
      </p:sp>
      <p:sp>
        <p:nvSpPr>
          <p:cNvPr id="15" name="TextBox 14"/>
          <p:cNvSpPr txBox="1"/>
          <p:nvPr/>
        </p:nvSpPr>
        <p:spPr>
          <a:xfrm>
            <a:off x="8449056" y="2651760"/>
            <a:ext cx="18836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44%</a:t>
            </a:r>
          </a:p>
        </p:txBody>
      </p:sp>
      <p:sp>
        <p:nvSpPr>
          <p:cNvPr id="16" name="TextBox 15"/>
          <p:cNvSpPr txBox="1"/>
          <p:nvPr/>
        </p:nvSpPr>
        <p:spPr>
          <a:xfrm>
            <a:off x="10552176" y="2651760"/>
            <a:ext cx="8778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+7</a:t>
            </a:r>
          </a:p>
        </p:txBody>
      </p:sp>
      <p:sp>
        <p:nvSpPr>
          <p:cNvPr id="17" name="Rectangle 16"/>
          <p:cNvSpPr/>
          <p:nvPr/>
        </p:nvSpPr>
        <p:spPr>
          <a:xfrm>
            <a:off x="658368" y="2953512"/>
            <a:ext cx="1088136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2980944"/>
            <a:ext cx="10881360" cy="365759"/>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035808"/>
            <a:ext cx="3803904" cy="274320"/>
          </a:xfrm>
          <a:prstGeom prst="rect">
            <a:avLst/>
          </a:prstGeom>
          <a:noFill/>
        </p:spPr>
        <p:txBody>
          <a:bodyPr wrap="square" lIns="0" rIns="0" tIns="0" bIns="0" anchor="t">
            <a:spAutoFit/>
          </a:bodyPr>
          <a:lstStyle/>
          <a:p>
            <a:pPr algn="l">
              <a:spcBef>
                <a:spcPts val="0"/>
              </a:spcBef>
              <a:spcAft>
                <a:spcPts val="0"/>
              </a:spcAft>
            </a:pPr>
            <a:r>
              <a:rPr sz="1350" b="1" i="0">
                <a:solidFill>
                  <a:srgbClr val="151A21"/>
                </a:solidFill>
                <a:latin typeface="Calibri"/>
              </a:rPr>
              <a:t>fields</a:t>
            </a:r>
          </a:p>
        </p:txBody>
      </p:sp>
      <p:sp>
        <p:nvSpPr>
          <p:cNvPr id="20" name="TextBox 19"/>
          <p:cNvSpPr txBox="1"/>
          <p:nvPr/>
        </p:nvSpPr>
        <p:spPr>
          <a:xfrm>
            <a:off x="4791456" y="3035808"/>
            <a:ext cx="1335024" cy="274320"/>
          </a:xfrm>
          <a:prstGeom prst="rect">
            <a:avLst/>
          </a:prstGeom>
          <a:noFill/>
        </p:spPr>
        <p:txBody>
          <a:bodyPr wrap="square" lIns="0" rIns="0" tIns="0" bIns="0" anchor="t">
            <a:spAutoFit/>
          </a:bodyPr>
          <a:lstStyle/>
          <a:p>
            <a:pPr algn="r">
              <a:spcBef>
                <a:spcPts val="0"/>
              </a:spcBef>
              <a:spcAft>
                <a:spcPts val="0"/>
              </a:spcAft>
            </a:pPr>
            <a:r>
              <a:rPr sz="1350" b="1" i="0">
                <a:solidFill>
                  <a:srgbClr val="151A21"/>
                </a:solidFill>
                <a:latin typeface="Consolas"/>
              </a:rPr>
              <a:t>30%</a:t>
            </a:r>
          </a:p>
        </p:txBody>
      </p:sp>
      <p:sp>
        <p:nvSpPr>
          <p:cNvPr id="21" name="TextBox 20"/>
          <p:cNvSpPr txBox="1"/>
          <p:nvPr/>
        </p:nvSpPr>
        <p:spPr>
          <a:xfrm>
            <a:off x="6345936" y="3035808"/>
            <a:ext cx="1883663" cy="274320"/>
          </a:xfrm>
          <a:prstGeom prst="rect">
            <a:avLst/>
          </a:prstGeom>
          <a:noFill/>
        </p:spPr>
        <p:txBody>
          <a:bodyPr wrap="square" lIns="0" rIns="0" tIns="0" bIns="0" anchor="t">
            <a:spAutoFit/>
          </a:bodyPr>
          <a:lstStyle/>
          <a:p>
            <a:pPr algn="r">
              <a:spcBef>
                <a:spcPts val="0"/>
              </a:spcBef>
              <a:spcAft>
                <a:spcPts val="0"/>
              </a:spcAft>
            </a:pPr>
            <a:r>
              <a:rPr sz="1350" b="1" i="0">
                <a:solidFill>
                  <a:srgbClr val="151A21"/>
                </a:solidFill>
                <a:latin typeface="Consolas"/>
              </a:rPr>
              <a:t>49%</a:t>
            </a:r>
          </a:p>
        </p:txBody>
      </p:sp>
      <p:sp>
        <p:nvSpPr>
          <p:cNvPr id="22" name="TextBox 21"/>
          <p:cNvSpPr txBox="1"/>
          <p:nvPr/>
        </p:nvSpPr>
        <p:spPr>
          <a:xfrm>
            <a:off x="8449056" y="3035808"/>
            <a:ext cx="1883663" cy="274320"/>
          </a:xfrm>
          <a:prstGeom prst="rect">
            <a:avLst/>
          </a:prstGeom>
          <a:noFill/>
        </p:spPr>
        <p:txBody>
          <a:bodyPr wrap="square" lIns="0" rIns="0" tIns="0" bIns="0" anchor="t">
            <a:spAutoFit/>
          </a:bodyPr>
          <a:lstStyle/>
          <a:p>
            <a:pPr algn="r">
              <a:spcBef>
                <a:spcPts val="0"/>
              </a:spcBef>
              <a:spcAft>
                <a:spcPts val="0"/>
              </a:spcAft>
            </a:pPr>
            <a:r>
              <a:rPr sz="1350" b="1" i="0">
                <a:solidFill>
                  <a:srgbClr val="151A21"/>
                </a:solidFill>
                <a:latin typeface="Consolas"/>
              </a:rPr>
              <a:t>12%</a:t>
            </a:r>
          </a:p>
        </p:txBody>
      </p:sp>
      <p:sp>
        <p:nvSpPr>
          <p:cNvPr id="23" name="TextBox 22"/>
          <p:cNvSpPr txBox="1"/>
          <p:nvPr/>
        </p:nvSpPr>
        <p:spPr>
          <a:xfrm>
            <a:off x="10552176" y="3035808"/>
            <a:ext cx="877824" cy="274320"/>
          </a:xfrm>
          <a:prstGeom prst="rect">
            <a:avLst/>
          </a:prstGeom>
          <a:noFill/>
        </p:spPr>
        <p:txBody>
          <a:bodyPr wrap="square" lIns="0" rIns="0" tIns="0" bIns="0" anchor="t">
            <a:spAutoFit/>
          </a:bodyPr>
          <a:lstStyle/>
          <a:p>
            <a:pPr algn="r">
              <a:spcBef>
                <a:spcPts val="0"/>
              </a:spcBef>
              <a:spcAft>
                <a:spcPts val="0"/>
              </a:spcAft>
            </a:pPr>
            <a:r>
              <a:rPr sz="1350" b="1" i="0">
                <a:solidFill>
                  <a:srgbClr val="151A21"/>
                </a:solidFill>
                <a:latin typeface="Consolas"/>
              </a:rPr>
              <a:t>+37</a:t>
            </a:r>
          </a:p>
        </p:txBody>
      </p:sp>
      <p:sp>
        <p:nvSpPr>
          <p:cNvPr id="24" name="Rectangle 23"/>
          <p:cNvSpPr/>
          <p:nvPr/>
        </p:nvSpPr>
        <p:spPr>
          <a:xfrm>
            <a:off x="658368" y="3337560"/>
            <a:ext cx="1088136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419856"/>
            <a:ext cx="380390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fixtures</a:t>
            </a:r>
          </a:p>
        </p:txBody>
      </p:sp>
      <p:sp>
        <p:nvSpPr>
          <p:cNvPr id="26" name="TextBox 25"/>
          <p:cNvSpPr txBox="1"/>
          <p:nvPr/>
        </p:nvSpPr>
        <p:spPr>
          <a:xfrm>
            <a:off x="4791456" y="3419856"/>
            <a:ext cx="13350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42%</a:t>
            </a:r>
          </a:p>
        </p:txBody>
      </p:sp>
      <p:sp>
        <p:nvSpPr>
          <p:cNvPr id="27" name="TextBox 26"/>
          <p:cNvSpPr txBox="1"/>
          <p:nvPr/>
        </p:nvSpPr>
        <p:spPr>
          <a:xfrm>
            <a:off x="6345936" y="3419856"/>
            <a:ext cx="18836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46%</a:t>
            </a:r>
          </a:p>
        </p:txBody>
      </p:sp>
      <p:sp>
        <p:nvSpPr>
          <p:cNvPr id="28" name="TextBox 27"/>
          <p:cNvSpPr txBox="1"/>
          <p:nvPr/>
        </p:nvSpPr>
        <p:spPr>
          <a:xfrm>
            <a:off x="8449056" y="3419856"/>
            <a:ext cx="18836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39%</a:t>
            </a:r>
          </a:p>
        </p:txBody>
      </p:sp>
      <p:sp>
        <p:nvSpPr>
          <p:cNvPr id="29" name="TextBox 28"/>
          <p:cNvSpPr txBox="1"/>
          <p:nvPr/>
        </p:nvSpPr>
        <p:spPr>
          <a:xfrm>
            <a:off x="10552176" y="3419856"/>
            <a:ext cx="8778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+7</a:t>
            </a:r>
          </a:p>
        </p:txBody>
      </p:sp>
      <p:sp>
        <p:nvSpPr>
          <p:cNvPr id="30" name="Rectangle 29"/>
          <p:cNvSpPr/>
          <p:nvPr/>
        </p:nvSpPr>
        <p:spPr>
          <a:xfrm>
            <a:off x="658368" y="3721608"/>
            <a:ext cx="1088136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803904"/>
            <a:ext cx="380390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siblings</a:t>
            </a:r>
          </a:p>
        </p:txBody>
      </p:sp>
      <p:sp>
        <p:nvSpPr>
          <p:cNvPr id="32" name="TextBox 31"/>
          <p:cNvSpPr txBox="1"/>
          <p:nvPr/>
        </p:nvSpPr>
        <p:spPr>
          <a:xfrm>
            <a:off x="4791456" y="3803904"/>
            <a:ext cx="13350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75%</a:t>
            </a:r>
          </a:p>
        </p:txBody>
      </p:sp>
      <p:sp>
        <p:nvSpPr>
          <p:cNvPr id="33" name="TextBox 32"/>
          <p:cNvSpPr txBox="1"/>
          <p:nvPr/>
        </p:nvSpPr>
        <p:spPr>
          <a:xfrm>
            <a:off x="6345936" y="3803904"/>
            <a:ext cx="18836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74%</a:t>
            </a:r>
          </a:p>
        </p:txBody>
      </p:sp>
      <p:sp>
        <p:nvSpPr>
          <p:cNvPr id="34" name="TextBox 33"/>
          <p:cNvSpPr txBox="1"/>
          <p:nvPr/>
        </p:nvSpPr>
        <p:spPr>
          <a:xfrm>
            <a:off x="8449056" y="3803904"/>
            <a:ext cx="18836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76%</a:t>
            </a:r>
          </a:p>
        </p:txBody>
      </p:sp>
      <p:sp>
        <p:nvSpPr>
          <p:cNvPr id="35" name="TextBox 34"/>
          <p:cNvSpPr txBox="1"/>
          <p:nvPr/>
        </p:nvSpPr>
        <p:spPr>
          <a:xfrm>
            <a:off x="10552176" y="3803904"/>
            <a:ext cx="8778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−2</a:t>
            </a:r>
          </a:p>
        </p:txBody>
      </p:sp>
      <p:sp>
        <p:nvSpPr>
          <p:cNvPr id="36" name="Rectangle 35"/>
          <p:cNvSpPr/>
          <p:nvPr/>
        </p:nvSpPr>
        <p:spPr>
          <a:xfrm>
            <a:off x="658368" y="4105656"/>
            <a:ext cx="1088136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187952"/>
            <a:ext cx="380390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helpers</a:t>
            </a:r>
          </a:p>
        </p:txBody>
      </p:sp>
      <p:sp>
        <p:nvSpPr>
          <p:cNvPr id="38" name="TextBox 37"/>
          <p:cNvSpPr txBox="1"/>
          <p:nvPr/>
        </p:nvSpPr>
        <p:spPr>
          <a:xfrm>
            <a:off x="4791456" y="4187952"/>
            <a:ext cx="13350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15%</a:t>
            </a:r>
          </a:p>
        </p:txBody>
      </p:sp>
      <p:sp>
        <p:nvSpPr>
          <p:cNvPr id="39" name="TextBox 38"/>
          <p:cNvSpPr txBox="1"/>
          <p:nvPr/>
        </p:nvSpPr>
        <p:spPr>
          <a:xfrm>
            <a:off x="6345936" y="4187952"/>
            <a:ext cx="18836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23%</a:t>
            </a:r>
          </a:p>
        </p:txBody>
      </p:sp>
      <p:sp>
        <p:nvSpPr>
          <p:cNvPr id="40" name="TextBox 39"/>
          <p:cNvSpPr txBox="1"/>
          <p:nvPr/>
        </p:nvSpPr>
        <p:spPr>
          <a:xfrm>
            <a:off x="8449056" y="4187952"/>
            <a:ext cx="18836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7%</a:t>
            </a:r>
          </a:p>
        </p:txBody>
      </p:sp>
      <p:sp>
        <p:nvSpPr>
          <p:cNvPr id="41" name="TextBox 40"/>
          <p:cNvSpPr txBox="1"/>
          <p:nvPr/>
        </p:nvSpPr>
        <p:spPr>
          <a:xfrm>
            <a:off x="10552176" y="4187952"/>
            <a:ext cx="8778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+16</a:t>
            </a:r>
          </a:p>
        </p:txBody>
      </p:sp>
      <p:sp>
        <p:nvSpPr>
          <p:cNvPr id="42" name="Rectangle 41"/>
          <p:cNvSpPr/>
          <p:nvPr/>
        </p:nvSpPr>
        <p:spPr>
          <a:xfrm>
            <a:off x="658368" y="4489704"/>
            <a:ext cx="1088136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8096" y="4572000"/>
            <a:ext cx="380390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context, all four</a:t>
            </a:r>
          </a:p>
        </p:txBody>
      </p:sp>
      <p:sp>
        <p:nvSpPr>
          <p:cNvPr id="44" name="TextBox 43"/>
          <p:cNvSpPr txBox="1"/>
          <p:nvPr/>
        </p:nvSpPr>
        <p:spPr>
          <a:xfrm>
            <a:off x="4791456" y="4572000"/>
            <a:ext cx="13350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86%</a:t>
            </a:r>
          </a:p>
        </p:txBody>
      </p:sp>
      <p:sp>
        <p:nvSpPr>
          <p:cNvPr id="45" name="TextBox 44"/>
          <p:cNvSpPr txBox="1"/>
          <p:nvPr/>
        </p:nvSpPr>
        <p:spPr>
          <a:xfrm>
            <a:off x="6345936" y="4572000"/>
            <a:ext cx="18836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85%</a:t>
            </a:r>
          </a:p>
        </p:txBody>
      </p:sp>
      <p:sp>
        <p:nvSpPr>
          <p:cNvPr id="46" name="TextBox 45"/>
          <p:cNvSpPr txBox="1"/>
          <p:nvPr/>
        </p:nvSpPr>
        <p:spPr>
          <a:xfrm>
            <a:off x="8449056" y="4572000"/>
            <a:ext cx="18836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88%</a:t>
            </a:r>
          </a:p>
        </p:txBody>
      </p:sp>
      <p:sp>
        <p:nvSpPr>
          <p:cNvPr id="47" name="TextBox 46"/>
          <p:cNvSpPr txBox="1"/>
          <p:nvPr/>
        </p:nvSpPr>
        <p:spPr>
          <a:xfrm>
            <a:off x="10552176" y="4572000"/>
            <a:ext cx="8778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−3</a:t>
            </a:r>
          </a:p>
        </p:txBody>
      </p:sp>
      <p:sp>
        <p:nvSpPr>
          <p:cNvPr id="48" name="Rectangle 47"/>
          <p:cNvSpPr/>
          <p:nvPr/>
        </p:nvSpPr>
        <p:spPr>
          <a:xfrm>
            <a:off x="658368" y="4873752"/>
            <a:ext cx="1088136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8368" y="5074920"/>
            <a:ext cx="10874959" cy="822960"/>
          </a:xfrm>
          <a:prstGeom prst="rect">
            <a:avLst/>
          </a:prstGeom>
          <a:noFill/>
        </p:spPr>
        <p:txBody>
          <a:bodyPr wrap="square" lIns="0" rIns="0" tIns="0" bIns="0" anchor="t">
            <a:spAutoFit/>
          </a:bodyPr>
          <a:lstStyle/>
          <a:p>
            <a:pPr>
              <a:lnSpc>
                <a:spcPct val="128000"/>
              </a:lnSpc>
              <a:spcBef>
                <a:spcPts val="0"/>
              </a:spcBef>
              <a:spcAft>
                <a:spcPts val="0"/>
              </a:spcAft>
            </a:pPr>
            <a:r>
              <a:rPr sz="1550" b="0" i="0">
                <a:solidFill>
                  <a:srgbClr val="151A21"/>
                </a:solidFill>
                <a:latin typeface="Calibri"/>
              </a:rPr>
              <a:t>The fields row is the finding. Static field declarations carry the true category's vocabulary four times more often for the tests the model gets wrong than for the tests it gets right.</a:t>
            </a:r>
          </a:p>
        </p:txBody>
      </p:sp>
      <p:sp>
        <p:nvSpPr>
          <p:cNvPr id="50" name="TextBox 49"/>
          <p:cNvSpPr txBox="1"/>
          <p:nvPr/>
        </p:nvSpPr>
        <p:spPr>
          <a:xfrm>
            <a:off x="658368" y="5806440"/>
            <a:ext cx="10874959" cy="822960"/>
          </a:xfrm>
          <a:prstGeom prst="rect">
            <a:avLst/>
          </a:prstGeom>
          <a:noFill/>
        </p:spPr>
        <p:txBody>
          <a:bodyPr wrap="square" lIns="0" rIns="0" tIns="0" bIns="0" anchor="t">
            <a:spAutoFit/>
          </a:bodyPr>
          <a:lstStyle/>
          <a:p>
            <a:pPr>
              <a:lnSpc>
                <a:spcPct val="128000"/>
              </a:lnSpc>
              <a:spcBef>
                <a:spcPts val="0"/>
              </a:spcBef>
              <a:spcAft>
                <a:spcPts val="0"/>
              </a:spcAft>
            </a:pPr>
            <a:r>
              <a:rPr sz="1350" b="0" i="0">
                <a:solidFill>
                  <a:srgbClr val="6B7684"/>
                </a:solidFill>
                <a:latin typeface="Calibri"/>
              </a:rPr>
              <a:t>Siblings carry it for three quarters of everything, so this measure does not separate them, though they still classify well alone. For 35 of 80 tests the true category is absent from the body and present in the context.</a:t>
            </a:r>
          </a:p>
        </p:txBody>
      </p:sp>
      <p:sp>
        <p:nvSpPr>
          <p:cNvPr id="51" name="TextBox 50"/>
          <p:cNvSpPr txBox="1"/>
          <p:nvPr/>
        </p:nvSpPr>
        <p:spPr>
          <a:xfrm>
            <a:off x="10820095" y="6382512"/>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BINARY TASK</a:t>
            </a:r>
          </a:p>
        </p:txBody>
      </p:sp>
      <p:sp>
        <p:nvSpPr>
          <p:cNvPr id="3" name="TextBox 2"/>
          <p:cNvSpPr txBox="1"/>
          <p:nvPr/>
        </p:nvSpPr>
        <p:spPr>
          <a:xfrm>
            <a:off x="658368" y="713232"/>
            <a:ext cx="10881360" cy="822960"/>
          </a:xfrm>
          <a:prstGeom prst="rect">
            <a:avLst/>
          </a:prstGeom>
          <a:noFill/>
        </p:spPr>
        <p:txBody>
          <a:bodyPr wrap="square" lIns="0" rIns="0" tIns="0" bIns="0" anchor="t">
            <a:spAutoFit/>
          </a:bodyPr>
          <a:lstStyle/>
          <a:p>
            <a:pPr>
              <a:lnSpc>
                <a:spcPct val="105000"/>
              </a:lnSpc>
              <a:spcBef>
                <a:spcPts val="0"/>
              </a:spcBef>
              <a:spcAft>
                <a:spcPts val="0"/>
              </a:spcAft>
            </a:pPr>
            <a:r>
              <a:rPr sz="3000" b="1" i="0">
                <a:solidFill>
                  <a:srgbClr val="151A21"/>
                </a:solidFill>
                <a:latin typeface="Calibri"/>
              </a:rPr>
              <a:t>Order dependency against everything else</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55648"/>
            <a:ext cx="10874959" cy="822960"/>
          </a:xfrm>
          <a:prstGeom prst="rect">
            <a:avLst/>
          </a:prstGeom>
          <a:noFill/>
        </p:spPr>
        <p:txBody>
          <a:bodyPr wrap="square" lIns="0" rIns="0" tIns="0" bIns="0" anchor="t">
            <a:spAutoFit/>
          </a:bodyPr>
          <a:lstStyle/>
          <a:p>
            <a:pPr>
              <a:lnSpc>
                <a:spcPct val="128000"/>
              </a:lnSpc>
              <a:spcBef>
                <a:spcPts val="0"/>
              </a:spcBef>
              <a:spcAft>
                <a:spcPts val="0"/>
              </a:spcAft>
            </a:pPr>
            <a:r>
              <a:rPr sz="1400" b="0" i="0">
                <a:solidFill>
                  <a:srgbClr val="6B7684"/>
                </a:solidFill>
                <a:latin typeface="Calibri"/>
              </a:rPr>
              <a:t>Cleaner than the five-way task given the class skew, and here the full context wins by a wide margin.</a:t>
            </a:r>
          </a:p>
        </p:txBody>
      </p:sp>
      <p:sp>
        <p:nvSpPr>
          <p:cNvPr id="6" name="Rectangle 5"/>
          <p:cNvSpPr/>
          <p:nvPr/>
        </p:nvSpPr>
        <p:spPr>
          <a:xfrm>
            <a:off x="658368" y="2212848"/>
            <a:ext cx="9144000" cy="36576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295144"/>
            <a:ext cx="4901183" cy="256032"/>
          </a:xfrm>
          <a:prstGeom prst="rect">
            <a:avLst/>
          </a:prstGeom>
          <a:noFill/>
        </p:spPr>
        <p:txBody>
          <a:bodyPr wrap="square" lIns="0" rIns="0" tIns="0" bIns="0" anchor="t">
            <a:spAutoFit/>
          </a:bodyPr>
          <a:lstStyle/>
          <a:p>
            <a:pPr algn="l">
              <a:spcBef>
                <a:spcPts val="0"/>
              </a:spcBef>
              <a:spcAft>
                <a:spcPts val="0"/>
              </a:spcAft>
            </a:pPr>
            <a:r>
              <a:rPr sz="1100" b="1" i="0">
                <a:solidFill>
                  <a:srgbClr val="6B7684"/>
                </a:solidFill>
                <a:latin typeface="Consolas"/>
              </a:rPr>
              <a:t>SLICE</a:t>
            </a:r>
          </a:p>
        </p:txBody>
      </p:sp>
      <p:sp>
        <p:nvSpPr>
          <p:cNvPr id="8" name="TextBox 7"/>
          <p:cNvSpPr txBox="1"/>
          <p:nvPr/>
        </p:nvSpPr>
        <p:spPr>
          <a:xfrm>
            <a:off x="5888736" y="2295144"/>
            <a:ext cx="160934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AUC</a:t>
            </a:r>
          </a:p>
        </p:txBody>
      </p:sp>
      <p:sp>
        <p:nvSpPr>
          <p:cNvPr id="9" name="TextBox 8"/>
          <p:cNvSpPr txBox="1"/>
          <p:nvPr/>
        </p:nvSpPr>
        <p:spPr>
          <a:xfrm>
            <a:off x="7717536" y="2295144"/>
            <a:ext cx="197510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BEST ACCURACY</a:t>
            </a:r>
          </a:p>
        </p:txBody>
      </p:sp>
      <p:sp>
        <p:nvSpPr>
          <p:cNvPr id="10" name="TextBox 9"/>
          <p:cNvSpPr txBox="1"/>
          <p:nvPr/>
        </p:nvSpPr>
        <p:spPr>
          <a:xfrm>
            <a:off x="768096" y="2651760"/>
            <a:ext cx="4901183"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body only</a:t>
            </a:r>
          </a:p>
        </p:txBody>
      </p:sp>
      <p:sp>
        <p:nvSpPr>
          <p:cNvPr id="11" name="TextBox 10"/>
          <p:cNvSpPr txBox="1"/>
          <p:nvPr/>
        </p:nvSpPr>
        <p:spPr>
          <a:xfrm>
            <a:off x="5888736" y="2651760"/>
            <a:ext cx="160934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0.723</a:t>
            </a:r>
          </a:p>
        </p:txBody>
      </p:sp>
      <p:sp>
        <p:nvSpPr>
          <p:cNvPr id="12" name="TextBox 11"/>
          <p:cNvSpPr txBox="1"/>
          <p:nvPr/>
        </p:nvSpPr>
        <p:spPr>
          <a:xfrm>
            <a:off x="7717536" y="2651760"/>
            <a:ext cx="197510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72.5%</a:t>
            </a:r>
          </a:p>
        </p:txBody>
      </p:sp>
      <p:sp>
        <p:nvSpPr>
          <p:cNvPr id="13" name="Rectangle 12"/>
          <p:cNvSpPr/>
          <p:nvPr/>
        </p:nvSpPr>
        <p:spPr>
          <a:xfrm>
            <a:off x="658368" y="2953512"/>
            <a:ext cx="914400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3035808"/>
            <a:ext cx="4901183"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body + fixtures</a:t>
            </a:r>
          </a:p>
        </p:txBody>
      </p:sp>
      <p:sp>
        <p:nvSpPr>
          <p:cNvPr id="15" name="TextBox 14"/>
          <p:cNvSpPr txBox="1"/>
          <p:nvPr/>
        </p:nvSpPr>
        <p:spPr>
          <a:xfrm>
            <a:off x="5888736" y="3035808"/>
            <a:ext cx="160934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0.834</a:t>
            </a:r>
          </a:p>
        </p:txBody>
      </p:sp>
      <p:sp>
        <p:nvSpPr>
          <p:cNvPr id="16" name="TextBox 15"/>
          <p:cNvSpPr txBox="1"/>
          <p:nvPr/>
        </p:nvSpPr>
        <p:spPr>
          <a:xfrm>
            <a:off x="7717536" y="3035808"/>
            <a:ext cx="197510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77.5%</a:t>
            </a:r>
          </a:p>
        </p:txBody>
      </p:sp>
      <p:sp>
        <p:nvSpPr>
          <p:cNvPr id="17" name="Rectangle 16"/>
          <p:cNvSpPr/>
          <p:nvPr/>
        </p:nvSpPr>
        <p:spPr>
          <a:xfrm>
            <a:off x="658368" y="3337560"/>
            <a:ext cx="914400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364991"/>
            <a:ext cx="9144000" cy="365759"/>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419856"/>
            <a:ext cx="4901183" cy="274320"/>
          </a:xfrm>
          <a:prstGeom prst="rect">
            <a:avLst/>
          </a:prstGeom>
          <a:noFill/>
        </p:spPr>
        <p:txBody>
          <a:bodyPr wrap="square" lIns="0" rIns="0" tIns="0" bIns="0" anchor="t">
            <a:spAutoFit/>
          </a:bodyPr>
          <a:lstStyle/>
          <a:p>
            <a:pPr algn="l">
              <a:spcBef>
                <a:spcPts val="0"/>
              </a:spcBef>
              <a:spcAft>
                <a:spcPts val="0"/>
              </a:spcAft>
            </a:pPr>
            <a:r>
              <a:rPr sz="1350" b="1" i="0">
                <a:solidFill>
                  <a:srgbClr val="151A21"/>
                </a:solidFill>
                <a:latin typeface="Calibri"/>
              </a:rPr>
              <a:t>body + siblings</a:t>
            </a:r>
          </a:p>
        </p:txBody>
      </p:sp>
      <p:sp>
        <p:nvSpPr>
          <p:cNvPr id="20" name="TextBox 19"/>
          <p:cNvSpPr txBox="1"/>
          <p:nvPr/>
        </p:nvSpPr>
        <p:spPr>
          <a:xfrm>
            <a:off x="5888736" y="3419856"/>
            <a:ext cx="1609344" cy="274320"/>
          </a:xfrm>
          <a:prstGeom prst="rect">
            <a:avLst/>
          </a:prstGeom>
          <a:noFill/>
        </p:spPr>
        <p:txBody>
          <a:bodyPr wrap="square" lIns="0" rIns="0" tIns="0" bIns="0" anchor="t">
            <a:spAutoFit/>
          </a:bodyPr>
          <a:lstStyle/>
          <a:p>
            <a:pPr algn="r">
              <a:spcBef>
                <a:spcPts val="0"/>
              </a:spcBef>
              <a:spcAft>
                <a:spcPts val="0"/>
              </a:spcAft>
            </a:pPr>
            <a:r>
              <a:rPr sz="1350" b="1" i="0">
                <a:solidFill>
                  <a:srgbClr val="151A21"/>
                </a:solidFill>
                <a:latin typeface="Consolas"/>
              </a:rPr>
              <a:t>0.824</a:t>
            </a:r>
          </a:p>
        </p:txBody>
      </p:sp>
      <p:sp>
        <p:nvSpPr>
          <p:cNvPr id="21" name="TextBox 20"/>
          <p:cNvSpPr txBox="1"/>
          <p:nvPr/>
        </p:nvSpPr>
        <p:spPr>
          <a:xfrm>
            <a:off x="7717536" y="3419856"/>
            <a:ext cx="1975104" cy="274320"/>
          </a:xfrm>
          <a:prstGeom prst="rect">
            <a:avLst/>
          </a:prstGeom>
          <a:noFill/>
        </p:spPr>
        <p:txBody>
          <a:bodyPr wrap="square" lIns="0" rIns="0" tIns="0" bIns="0" anchor="t">
            <a:spAutoFit/>
          </a:bodyPr>
          <a:lstStyle/>
          <a:p>
            <a:pPr algn="r">
              <a:spcBef>
                <a:spcPts val="0"/>
              </a:spcBef>
              <a:spcAft>
                <a:spcPts val="0"/>
              </a:spcAft>
            </a:pPr>
            <a:r>
              <a:rPr sz="1350" b="1" i="0">
                <a:solidFill>
                  <a:srgbClr val="151A21"/>
                </a:solidFill>
                <a:latin typeface="Consolas"/>
              </a:rPr>
              <a:t>78.8%</a:t>
            </a:r>
          </a:p>
        </p:txBody>
      </p:sp>
      <p:sp>
        <p:nvSpPr>
          <p:cNvPr id="22" name="Rectangle 21"/>
          <p:cNvSpPr/>
          <p:nvPr/>
        </p:nvSpPr>
        <p:spPr>
          <a:xfrm>
            <a:off x="658368" y="3721608"/>
            <a:ext cx="914400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977639"/>
            <a:ext cx="10874959" cy="932688"/>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 y="3977639"/>
            <a:ext cx="45720" cy="932688"/>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 y="4169663"/>
            <a:ext cx="10234879" cy="731520"/>
          </a:xfrm>
          <a:prstGeom prst="rect">
            <a:avLst/>
          </a:prstGeom>
          <a:noFill/>
        </p:spPr>
        <p:txBody>
          <a:bodyPr wrap="square" lIns="0" rIns="0" tIns="0" bIns="0" anchor="t">
            <a:spAutoFit/>
          </a:bodyPr>
          <a:lstStyle/>
          <a:p>
            <a:pPr>
              <a:lnSpc>
                <a:spcPct val="128000"/>
              </a:lnSpc>
              <a:spcBef>
                <a:spcPts val="0"/>
              </a:spcBef>
              <a:spcAft>
                <a:spcPts val="0"/>
              </a:spcAft>
            </a:pPr>
            <a:r>
              <a:rPr sz="1550" b="1" i="0">
                <a:solidFill>
                  <a:srgbClr val="2F4858"/>
                </a:solidFill>
                <a:latin typeface="Calibri"/>
              </a:rPr>
              <a:t>Sibling tests and called helpers do carry order-dependency signal. They simply cannot be thrown into a single five-way bag without costing the other categories.</a:t>
            </a:r>
          </a:p>
        </p:txBody>
      </p:sp>
      <p:sp>
        <p:nvSpPr>
          <p:cNvPr id="26" name="TextBox 25"/>
          <p:cNvSpPr txBox="1"/>
          <p:nvPr/>
        </p:nvSpPr>
        <p:spPr>
          <a:xfrm>
            <a:off x="658368" y="5212080"/>
            <a:ext cx="10874959" cy="822960"/>
          </a:xfrm>
          <a:prstGeom prst="rect">
            <a:avLst/>
          </a:prstGeom>
          <a:noFill/>
        </p:spPr>
        <p:txBody>
          <a:bodyPr wrap="square" lIns="0" rIns="0" tIns="0" bIns="0" anchor="t">
            <a:spAutoFit/>
          </a:bodyPr>
          <a:lstStyle/>
          <a:p>
            <a:pPr>
              <a:lnSpc>
                <a:spcPct val="128000"/>
              </a:lnSpc>
              <a:spcBef>
                <a:spcPts val="0"/>
              </a:spcBef>
              <a:spcAft>
                <a:spcPts val="0"/>
              </a:spcAft>
            </a:pPr>
            <a:r>
              <a:rPr sz="1400" b="0" i="0">
                <a:solidFill>
                  <a:srgbClr val="6B7684"/>
                </a:solidFill>
                <a:latin typeface="Calibri"/>
              </a:rPr>
              <a:t>Recovered by fields + fixtures among the 39 the model got wrong: 13 gained, 0 lost.</a:t>
            </a:r>
          </a:p>
        </p:txBody>
      </p:sp>
      <p:sp>
        <p:nvSpPr>
          <p:cNvPr id="27" name="Rectangle 26"/>
          <p:cNvSpPr/>
          <p:nvPr/>
        </p:nvSpPr>
        <p:spPr>
          <a:xfrm>
            <a:off x="658368" y="5504688"/>
            <a:ext cx="10006279" cy="1342339"/>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5650992"/>
            <a:ext cx="9713671" cy="1049731"/>
          </a:xfrm>
          <a:prstGeom prst="rect">
            <a:avLst/>
          </a:prstGeom>
          <a:noFill/>
        </p:spPr>
        <p:txBody>
          <a:bodyPr wrap="square" lIns="0" rIns="0" tIns="0" bIns="0" anchor="t">
            <a:spAutoFit/>
          </a:bodyPr>
          <a:lstStyle/>
          <a:p>
            <a:pPr>
              <a:lnSpc>
                <a:spcPct val="128000"/>
              </a:lnSpc>
              <a:spcBef>
                <a:spcPts val="0"/>
              </a:spcBef>
              <a:spcAft>
                <a:spcPts val="0"/>
              </a:spcAft>
            </a:pPr>
            <a:r>
              <a:rPr sz="1050" b="1" i="0">
                <a:solidFill>
                  <a:srgbClr val="A8452B"/>
                </a:solidFill>
                <a:latin typeface="Consolas"/>
              </a:rPr>
              <a:t>TestPathData.testCwdContents / testQualifiedUriContents / testUnqualifiedUriContents  OD, said UC</a:t>
            </a:r>
          </a:p>
          <a:p>
            <a:pPr>
              <a:lnSpc>
                <a:spcPct val="128000"/>
              </a:lnSpc>
              <a:spcBef>
                <a:spcPts val="0"/>
              </a:spcBef>
              <a:spcAft>
                <a:spcPts val="0"/>
              </a:spcAft>
            </a:pPr>
            <a:r>
              <a:rPr sz="1050" b="1" i="0">
                <a:solidFill>
                  <a:srgbClr val="A8452B"/>
                </a:solidFill>
                <a:latin typeface="Consolas"/>
              </a:rPr>
              <a:t>TestRPCCompatibility.testVersion2ClientVersion2Server                                 OD, said async</a:t>
            </a:r>
          </a:p>
          <a:p>
            <a:pPr>
              <a:lnSpc>
                <a:spcPct val="128000"/>
              </a:lnSpc>
              <a:spcBef>
                <a:spcPts val="0"/>
              </a:spcBef>
              <a:spcAft>
                <a:spcPts val="0"/>
              </a:spcAft>
            </a:pPr>
            <a:r>
              <a:rPr sz="1050" b="1" i="0">
                <a:solidFill>
                  <a:srgbClr val="A8452B"/>
                </a:solidFill>
                <a:latin typeface="Consolas"/>
              </a:rPr>
              <a:t>TestDelegationTokenForProxyUser.testDelegationTokenWithRealUser                       OD, said conc</a:t>
            </a:r>
          </a:p>
          <a:p>
            <a:pPr>
              <a:lnSpc>
                <a:spcPct val="128000"/>
              </a:lnSpc>
              <a:spcBef>
                <a:spcPts val="0"/>
              </a:spcBef>
              <a:spcAft>
                <a:spcPts val="0"/>
              </a:spcAft>
            </a:pPr>
            <a:r>
              <a:rPr sz="1050" b="1" i="0">
                <a:solidFill>
                  <a:srgbClr val="A8452B"/>
                </a:solidFill>
                <a:latin typeface="Consolas"/>
              </a:rPr>
              <a:t>ProvisioningServiceTest.testCancelDeprovision                                         OD, said async</a:t>
            </a:r>
          </a:p>
          <a:p>
            <a:pPr>
              <a:lnSpc>
                <a:spcPct val="128000"/>
              </a:lnSpc>
              <a:spcBef>
                <a:spcPts val="0"/>
              </a:spcBef>
              <a:spcAft>
                <a:spcPts val="0"/>
              </a:spcAft>
            </a:pPr>
            <a:r>
              <a:rPr sz="1050" b="0" i="0">
                <a:solidFill>
                  <a:srgbClr val="3D4653"/>
                </a:solidFill>
                <a:latin typeface="Consolas"/>
              </a:rPr>
              <a:t>lost: TestFrameworkTestRun.testAppWithServices                                        conc</a:t>
            </a:r>
          </a:p>
        </p:txBody>
      </p:sp>
      <p:sp>
        <p:nvSpPr>
          <p:cNvPr id="29" name="TextBox 28"/>
          <p:cNvSpPr txBox="1"/>
          <p:nvPr/>
        </p:nvSpPr>
        <p:spPr>
          <a:xfrm>
            <a:off x="10820095" y="6382512"/>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SAMPLE</a:t>
            </a:r>
          </a:p>
        </p:txBody>
      </p:sp>
      <p:sp>
        <p:nvSpPr>
          <p:cNvPr id="3" name="TextBox 2"/>
          <p:cNvSpPr txBox="1"/>
          <p:nvPr/>
        </p:nvSpPr>
        <p:spPr>
          <a:xfrm>
            <a:off x="658368" y="713232"/>
            <a:ext cx="10881360" cy="822960"/>
          </a:xfrm>
          <a:prstGeom prst="rect">
            <a:avLst/>
          </a:prstGeom>
          <a:noFill/>
        </p:spPr>
        <p:txBody>
          <a:bodyPr wrap="square" lIns="0" rIns="0" tIns="0" bIns="0" anchor="t">
            <a:spAutoFit/>
          </a:bodyPr>
          <a:lstStyle/>
          <a:p>
            <a:pPr>
              <a:lnSpc>
                <a:spcPct val="105000"/>
              </a:lnSpc>
              <a:spcBef>
                <a:spcPts val="0"/>
              </a:spcBef>
              <a:spcAft>
                <a:spcPts val="0"/>
              </a:spcAft>
            </a:pPr>
            <a:r>
              <a:rPr sz="3000" b="1" i="0">
                <a:solidFill>
                  <a:srgbClr val="151A21"/>
                </a:solidFill>
                <a:latin typeface="Calibri"/>
              </a:rPr>
              <a:t>80 of 116 flaky tests located</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847088"/>
            <a:ext cx="10881360" cy="36576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929384"/>
            <a:ext cx="3803904" cy="256032"/>
          </a:xfrm>
          <a:prstGeom prst="rect">
            <a:avLst/>
          </a:prstGeom>
          <a:noFill/>
        </p:spPr>
        <p:txBody>
          <a:bodyPr wrap="square" lIns="0" rIns="0" tIns="0" bIns="0" anchor="t">
            <a:spAutoFit/>
          </a:bodyPr>
          <a:lstStyle/>
          <a:p>
            <a:pPr algn="l">
              <a:spcBef>
                <a:spcPts val="0"/>
              </a:spcBef>
              <a:spcAft>
                <a:spcPts val="0"/>
              </a:spcAft>
            </a:pPr>
            <a:r>
              <a:rPr sz="1100" b="1" i="0">
                <a:solidFill>
                  <a:srgbClr val="6B7684"/>
                </a:solidFill>
                <a:latin typeface="Consolas"/>
              </a:rPr>
              <a:t>PROJECT</a:t>
            </a:r>
          </a:p>
        </p:txBody>
      </p:sp>
      <p:sp>
        <p:nvSpPr>
          <p:cNvPr id="7" name="TextBox 6"/>
          <p:cNvSpPr txBox="1"/>
          <p:nvPr/>
        </p:nvSpPr>
        <p:spPr>
          <a:xfrm>
            <a:off x="4791456" y="1929384"/>
            <a:ext cx="133502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FLAKY</a:t>
            </a:r>
          </a:p>
        </p:txBody>
      </p:sp>
      <p:sp>
        <p:nvSpPr>
          <p:cNvPr id="8" name="TextBox 7"/>
          <p:cNvSpPr txBox="1"/>
          <p:nvPr/>
        </p:nvSpPr>
        <p:spPr>
          <a:xfrm>
            <a:off x="6345936" y="1929384"/>
            <a:ext cx="151790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LOCATED</a:t>
            </a:r>
          </a:p>
        </p:txBody>
      </p:sp>
      <p:sp>
        <p:nvSpPr>
          <p:cNvPr id="9" name="TextBox 8"/>
          <p:cNvSpPr txBox="1"/>
          <p:nvPr/>
        </p:nvSpPr>
        <p:spPr>
          <a:xfrm>
            <a:off x="8083296" y="1929384"/>
            <a:ext cx="151790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ANALYSED</a:t>
            </a:r>
          </a:p>
        </p:txBody>
      </p:sp>
      <p:sp>
        <p:nvSpPr>
          <p:cNvPr id="10" name="TextBox 9"/>
          <p:cNvSpPr txBox="1"/>
          <p:nvPr/>
        </p:nvSpPr>
        <p:spPr>
          <a:xfrm>
            <a:off x="9820656" y="1929384"/>
            <a:ext cx="160934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MODEL WRONG</a:t>
            </a:r>
          </a:p>
        </p:txBody>
      </p:sp>
      <p:sp>
        <p:nvSpPr>
          <p:cNvPr id="11" name="TextBox 10"/>
          <p:cNvSpPr txBox="1"/>
          <p:nvPr/>
        </p:nvSpPr>
        <p:spPr>
          <a:xfrm>
            <a:off x="768096" y="2286000"/>
            <a:ext cx="380390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apache/hadoop</a:t>
            </a:r>
          </a:p>
        </p:txBody>
      </p:sp>
      <p:sp>
        <p:nvSpPr>
          <p:cNvPr id="12" name="TextBox 11"/>
          <p:cNvSpPr txBox="1"/>
          <p:nvPr/>
        </p:nvSpPr>
        <p:spPr>
          <a:xfrm>
            <a:off x="4791456" y="2286000"/>
            <a:ext cx="13350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33</a:t>
            </a:r>
          </a:p>
        </p:txBody>
      </p:sp>
      <p:sp>
        <p:nvSpPr>
          <p:cNvPr id="13" name="TextBox 12"/>
          <p:cNvSpPr txBox="1"/>
          <p:nvPr/>
        </p:nvSpPr>
        <p:spPr>
          <a:xfrm>
            <a:off x="6345936" y="2286000"/>
            <a:ext cx="151790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27</a:t>
            </a:r>
          </a:p>
        </p:txBody>
      </p:sp>
      <p:sp>
        <p:nvSpPr>
          <p:cNvPr id="14" name="TextBox 13"/>
          <p:cNvSpPr txBox="1"/>
          <p:nvPr/>
        </p:nvSpPr>
        <p:spPr>
          <a:xfrm>
            <a:off x="8083296" y="2286000"/>
            <a:ext cx="151790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27</a:t>
            </a:r>
          </a:p>
        </p:txBody>
      </p:sp>
      <p:sp>
        <p:nvSpPr>
          <p:cNvPr id="15" name="TextBox 14"/>
          <p:cNvSpPr txBox="1"/>
          <p:nvPr/>
        </p:nvSpPr>
        <p:spPr>
          <a:xfrm>
            <a:off x="9820656" y="2286000"/>
            <a:ext cx="160934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17</a:t>
            </a:r>
          </a:p>
        </p:txBody>
      </p:sp>
      <p:sp>
        <p:nvSpPr>
          <p:cNvPr id="16" name="Rectangle 15"/>
          <p:cNvSpPr/>
          <p:nvPr/>
        </p:nvSpPr>
        <p:spPr>
          <a:xfrm>
            <a:off x="658368" y="2587752"/>
            <a:ext cx="1088136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2670048"/>
            <a:ext cx="380390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wildfly/wildfly</a:t>
            </a:r>
          </a:p>
        </p:txBody>
      </p:sp>
      <p:sp>
        <p:nvSpPr>
          <p:cNvPr id="18" name="TextBox 17"/>
          <p:cNvSpPr txBox="1"/>
          <p:nvPr/>
        </p:nvSpPr>
        <p:spPr>
          <a:xfrm>
            <a:off x="4791456" y="2670048"/>
            <a:ext cx="13350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42</a:t>
            </a:r>
          </a:p>
        </p:txBody>
      </p:sp>
      <p:sp>
        <p:nvSpPr>
          <p:cNvPr id="19" name="TextBox 18"/>
          <p:cNvSpPr txBox="1"/>
          <p:nvPr/>
        </p:nvSpPr>
        <p:spPr>
          <a:xfrm>
            <a:off x="6345936" y="2670048"/>
            <a:ext cx="151790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24</a:t>
            </a:r>
          </a:p>
        </p:txBody>
      </p:sp>
      <p:sp>
        <p:nvSpPr>
          <p:cNvPr id="20" name="TextBox 19"/>
          <p:cNvSpPr txBox="1"/>
          <p:nvPr/>
        </p:nvSpPr>
        <p:spPr>
          <a:xfrm>
            <a:off x="8083296" y="2670048"/>
            <a:ext cx="151790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24</a:t>
            </a:r>
          </a:p>
        </p:txBody>
      </p:sp>
      <p:sp>
        <p:nvSpPr>
          <p:cNvPr id="21" name="TextBox 20"/>
          <p:cNvSpPr txBox="1"/>
          <p:nvPr/>
        </p:nvSpPr>
        <p:spPr>
          <a:xfrm>
            <a:off x="9820656" y="2670048"/>
            <a:ext cx="160934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7</a:t>
            </a:r>
          </a:p>
        </p:txBody>
      </p:sp>
      <p:sp>
        <p:nvSpPr>
          <p:cNvPr id="22" name="Rectangle 21"/>
          <p:cNvSpPr/>
          <p:nvPr/>
        </p:nvSpPr>
        <p:spPr>
          <a:xfrm>
            <a:off x="658368" y="2971800"/>
            <a:ext cx="1088136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3054096"/>
            <a:ext cx="380390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apache/pulsar</a:t>
            </a:r>
          </a:p>
        </p:txBody>
      </p:sp>
      <p:sp>
        <p:nvSpPr>
          <p:cNvPr id="24" name="TextBox 23"/>
          <p:cNvSpPr txBox="1"/>
          <p:nvPr/>
        </p:nvSpPr>
        <p:spPr>
          <a:xfrm>
            <a:off x="4791456" y="3054096"/>
            <a:ext cx="13350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22</a:t>
            </a:r>
          </a:p>
        </p:txBody>
      </p:sp>
      <p:sp>
        <p:nvSpPr>
          <p:cNvPr id="25" name="TextBox 24"/>
          <p:cNvSpPr txBox="1"/>
          <p:nvPr/>
        </p:nvSpPr>
        <p:spPr>
          <a:xfrm>
            <a:off x="6345936" y="3054096"/>
            <a:ext cx="151790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16</a:t>
            </a:r>
          </a:p>
        </p:txBody>
      </p:sp>
      <p:sp>
        <p:nvSpPr>
          <p:cNvPr id="26" name="TextBox 25"/>
          <p:cNvSpPr txBox="1"/>
          <p:nvPr/>
        </p:nvSpPr>
        <p:spPr>
          <a:xfrm>
            <a:off x="8083296" y="3054096"/>
            <a:ext cx="151790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16</a:t>
            </a:r>
          </a:p>
        </p:txBody>
      </p:sp>
      <p:sp>
        <p:nvSpPr>
          <p:cNvPr id="27" name="TextBox 26"/>
          <p:cNvSpPr txBox="1"/>
          <p:nvPr/>
        </p:nvSpPr>
        <p:spPr>
          <a:xfrm>
            <a:off x="9820656" y="3054096"/>
            <a:ext cx="160934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5</a:t>
            </a:r>
          </a:p>
        </p:txBody>
      </p:sp>
      <p:sp>
        <p:nvSpPr>
          <p:cNvPr id="28" name="Rectangle 27"/>
          <p:cNvSpPr/>
          <p:nvPr/>
        </p:nvSpPr>
        <p:spPr>
          <a:xfrm>
            <a:off x="658368" y="3355848"/>
            <a:ext cx="1088136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 y="3438144"/>
            <a:ext cx="380390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cdapio/cdap</a:t>
            </a:r>
          </a:p>
        </p:txBody>
      </p:sp>
      <p:sp>
        <p:nvSpPr>
          <p:cNvPr id="30" name="TextBox 29"/>
          <p:cNvSpPr txBox="1"/>
          <p:nvPr/>
        </p:nvSpPr>
        <p:spPr>
          <a:xfrm>
            <a:off x="4791456" y="3438144"/>
            <a:ext cx="13350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11</a:t>
            </a:r>
          </a:p>
        </p:txBody>
      </p:sp>
      <p:sp>
        <p:nvSpPr>
          <p:cNvPr id="31" name="TextBox 30"/>
          <p:cNvSpPr txBox="1"/>
          <p:nvPr/>
        </p:nvSpPr>
        <p:spPr>
          <a:xfrm>
            <a:off x="6345936" y="3438144"/>
            <a:ext cx="151790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9</a:t>
            </a:r>
          </a:p>
        </p:txBody>
      </p:sp>
      <p:sp>
        <p:nvSpPr>
          <p:cNvPr id="32" name="TextBox 31"/>
          <p:cNvSpPr txBox="1"/>
          <p:nvPr/>
        </p:nvSpPr>
        <p:spPr>
          <a:xfrm>
            <a:off x="8083296" y="3438144"/>
            <a:ext cx="151790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9</a:t>
            </a:r>
          </a:p>
        </p:txBody>
      </p:sp>
      <p:sp>
        <p:nvSpPr>
          <p:cNvPr id="33" name="TextBox 32"/>
          <p:cNvSpPr txBox="1"/>
          <p:nvPr/>
        </p:nvSpPr>
        <p:spPr>
          <a:xfrm>
            <a:off x="9820656" y="3438144"/>
            <a:ext cx="160934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7</a:t>
            </a:r>
          </a:p>
        </p:txBody>
      </p:sp>
      <p:sp>
        <p:nvSpPr>
          <p:cNvPr id="34" name="Rectangle 33"/>
          <p:cNvSpPr/>
          <p:nvPr/>
        </p:nvSpPr>
        <p:spPr>
          <a:xfrm>
            <a:off x="658368" y="3739896"/>
            <a:ext cx="1088136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3822191"/>
            <a:ext cx="380390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neo4j/neo4j</a:t>
            </a:r>
          </a:p>
        </p:txBody>
      </p:sp>
      <p:sp>
        <p:nvSpPr>
          <p:cNvPr id="36" name="TextBox 35"/>
          <p:cNvSpPr txBox="1"/>
          <p:nvPr/>
        </p:nvSpPr>
        <p:spPr>
          <a:xfrm>
            <a:off x="4791456" y="3822191"/>
            <a:ext cx="13350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8</a:t>
            </a:r>
          </a:p>
        </p:txBody>
      </p:sp>
      <p:sp>
        <p:nvSpPr>
          <p:cNvPr id="37" name="TextBox 36"/>
          <p:cNvSpPr txBox="1"/>
          <p:nvPr/>
        </p:nvSpPr>
        <p:spPr>
          <a:xfrm>
            <a:off x="6345936" y="3822191"/>
            <a:ext cx="151790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4</a:t>
            </a:r>
          </a:p>
        </p:txBody>
      </p:sp>
      <p:sp>
        <p:nvSpPr>
          <p:cNvPr id="38" name="TextBox 37"/>
          <p:cNvSpPr txBox="1"/>
          <p:nvPr/>
        </p:nvSpPr>
        <p:spPr>
          <a:xfrm>
            <a:off x="8083296" y="3822191"/>
            <a:ext cx="151790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4</a:t>
            </a:r>
          </a:p>
        </p:txBody>
      </p:sp>
      <p:sp>
        <p:nvSpPr>
          <p:cNvPr id="39" name="TextBox 38"/>
          <p:cNvSpPr txBox="1"/>
          <p:nvPr/>
        </p:nvSpPr>
        <p:spPr>
          <a:xfrm>
            <a:off x="9820656" y="3822191"/>
            <a:ext cx="160934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3</a:t>
            </a:r>
          </a:p>
        </p:txBody>
      </p:sp>
      <p:sp>
        <p:nvSpPr>
          <p:cNvPr id="40" name="Rectangle 39"/>
          <p:cNvSpPr/>
          <p:nvPr/>
        </p:nvSpPr>
        <p:spPr>
          <a:xfrm>
            <a:off x="658368" y="4123944"/>
            <a:ext cx="1088136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 y="4151376"/>
            <a:ext cx="10881360" cy="365759"/>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4206240"/>
            <a:ext cx="3803904" cy="274320"/>
          </a:xfrm>
          <a:prstGeom prst="rect">
            <a:avLst/>
          </a:prstGeom>
          <a:noFill/>
        </p:spPr>
        <p:txBody>
          <a:bodyPr wrap="square" lIns="0" rIns="0" tIns="0" bIns="0" anchor="t">
            <a:spAutoFit/>
          </a:bodyPr>
          <a:lstStyle/>
          <a:p>
            <a:pPr algn="l">
              <a:spcBef>
                <a:spcPts val="0"/>
              </a:spcBef>
              <a:spcAft>
                <a:spcPts val="0"/>
              </a:spcAft>
            </a:pPr>
            <a:r>
              <a:rPr sz="1350" b="1" i="0">
                <a:solidFill>
                  <a:srgbClr val="151A21"/>
                </a:solidFill>
                <a:latin typeface="Calibri"/>
              </a:rPr>
              <a:t>total</a:t>
            </a:r>
          </a:p>
        </p:txBody>
      </p:sp>
      <p:sp>
        <p:nvSpPr>
          <p:cNvPr id="43" name="TextBox 42"/>
          <p:cNvSpPr txBox="1"/>
          <p:nvPr/>
        </p:nvSpPr>
        <p:spPr>
          <a:xfrm>
            <a:off x="4791456" y="4206240"/>
            <a:ext cx="1335024" cy="274320"/>
          </a:xfrm>
          <a:prstGeom prst="rect">
            <a:avLst/>
          </a:prstGeom>
          <a:noFill/>
        </p:spPr>
        <p:txBody>
          <a:bodyPr wrap="square" lIns="0" rIns="0" tIns="0" bIns="0" anchor="t">
            <a:spAutoFit/>
          </a:bodyPr>
          <a:lstStyle/>
          <a:p>
            <a:pPr algn="r">
              <a:spcBef>
                <a:spcPts val="0"/>
              </a:spcBef>
              <a:spcAft>
                <a:spcPts val="0"/>
              </a:spcAft>
            </a:pPr>
            <a:r>
              <a:rPr sz="1350" b="1" i="0">
                <a:solidFill>
                  <a:srgbClr val="151A21"/>
                </a:solidFill>
                <a:latin typeface="Consolas"/>
              </a:rPr>
              <a:t>116</a:t>
            </a:r>
          </a:p>
        </p:txBody>
      </p:sp>
      <p:sp>
        <p:nvSpPr>
          <p:cNvPr id="44" name="TextBox 43"/>
          <p:cNvSpPr txBox="1"/>
          <p:nvPr/>
        </p:nvSpPr>
        <p:spPr>
          <a:xfrm>
            <a:off x="6345936" y="4206240"/>
            <a:ext cx="1517904" cy="274320"/>
          </a:xfrm>
          <a:prstGeom prst="rect">
            <a:avLst/>
          </a:prstGeom>
          <a:noFill/>
        </p:spPr>
        <p:txBody>
          <a:bodyPr wrap="square" lIns="0" rIns="0" tIns="0" bIns="0" anchor="t">
            <a:spAutoFit/>
          </a:bodyPr>
          <a:lstStyle/>
          <a:p>
            <a:pPr algn="r">
              <a:spcBef>
                <a:spcPts val="0"/>
              </a:spcBef>
              <a:spcAft>
                <a:spcPts val="0"/>
              </a:spcAft>
            </a:pPr>
            <a:r>
              <a:rPr sz="1350" b="1" i="0">
                <a:solidFill>
                  <a:srgbClr val="151A21"/>
                </a:solidFill>
                <a:latin typeface="Consolas"/>
              </a:rPr>
              <a:t>80</a:t>
            </a:r>
          </a:p>
        </p:txBody>
      </p:sp>
      <p:sp>
        <p:nvSpPr>
          <p:cNvPr id="45" name="TextBox 44"/>
          <p:cNvSpPr txBox="1"/>
          <p:nvPr/>
        </p:nvSpPr>
        <p:spPr>
          <a:xfrm>
            <a:off x="8083296" y="4206240"/>
            <a:ext cx="1517904" cy="274320"/>
          </a:xfrm>
          <a:prstGeom prst="rect">
            <a:avLst/>
          </a:prstGeom>
          <a:noFill/>
        </p:spPr>
        <p:txBody>
          <a:bodyPr wrap="square" lIns="0" rIns="0" tIns="0" bIns="0" anchor="t">
            <a:spAutoFit/>
          </a:bodyPr>
          <a:lstStyle/>
          <a:p>
            <a:pPr algn="r">
              <a:spcBef>
                <a:spcPts val="0"/>
              </a:spcBef>
              <a:spcAft>
                <a:spcPts val="0"/>
              </a:spcAft>
            </a:pPr>
            <a:r>
              <a:rPr sz="1350" b="1" i="0">
                <a:solidFill>
                  <a:srgbClr val="151A21"/>
                </a:solidFill>
                <a:latin typeface="Consolas"/>
              </a:rPr>
              <a:t>80</a:t>
            </a:r>
          </a:p>
        </p:txBody>
      </p:sp>
      <p:sp>
        <p:nvSpPr>
          <p:cNvPr id="46" name="TextBox 45"/>
          <p:cNvSpPr txBox="1"/>
          <p:nvPr/>
        </p:nvSpPr>
        <p:spPr>
          <a:xfrm>
            <a:off x="9820656" y="4206240"/>
            <a:ext cx="1609344" cy="274320"/>
          </a:xfrm>
          <a:prstGeom prst="rect">
            <a:avLst/>
          </a:prstGeom>
          <a:noFill/>
        </p:spPr>
        <p:txBody>
          <a:bodyPr wrap="square" lIns="0" rIns="0" tIns="0" bIns="0" anchor="t">
            <a:spAutoFit/>
          </a:bodyPr>
          <a:lstStyle/>
          <a:p>
            <a:pPr algn="r">
              <a:spcBef>
                <a:spcPts val="0"/>
              </a:spcBef>
              <a:spcAft>
                <a:spcPts val="0"/>
              </a:spcAft>
            </a:pPr>
            <a:r>
              <a:rPr sz="1350" b="1" i="0">
                <a:solidFill>
                  <a:srgbClr val="151A21"/>
                </a:solidFill>
                <a:latin typeface="Consolas"/>
              </a:rPr>
              <a:t>39</a:t>
            </a:r>
          </a:p>
        </p:txBody>
      </p:sp>
      <p:sp>
        <p:nvSpPr>
          <p:cNvPr id="47" name="Rectangle 46"/>
          <p:cNvSpPr/>
          <p:nvPr/>
        </p:nvSpPr>
        <p:spPr>
          <a:xfrm>
            <a:off x="658368" y="4507992"/>
            <a:ext cx="1088136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58368" y="4754880"/>
            <a:ext cx="10874959" cy="1188720"/>
          </a:xfrm>
          <a:prstGeom prst="rect">
            <a:avLst/>
          </a:prstGeom>
          <a:solidFill>
            <a:srgbClr val="F6E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58368" y="4754880"/>
            <a:ext cx="45720" cy="1188720"/>
          </a:xfrm>
          <a:prstGeom prst="rect">
            <a:avLst/>
          </a:prstGeom>
          <a:solidFill>
            <a:srgbClr val="A8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50976" y="4937760"/>
            <a:ext cx="10234879" cy="914400"/>
          </a:xfrm>
          <a:prstGeom prst="rect">
            <a:avLst/>
          </a:prstGeom>
          <a:noFill/>
        </p:spPr>
        <p:txBody>
          <a:bodyPr wrap="square" lIns="0" rIns="0" tIns="0" bIns="0" anchor="t">
            <a:spAutoFit/>
          </a:bodyPr>
          <a:lstStyle/>
          <a:p>
            <a:pPr>
              <a:spcBef>
                <a:spcPts val="0"/>
              </a:spcBef>
              <a:spcAft>
                <a:spcPts val="0"/>
              </a:spcAft>
            </a:pPr>
            <a:r>
              <a:rPr sz="1550" b="1" i="0">
                <a:solidFill>
                  <a:srgbClr val="A8452B"/>
                </a:solidFill>
                <a:latin typeface="Calibri"/>
              </a:rPr>
              <a:t>A benchmark data-quality problem worth raising on its own</a:t>
            </a:r>
          </a:p>
          <a:p>
            <a:pPr>
              <a:lnSpc>
                <a:spcPct val="126000"/>
              </a:lnSpc>
              <a:spcBef>
                <a:spcPts val="500"/>
              </a:spcBef>
              <a:spcAft>
                <a:spcPts val="0"/>
              </a:spcAft>
            </a:pPr>
            <a:r>
              <a:rPr sz="1400" b="0" i="0">
                <a:solidFill>
                  <a:srgbClr val="3D4653"/>
                </a:solidFill>
                <a:latin typeface="Calibri"/>
              </a:rPr>
              <a:t>Wildfly rows name each test as a commit hash followed by a method name, with no class at all. 24 were recovered by searching a checked-out tree for a unique @Test declaration, 11 matched several classes and were dropped as ambiguous, and 7 were not found.</a:t>
            </a:r>
          </a:p>
        </p:txBody>
      </p:sp>
      <p:sp>
        <p:nvSpPr>
          <p:cNvPr id="51" name="TextBox 50"/>
          <p:cNvSpPr txBox="1"/>
          <p:nvPr/>
        </p:nvSpPr>
        <p:spPr>
          <a:xfrm>
            <a:off x="10820095" y="6382512"/>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FOURTH EXTRACTION TARGET</a:t>
            </a:r>
          </a:p>
        </p:txBody>
      </p:sp>
      <p:sp>
        <p:nvSpPr>
          <p:cNvPr id="3" name="TextBox 2"/>
          <p:cNvSpPr txBox="1"/>
          <p:nvPr/>
        </p:nvSpPr>
        <p:spPr>
          <a:xfrm>
            <a:off x="658368" y="713232"/>
            <a:ext cx="10881360" cy="822960"/>
          </a:xfrm>
          <a:prstGeom prst="rect">
            <a:avLst/>
          </a:prstGeom>
          <a:noFill/>
        </p:spPr>
        <p:txBody>
          <a:bodyPr wrap="square" lIns="0" rIns="0" tIns="0" bIns="0" anchor="t">
            <a:spAutoFit/>
          </a:bodyPr>
          <a:lstStyle/>
          <a:p>
            <a:pPr>
              <a:lnSpc>
                <a:spcPct val="105000"/>
              </a:lnSpc>
              <a:spcBef>
                <a:spcPts val="0"/>
              </a:spcBef>
              <a:spcAft>
                <a:spcPts val="0"/>
              </a:spcAft>
            </a:pPr>
            <a:r>
              <a:rPr sz="3000" b="1" i="0">
                <a:solidFill>
                  <a:srgbClr val="151A21"/>
                </a:solidFill>
                <a:latin typeface="Calibri"/>
              </a:rPr>
              <a:t>Production callees at depth 1 do not help</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37360"/>
            <a:ext cx="10874959" cy="822960"/>
          </a:xfrm>
          <a:prstGeom prst="rect">
            <a:avLst/>
          </a:prstGeom>
          <a:noFill/>
        </p:spPr>
        <p:txBody>
          <a:bodyPr wrap="square" lIns="0" rIns="0" tIns="0" bIns="0" anchor="t">
            <a:spAutoFit/>
          </a:bodyPr>
          <a:lstStyle/>
          <a:p>
            <a:pPr>
              <a:lnSpc>
                <a:spcPct val="128000"/>
              </a:lnSpc>
              <a:spcBef>
                <a:spcPts val="0"/>
              </a:spcBef>
              <a:spcAft>
                <a:spcPts val="0"/>
              </a:spcAft>
            </a:pPr>
            <a:r>
              <a:rPr sz="1400" b="0" i="0">
                <a:solidFill>
                  <a:srgbClr val="6B7684"/>
                </a:solidFill>
                <a:latin typeface="Calibri"/>
              </a:rPr>
              <a:t>Calls resolved by receiver type against the project's own main tree. 78 of 80 tests resolve a callee, median 2.</a:t>
            </a:r>
          </a:p>
        </p:txBody>
      </p:sp>
      <p:sp>
        <p:nvSpPr>
          <p:cNvPr id="6" name="Rectangle 5"/>
          <p:cNvSpPr/>
          <p:nvPr/>
        </p:nvSpPr>
        <p:spPr>
          <a:xfrm>
            <a:off x="658368" y="2148840"/>
            <a:ext cx="9326880" cy="36576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2231136"/>
            <a:ext cx="4535424" cy="256032"/>
          </a:xfrm>
          <a:prstGeom prst="rect">
            <a:avLst/>
          </a:prstGeom>
          <a:noFill/>
        </p:spPr>
        <p:txBody>
          <a:bodyPr wrap="square" lIns="0" rIns="0" tIns="0" bIns="0" anchor="t">
            <a:spAutoFit/>
          </a:bodyPr>
          <a:lstStyle/>
          <a:p>
            <a:pPr algn="l">
              <a:spcBef>
                <a:spcPts val="0"/>
              </a:spcBef>
              <a:spcAft>
                <a:spcPts val="0"/>
              </a:spcAft>
            </a:pPr>
            <a:r>
              <a:rPr sz="1100" b="1" i="0">
                <a:solidFill>
                  <a:srgbClr val="6B7684"/>
                </a:solidFill>
                <a:latin typeface="Consolas"/>
              </a:rPr>
              <a:t>MEASURE</a:t>
            </a:r>
          </a:p>
        </p:txBody>
      </p:sp>
      <p:sp>
        <p:nvSpPr>
          <p:cNvPr id="8" name="TextBox 7"/>
          <p:cNvSpPr txBox="1"/>
          <p:nvPr/>
        </p:nvSpPr>
        <p:spPr>
          <a:xfrm>
            <a:off x="5522976" y="2231136"/>
            <a:ext cx="2340863"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FIELDS + FIXTURES</a:t>
            </a:r>
          </a:p>
        </p:txBody>
      </p:sp>
      <p:sp>
        <p:nvSpPr>
          <p:cNvPr id="9" name="TextBox 8"/>
          <p:cNvSpPr txBox="1"/>
          <p:nvPr/>
        </p:nvSpPr>
        <p:spPr>
          <a:xfrm>
            <a:off x="8083295" y="2231136"/>
            <a:ext cx="179222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 CALLEES</a:t>
            </a:r>
          </a:p>
        </p:txBody>
      </p:sp>
      <p:sp>
        <p:nvSpPr>
          <p:cNvPr id="10" name="TextBox 9"/>
          <p:cNvSpPr txBox="1"/>
          <p:nvPr/>
        </p:nvSpPr>
        <p:spPr>
          <a:xfrm>
            <a:off x="768096" y="2587752"/>
            <a:ext cx="453542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argmax accuracy</a:t>
            </a:r>
          </a:p>
        </p:txBody>
      </p:sp>
      <p:sp>
        <p:nvSpPr>
          <p:cNvPr id="11" name="TextBox 10"/>
          <p:cNvSpPr txBox="1"/>
          <p:nvPr/>
        </p:nvSpPr>
        <p:spPr>
          <a:xfrm>
            <a:off x="5522976" y="2587752"/>
            <a:ext cx="23408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55.0%</a:t>
            </a:r>
          </a:p>
        </p:txBody>
      </p:sp>
      <p:sp>
        <p:nvSpPr>
          <p:cNvPr id="12" name="TextBox 11"/>
          <p:cNvSpPr txBox="1"/>
          <p:nvPr/>
        </p:nvSpPr>
        <p:spPr>
          <a:xfrm>
            <a:off x="8083295" y="2587752"/>
            <a:ext cx="17922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51.2%</a:t>
            </a:r>
          </a:p>
        </p:txBody>
      </p:sp>
      <p:sp>
        <p:nvSpPr>
          <p:cNvPr id="13" name="Rectangle 12"/>
          <p:cNvSpPr/>
          <p:nvPr/>
        </p:nvSpPr>
        <p:spPr>
          <a:xfrm>
            <a:off x="658368" y="2889504"/>
            <a:ext cx="932688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971800"/>
            <a:ext cx="453542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trained macro-F1</a:t>
            </a:r>
          </a:p>
        </p:txBody>
      </p:sp>
      <p:sp>
        <p:nvSpPr>
          <p:cNvPr id="15" name="TextBox 14"/>
          <p:cNvSpPr txBox="1"/>
          <p:nvPr/>
        </p:nvSpPr>
        <p:spPr>
          <a:xfrm>
            <a:off x="5522976" y="2971800"/>
            <a:ext cx="23408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0.389</a:t>
            </a:r>
          </a:p>
        </p:txBody>
      </p:sp>
      <p:sp>
        <p:nvSpPr>
          <p:cNvPr id="16" name="TextBox 15"/>
          <p:cNvSpPr txBox="1"/>
          <p:nvPr/>
        </p:nvSpPr>
        <p:spPr>
          <a:xfrm>
            <a:off x="8083295" y="2971800"/>
            <a:ext cx="17922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0.384</a:t>
            </a:r>
          </a:p>
        </p:txBody>
      </p:sp>
      <p:sp>
        <p:nvSpPr>
          <p:cNvPr id="17" name="Rectangle 16"/>
          <p:cNvSpPr/>
          <p:nvPr/>
        </p:nvSpPr>
        <p:spPr>
          <a:xfrm>
            <a:off x="658368" y="3273552"/>
            <a:ext cx="932688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3355848"/>
            <a:ext cx="453542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binary order dependency, AUC</a:t>
            </a:r>
          </a:p>
        </p:txBody>
      </p:sp>
      <p:sp>
        <p:nvSpPr>
          <p:cNvPr id="19" name="TextBox 18"/>
          <p:cNvSpPr txBox="1"/>
          <p:nvPr/>
        </p:nvSpPr>
        <p:spPr>
          <a:xfrm>
            <a:off x="5522976" y="3355848"/>
            <a:ext cx="23408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0.697</a:t>
            </a:r>
          </a:p>
        </p:txBody>
      </p:sp>
      <p:sp>
        <p:nvSpPr>
          <p:cNvPr id="20" name="TextBox 19"/>
          <p:cNvSpPr txBox="1"/>
          <p:nvPr/>
        </p:nvSpPr>
        <p:spPr>
          <a:xfrm>
            <a:off x="8083295" y="3355848"/>
            <a:ext cx="17922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0.672</a:t>
            </a:r>
          </a:p>
        </p:txBody>
      </p:sp>
      <p:sp>
        <p:nvSpPr>
          <p:cNvPr id="21" name="Rectangle 20"/>
          <p:cNvSpPr/>
          <p:nvPr/>
        </p:nvSpPr>
        <p:spPr>
          <a:xfrm>
            <a:off x="658368" y="3657600"/>
            <a:ext cx="932688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739896"/>
            <a:ext cx="453542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order-dependency recall</a:t>
            </a:r>
          </a:p>
        </p:txBody>
      </p:sp>
      <p:sp>
        <p:nvSpPr>
          <p:cNvPr id="23" name="TextBox 22"/>
          <p:cNvSpPr txBox="1"/>
          <p:nvPr/>
        </p:nvSpPr>
        <p:spPr>
          <a:xfrm>
            <a:off x="5522976" y="3739896"/>
            <a:ext cx="23408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70%</a:t>
            </a:r>
          </a:p>
        </p:txBody>
      </p:sp>
      <p:sp>
        <p:nvSpPr>
          <p:cNvPr id="24" name="TextBox 23"/>
          <p:cNvSpPr txBox="1"/>
          <p:nvPr/>
        </p:nvSpPr>
        <p:spPr>
          <a:xfrm>
            <a:off x="8083295" y="3739896"/>
            <a:ext cx="17922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65%</a:t>
            </a:r>
          </a:p>
        </p:txBody>
      </p:sp>
      <p:sp>
        <p:nvSpPr>
          <p:cNvPr id="25" name="Rectangle 24"/>
          <p:cNvSpPr/>
          <p:nvPr/>
        </p:nvSpPr>
        <p:spPr>
          <a:xfrm>
            <a:off x="658368" y="4041648"/>
            <a:ext cx="932688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123944"/>
            <a:ext cx="4535424" cy="274320"/>
          </a:xfrm>
          <a:prstGeom prst="rect">
            <a:avLst/>
          </a:prstGeom>
          <a:noFill/>
        </p:spPr>
        <p:txBody>
          <a:bodyPr wrap="square" lIns="0" rIns="0" tIns="0" bIns="0" anchor="t">
            <a:spAutoFit/>
          </a:bodyPr>
          <a:lstStyle/>
          <a:p>
            <a:pPr algn="l">
              <a:spcBef>
                <a:spcPts val="0"/>
              </a:spcBef>
              <a:spcAft>
                <a:spcPts val="0"/>
              </a:spcAft>
            </a:pPr>
            <a:r>
              <a:rPr sz="1350" b="0" i="0">
                <a:solidFill>
                  <a:srgbClr val="3D4653"/>
                </a:solidFill>
                <a:latin typeface="Calibri"/>
              </a:rPr>
              <a:t>errors recovered of 39</a:t>
            </a:r>
          </a:p>
        </p:txBody>
      </p:sp>
      <p:sp>
        <p:nvSpPr>
          <p:cNvPr id="27" name="TextBox 26"/>
          <p:cNvSpPr txBox="1"/>
          <p:nvPr/>
        </p:nvSpPr>
        <p:spPr>
          <a:xfrm>
            <a:off x="5522976" y="4123944"/>
            <a:ext cx="2340863"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12</a:t>
            </a:r>
          </a:p>
        </p:txBody>
      </p:sp>
      <p:sp>
        <p:nvSpPr>
          <p:cNvPr id="28" name="TextBox 27"/>
          <p:cNvSpPr txBox="1"/>
          <p:nvPr/>
        </p:nvSpPr>
        <p:spPr>
          <a:xfrm>
            <a:off x="8083295" y="4123944"/>
            <a:ext cx="1792224"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onsolas"/>
              </a:rPr>
              <a:t>11</a:t>
            </a:r>
          </a:p>
        </p:txBody>
      </p:sp>
      <p:sp>
        <p:nvSpPr>
          <p:cNvPr id="29" name="Rectangle 28"/>
          <p:cNvSpPr/>
          <p:nvPr/>
        </p:nvSpPr>
        <p:spPr>
          <a:xfrm>
            <a:off x="658368" y="4425696"/>
            <a:ext cx="932688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351008" y="2148840"/>
            <a:ext cx="1737360" cy="2359152"/>
          </a:xfrm>
          <a:prstGeom prst="rect">
            <a:avLst/>
          </a:prstGeom>
          <a:solidFill>
            <a:srgbClr val="F6E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51008" y="2926080"/>
            <a:ext cx="1737360" cy="822960"/>
          </a:xfrm>
          <a:prstGeom prst="rect">
            <a:avLst/>
          </a:prstGeom>
          <a:noFill/>
        </p:spPr>
        <p:txBody>
          <a:bodyPr wrap="square" lIns="0" rIns="0" tIns="0" bIns="0" anchor="ctr">
            <a:spAutoFit/>
          </a:bodyPr>
          <a:lstStyle/>
          <a:p>
            <a:pPr algn="ctr">
              <a:lnSpc>
                <a:spcPct val="120000"/>
              </a:lnSpc>
              <a:spcBef>
                <a:spcPts val="0"/>
              </a:spcBef>
              <a:spcAft>
                <a:spcPts val="0"/>
              </a:spcAft>
            </a:pPr>
            <a:r>
              <a:rPr sz="1500" b="1" i="0">
                <a:solidFill>
                  <a:srgbClr val="A8452B"/>
                </a:solidFill>
                <a:latin typeface="Calibri"/>
              </a:rPr>
              <a:t>every</a:t>
            </a:r>
          </a:p>
          <a:p>
            <a:pPr algn="ctr">
              <a:lnSpc>
                <a:spcPct val="120000"/>
              </a:lnSpc>
              <a:spcBef>
                <a:spcPts val="0"/>
              </a:spcBef>
              <a:spcAft>
                <a:spcPts val="0"/>
              </a:spcAft>
            </a:pPr>
            <a:r>
              <a:rPr sz="1500" b="1" i="0">
                <a:solidFill>
                  <a:srgbClr val="A8452B"/>
                </a:solidFill>
                <a:latin typeface="Calibri"/>
              </a:rPr>
              <a:t>measure</a:t>
            </a:r>
          </a:p>
          <a:p>
            <a:pPr algn="ctr">
              <a:lnSpc>
                <a:spcPct val="120000"/>
              </a:lnSpc>
              <a:spcBef>
                <a:spcPts val="0"/>
              </a:spcBef>
              <a:spcAft>
                <a:spcPts val="0"/>
              </a:spcAft>
            </a:pPr>
            <a:r>
              <a:rPr sz="1500" b="1" i="0">
                <a:solidFill>
                  <a:srgbClr val="A8452B"/>
                </a:solidFill>
                <a:latin typeface="Calibri"/>
              </a:rPr>
              <a:t>worse</a:t>
            </a:r>
          </a:p>
        </p:txBody>
      </p:sp>
      <p:sp>
        <p:nvSpPr>
          <p:cNvPr id="32" name="Rectangle 31"/>
          <p:cNvSpPr/>
          <p:nvPr/>
        </p:nvSpPr>
        <p:spPr>
          <a:xfrm>
            <a:off x="658368" y="4645152"/>
            <a:ext cx="10874959" cy="731520"/>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4645152"/>
            <a:ext cx="45720" cy="731520"/>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0976" y="4791456"/>
            <a:ext cx="10234879" cy="594360"/>
          </a:xfrm>
          <a:prstGeom prst="rect">
            <a:avLst/>
          </a:prstGeom>
          <a:noFill/>
        </p:spPr>
        <p:txBody>
          <a:bodyPr wrap="square" lIns="0" rIns="0" tIns="0" bIns="0" anchor="t">
            <a:spAutoFit/>
          </a:bodyPr>
          <a:lstStyle/>
          <a:p>
            <a:pPr>
              <a:lnSpc>
                <a:spcPct val="126000"/>
              </a:lnSpc>
              <a:spcBef>
                <a:spcPts val="0"/>
              </a:spcBef>
              <a:spcAft>
                <a:spcPts val="0"/>
              </a:spcAft>
            </a:pPr>
            <a:r>
              <a:rPr sz="1500" b="1" i="0">
                <a:solidFill>
                  <a:srgbClr val="2F4858"/>
                </a:solidFill>
                <a:latin typeface="Calibri"/>
              </a:rPr>
              <a:t>But the signal is there: callees carry the true category for 33% of the misses against 5% of the hits, the second largest gap of any slice. Concurrency recall is the one category that improves, 10% to 20%.</a:t>
            </a:r>
          </a:p>
        </p:txBody>
      </p:sp>
      <p:sp>
        <p:nvSpPr>
          <p:cNvPr id="35" name="TextBox 34"/>
          <p:cNvSpPr txBox="1"/>
          <p:nvPr/>
        </p:nvSpPr>
        <p:spPr>
          <a:xfrm>
            <a:off x="658368" y="5504688"/>
            <a:ext cx="5394960" cy="274320"/>
          </a:xfrm>
          <a:prstGeom prst="rect">
            <a:avLst/>
          </a:prstGeom>
          <a:noFill/>
        </p:spPr>
        <p:txBody>
          <a:bodyPr wrap="square" lIns="0" rIns="0" tIns="0" bIns="0" anchor="t">
            <a:spAutoFit/>
          </a:bodyPr>
          <a:lstStyle/>
          <a:p>
            <a:pPr>
              <a:spcBef>
                <a:spcPts val="0"/>
              </a:spcBef>
              <a:spcAft>
                <a:spcPts val="0"/>
              </a:spcAft>
            </a:pPr>
            <a:r>
              <a:rPr sz="1400" b="1" i="0">
                <a:solidFill>
                  <a:srgbClr val="151A21"/>
                </a:solidFill>
                <a:latin typeface="Calibri"/>
              </a:rPr>
              <a:t>Why it fails as a bag</a:t>
            </a:r>
          </a:p>
        </p:txBody>
      </p:sp>
      <p:sp>
        <p:nvSpPr>
          <p:cNvPr id="36" name="TextBox 35"/>
          <p:cNvSpPr txBox="1"/>
          <p:nvPr/>
        </p:nvSpPr>
        <p:spPr>
          <a:xfrm>
            <a:off x="658368" y="5779008"/>
            <a:ext cx="5394960" cy="640080"/>
          </a:xfrm>
          <a:prstGeom prst="rect">
            <a:avLst/>
          </a:prstGeom>
          <a:noFill/>
        </p:spPr>
        <p:txBody>
          <a:bodyPr wrap="square" lIns="0" rIns="0" tIns="0" bIns="0" anchor="t">
            <a:spAutoFit/>
          </a:bodyPr>
          <a:lstStyle/>
          <a:p>
            <a:pPr>
              <a:lnSpc>
                <a:spcPct val="124000"/>
              </a:lnSpc>
              <a:spcBef>
                <a:spcPts val="0"/>
              </a:spcBef>
              <a:spcAft>
                <a:spcPts val="0"/>
              </a:spcAft>
            </a:pPr>
            <a:r>
              <a:rPr sz="1300" b="0" i="0">
                <a:solidFill>
                  <a:srgbClr val="3D4653"/>
                </a:solidFill>
                <a:latin typeface="Calibri"/>
              </a:rPr>
              <a:t>TestPeerCache at depth 1 resolves put, size and close: one synchronized keyword. The daemon and Thread.sleep sit at depth 2.</a:t>
            </a:r>
          </a:p>
        </p:txBody>
      </p:sp>
      <p:sp>
        <p:nvSpPr>
          <p:cNvPr id="37" name="TextBox 36"/>
          <p:cNvSpPr txBox="1"/>
          <p:nvPr/>
        </p:nvSpPr>
        <p:spPr>
          <a:xfrm>
            <a:off x="6556248" y="5504688"/>
            <a:ext cx="4572000" cy="274320"/>
          </a:xfrm>
          <a:prstGeom prst="rect">
            <a:avLst/>
          </a:prstGeom>
          <a:noFill/>
        </p:spPr>
        <p:txBody>
          <a:bodyPr wrap="square" lIns="0" rIns="0" tIns="0" bIns="0" anchor="t">
            <a:spAutoFit/>
          </a:bodyPr>
          <a:lstStyle/>
          <a:p>
            <a:pPr>
              <a:spcBef>
                <a:spcPts val="0"/>
              </a:spcBef>
              <a:spcAft>
                <a:spcPts val="0"/>
              </a:spcAft>
            </a:pPr>
            <a:r>
              <a:rPr sz="1400" b="1" i="0">
                <a:solidFill>
                  <a:srgbClr val="151A21"/>
                </a:solidFill>
                <a:latin typeface="Calibri"/>
              </a:rPr>
              <a:t>What to change</a:t>
            </a:r>
          </a:p>
        </p:txBody>
      </p:sp>
      <p:sp>
        <p:nvSpPr>
          <p:cNvPr id="38" name="TextBox 37"/>
          <p:cNvSpPr txBox="1"/>
          <p:nvPr/>
        </p:nvSpPr>
        <p:spPr>
          <a:xfrm>
            <a:off x="6556248" y="5779008"/>
            <a:ext cx="4572000" cy="640080"/>
          </a:xfrm>
          <a:prstGeom prst="rect">
            <a:avLst/>
          </a:prstGeom>
          <a:noFill/>
        </p:spPr>
        <p:txBody>
          <a:bodyPr wrap="square" lIns="0" rIns="0" tIns="0" bIns="0" anchor="t">
            <a:spAutoFit/>
          </a:bodyPr>
          <a:lstStyle/>
          <a:p>
            <a:pPr>
              <a:lnSpc>
                <a:spcPct val="124000"/>
              </a:lnSpc>
              <a:spcBef>
                <a:spcPts val="0"/>
              </a:spcBef>
              <a:spcAft>
                <a:spcPts val="0"/>
              </a:spcAft>
            </a:pPr>
            <a:r>
              <a:rPr sz="1300" b="0" i="0">
                <a:solidFill>
                  <a:srgbClr val="3D4653"/>
                </a:solidFill>
                <a:latin typeface="Calibri"/>
              </a:rPr>
              <a:t>Expand to depth 2, keep callees a separate feature group, and expect the gain in concurrency rather than order dependency.</a:t>
            </a:r>
          </a:p>
        </p:txBody>
      </p:sp>
      <p:sp>
        <p:nvSpPr>
          <p:cNvPr id="39" name="TextBox 38"/>
          <p:cNvSpPr txBox="1"/>
          <p:nvPr/>
        </p:nvSpPr>
        <p:spPr>
          <a:xfrm>
            <a:off x="10820095" y="6382512"/>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IMPLICATION</a:t>
            </a:r>
          </a:p>
        </p:txBody>
      </p:sp>
      <p:sp>
        <p:nvSpPr>
          <p:cNvPr id="3" name="TextBox 2"/>
          <p:cNvSpPr txBox="1"/>
          <p:nvPr/>
        </p:nvSpPr>
        <p:spPr>
          <a:xfrm>
            <a:off x="658368" y="713232"/>
            <a:ext cx="10881360" cy="822960"/>
          </a:xfrm>
          <a:prstGeom prst="rect">
            <a:avLst/>
          </a:prstGeom>
          <a:noFill/>
        </p:spPr>
        <p:txBody>
          <a:bodyPr wrap="square" lIns="0" rIns="0" tIns="0" bIns="0" anchor="t">
            <a:spAutoFit/>
          </a:bodyPr>
          <a:lstStyle/>
          <a:p>
            <a:pPr>
              <a:lnSpc>
                <a:spcPct val="105000"/>
              </a:lnSpc>
              <a:spcBef>
                <a:spcPts val="0"/>
              </a:spcBef>
              <a:spcAft>
                <a:spcPts val="0"/>
              </a:spcAft>
            </a:pPr>
            <a:r>
              <a:rPr sz="3000" b="1" i="0">
                <a:solidFill>
                  <a:srgbClr val="151A21"/>
                </a:solidFill>
                <a:latin typeface="Calibri"/>
              </a:rPr>
              <a:t>What this changes about the extraction plan</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37360"/>
            <a:ext cx="10874959" cy="822960"/>
          </a:xfrm>
          <a:prstGeom prst="rect">
            <a:avLst/>
          </a:prstGeom>
          <a:noFill/>
        </p:spPr>
        <p:txBody>
          <a:bodyPr wrap="square" lIns="0" rIns="0" tIns="0" bIns="0" anchor="t">
            <a:spAutoFit/>
          </a:bodyPr>
          <a:lstStyle/>
          <a:p>
            <a:pPr>
              <a:lnSpc>
                <a:spcPct val="128000"/>
              </a:lnSpc>
              <a:spcBef>
                <a:spcPts val="0"/>
              </a:spcBef>
              <a:spcAft>
                <a:spcPts val="0"/>
              </a:spcAft>
            </a:pPr>
            <a:r>
              <a:rPr sz="1400" b="0" i="0">
                <a:solidFill>
                  <a:srgbClr val="6B7684"/>
                </a:solidFill>
                <a:latin typeface="Calibri"/>
              </a:rPr>
              <a:t>Investigation 1 ranked extraction targets by how many misses they reach. This adds what each is worth, and one correction.</a:t>
            </a:r>
          </a:p>
        </p:txBody>
      </p:sp>
      <p:sp>
        <p:nvSpPr>
          <p:cNvPr id="6" name="TextBox 5"/>
          <p:cNvSpPr txBox="1"/>
          <p:nvPr/>
        </p:nvSpPr>
        <p:spPr>
          <a:xfrm>
            <a:off x="658368" y="2167128"/>
            <a:ext cx="365760" cy="320040"/>
          </a:xfrm>
          <a:prstGeom prst="rect">
            <a:avLst/>
          </a:prstGeom>
          <a:noFill/>
        </p:spPr>
        <p:txBody>
          <a:bodyPr wrap="square" lIns="0" rIns="0" tIns="0" bIns="0" anchor="t">
            <a:spAutoFit/>
          </a:bodyPr>
          <a:lstStyle/>
          <a:p>
            <a:pPr>
              <a:spcBef>
                <a:spcPts val="0"/>
              </a:spcBef>
              <a:spcAft>
                <a:spcPts val="0"/>
              </a:spcAft>
            </a:pPr>
            <a:r>
              <a:rPr sz="1500" b="0" i="0">
                <a:solidFill>
                  <a:srgbClr val="6B7684"/>
                </a:solidFill>
                <a:latin typeface="Consolas"/>
              </a:rPr>
              <a:t>1</a:t>
            </a:r>
          </a:p>
        </p:txBody>
      </p:sp>
      <p:sp>
        <p:nvSpPr>
          <p:cNvPr id="7" name="TextBox 6"/>
          <p:cNvSpPr txBox="1"/>
          <p:nvPr/>
        </p:nvSpPr>
        <p:spPr>
          <a:xfrm>
            <a:off x="1069848" y="2148840"/>
            <a:ext cx="7589520" cy="320040"/>
          </a:xfrm>
          <a:prstGeom prst="rect">
            <a:avLst/>
          </a:prstGeom>
          <a:noFill/>
        </p:spPr>
        <p:txBody>
          <a:bodyPr wrap="square" lIns="0" rIns="0" tIns="0" bIns="0" anchor="t">
            <a:spAutoFit/>
          </a:bodyPr>
          <a:lstStyle/>
          <a:p>
            <a:pPr>
              <a:spcBef>
                <a:spcPts val="0"/>
              </a:spcBef>
              <a:spcAft>
                <a:spcPts val="0"/>
              </a:spcAft>
            </a:pPr>
            <a:r>
              <a:rPr sz="1750" b="1" i="0">
                <a:solidFill>
                  <a:srgbClr val="151A21"/>
                </a:solidFill>
                <a:latin typeface="Calibri"/>
              </a:rPr>
              <a:t>Static fields and fixtures pay first and pay most</a:t>
            </a:r>
          </a:p>
        </p:txBody>
      </p:sp>
      <p:sp>
        <p:nvSpPr>
          <p:cNvPr id="8" name="Rectangle 7"/>
          <p:cNvSpPr/>
          <p:nvPr/>
        </p:nvSpPr>
        <p:spPr>
          <a:xfrm>
            <a:off x="10682935" y="2167128"/>
            <a:ext cx="850392" cy="274320"/>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82935" y="2185416"/>
            <a:ext cx="850392" cy="256032"/>
          </a:xfrm>
          <a:prstGeom prst="rect">
            <a:avLst/>
          </a:prstGeom>
          <a:noFill/>
        </p:spPr>
        <p:txBody>
          <a:bodyPr wrap="square" lIns="0" rIns="0" tIns="0" bIns="0" anchor="ctr">
            <a:spAutoFit/>
          </a:bodyPr>
          <a:lstStyle/>
          <a:p>
            <a:pPr algn="ctr">
              <a:spcBef>
                <a:spcPts val="0"/>
              </a:spcBef>
              <a:spcAft>
                <a:spcPts val="0"/>
              </a:spcAft>
            </a:pPr>
            <a:r>
              <a:rPr sz="1200" b="1" i="0">
                <a:solidFill>
                  <a:srgbClr val="2F4858"/>
                </a:solidFill>
                <a:latin typeface="Consolas"/>
              </a:rPr>
              <a:t>+0.138</a:t>
            </a:r>
          </a:p>
        </p:txBody>
      </p:sp>
      <p:sp>
        <p:nvSpPr>
          <p:cNvPr id="10" name="TextBox 9"/>
          <p:cNvSpPr txBox="1"/>
          <p:nvPr/>
        </p:nvSpPr>
        <p:spPr>
          <a:xfrm>
            <a:off x="1069848" y="2532888"/>
            <a:ext cx="10058400" cy="731520"/>
          </a:xfrm>
          <a:prstGeom prst="rect">
            <a:avLst/>
          </a:prstGeom>
          <a:noFill/>
        </p:spPr>
        <p:txBody>
          <a:bodyPr wrap="square" lIns="0" rIns="0" tIns="0" bIns="0" anchor="t">
            <a:spAutoFit/>
          </a:bodyPr>
          <a:lstStyle/>
          <a:p>
            <a:pPr>
              <a:lnSpc>
                <a:spcPct val="126000"/>
              </a:lnSpc>
              <a:spcBef>
                <a:spcPts val="0"/>
              </a:spcBef>
              <a:spcAft>
                <a:spcPts val="0"/>
              </a:spcAft>
            </a:pPr>
            <a:r>
              <a:rPr sz="1400" b="0" i="0">
                <a:solidFill>
                  <a:srgbClr val="3D4653"/>
                </a:solidFill>
                <a:latin typeface="Calibri"/>
              </a:rPr>
              <a:t>They deliver the entire measured gain on their own, and they are the cheapest thing in the plan to extract. No symbol resolution, no call graph, no build.</a:t>
            </a:r>
          </a:p>
        </p:txBody>
      </p:sp>
      <p:sp>
        <p:nvSpPr>
          <p:cNvPr id="11" name="Rectangle 10"/>
          <p:cNvSpPr/>
          <p:nvPr/>
        </p:nvSpPr>
        <p:spPr>
          <a:xfrm>
            <a:off x="658368" y="322783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465576"/>
            <a:ext cx="365760" cy="320040"/>
          </a:xfrm>
          <a:prstGeom prst="rect">
            <a:avLst/>
          </a:prstGeom>
          <a:noFill/>
        </p:spPr>
        <p:txBody>
          <a:bodyPr wrap="square" lIns="0" rIns="0" tIns="0" bIns="0" anchor="t">
            <a:spAutoFit/>
          </a:bodyPr>
          <a:lstStyle/>
          <a:p>
            <a:pPr>
              <a:spcBef>
                <a:spcPts val="0"/>
              </a:spcBef>
              <a:spcAft>
                <a:spcPts val="0"/>
              </a:spcAft>
            </a:pPr>
            <a:r>
              <a:rPr sz="1500" b="0" i="0">
                <a:solidFill>
                  <a:srgbClr val="6B7684"/>
                </a:solidFill>
                <a:latin typeface="Consolas"/>
              </a:rPr>
              <a:t>2</a:t>
            </a:r>
          </a:p>
        </p:txBody>
      </p:sp>
      <p:sp>
        <p:nvSpPr>
          <p:cNvPr id="13" name="TextBox 12"/>
          <p:cNvSpPr txBox="1"/>
          <p:nvPr/>
        </p:nvSpPr>
        <p:spPr>
          <a:xfrm>
            <a:off x="1069848" y="3447288"/>
            <a:ext cx="7589520" cy="320040"/>
          </a:xfrm>
          <a:prstGeom prst="rect">
            <a:avLst/>
          </a:prstGeom>
          <a:noFill/>
        </p:spPr>
        <p:txBody>
          <a:bodyPr wrap="square" lIns="0" rIns="0" tIns="0" bIns="0" anchor="t">
            <a:spAutoFit/>
          </a:bodyPr>
          <a:lstStyle/>
          <a:p>
            <a:pPr>
              <a:spcBef>
                <a:spcPts val="0"/>
              </a:spcBef>
              <a:spcAft>
                <a:spcPts val="0"/>
              </a:spcAft>
            </a:pPr>
            <a:r>
              <a:rPr sz="1750" b="1" i="0">
                <a:solidFill>
                  <a:srgbClr val="151A21"/>
                </a:solidFill>
                <a:latin typeface="Calibri"/>
              </a:rPr>
              <a:t>Keep the slices as separate feature groups</a:t>
            </a:r>
          </a:p>
        </p:txBody>
      </p:sp>
      <p:sp>
        <p:nvSpPr>
          <p:cNvPr id="14" name="Rectangle 13"/>
          <p:cNvSpPr/>
          <p:nvPr/>
        </p:nvSpPr>
        <p:spPr>
          <a:xfrm>
            <a:off x="10298887" y="3465576"/>
            <a:ext cx="1234440" cy="274320"/>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98887" y="3483864"/>
            <a:ext cx="1234440" cy="256032"/>
          </a:xfrm>
          <a:prstGeom prst="rect">
            <a:avLst/>
          </a:prstGeom>
          <a:noFill/>
        </p:spPr>
        <p:txBody>
          <a:bodyPr wrap="square" lIns="0" rIns="0" tIns="0" bIns="0" anchor="ctr">
            <a:spAutoFit/>
          </a:bodyPr>
          <a:lstStyle/>
          <a:p>
            <a:pPr algn="ctr">
              <a:spcBef>
                <a:spcPts val="0"/>
              </a:spcBef>
              <a:spcAft>
                <a:spcPts val="0"/>
              </a:spcAft>
            </a:pPr>
            <a:r>
              <a:rPr sz="1200" b="1" i="0">
                <a:solidFill>
                  <a:srgbClr val="2F4858"/>
                </a:solidFill>
                <a:latin typeface="Consolas"/>
              </a:rPr>
              <a:t>correction</a:t>
            </a:r>
          </a:p>
        </p:txBody>
      </p:sp>
      <p:sp>
        <p:nvSpPr>
          <p:cNvPr id="16" name="TextBox 15"/>
          <p:cNvSpPr txBox="1"/>
          <p:nvPr/>
        </p:nvSpPr>
        <p:spPr>
          <a:xfrm>
            <a:off x="1069848" y="3831336"/>
            <a:ext cx="10058400" cy="731520"/>
          </a:xfrm>
          <a:prstGeom prst="rect">
            <a:avLst/>
          </a:prstGeom>
          <a:noFill/>
        </p:spPr>
        <p:txBody>
          <a:bodyPr wrap="square" lIns="0" rIns="0" tIns="0" bIns="0" anchor="t">
            <a:spAutoFit/>
          </a:bodyPr>
          <a:lstStyle/>
          <a:p>
            <a:pPr>
              <a:lnSpc>
                <a:spcPct val="126000"/>
              </a:lnSpc>
              <a:spcBef>
                <a:spcPts val="0"/>
              </a:spcBef>
              <a:spcAft>
                <a:spcPts val="0"/>
              </a:spcAft>
            </a:pPr>
            <a:r>
              <a:rPr sz="1400" b="0" i="0">
                <a:solidFill>
                  <a:srgbClr val="3D4653"/>
                </a:solidFill>
                <a:latin typeface="Calibri"/>
              </a:rPr>
              <a:t>Concatenating everything into one token stream costs accuracy on async wait and concurrency. The ordering from investigation 1 stands; the packaging is what changes.</a:t>
            </a:r>
          </a:p>
        </p:txBody>
      </p:sp>
      <p:sp>
        <p:nvSpPr>
          <p:cNvPr id="17" name="Rectangle 16"/>
          <p:cNvSpPr/>
          <p:nvPr/>
        </p:nvSpPr>
        <p:spPr>
          <a:xfrm>
            <a:off x="658368" y="4526279"/>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4764023"/>
            <a:ext cx="365760" cy="320040"/>
          </a:xfrm>
          <a:prstGeom prst="rect">
            <a:avLst/>
          </a:prstGeom>
          <a:noFill/>
        </p:spPr>
        <p:txBody>
          <a:bodyPr wrap="square" lIns="0" rIns="0" tIns="0" bIns="0" anchor="t">
            <a:spAutoFit/>
          </a:bodyPr>
          <a:lstStyle/>
          <a:p>
            <a:pPr>
              <a:spcBef>
                <a:spcPts val="0"/>
              </a:spcBef>
              <a:spcAft>
                <a:spcPts val="0"/>
              </a:spcAft>
            </a:pPr>
            <a:r>
              <a:rPr sz="1500" b="0" i="0">
                <a:solidFill>
                  <a:srgbClr val="6B7684"/>
                </a:solidFill>
                <a:latin typeface="Consolas"/>
              </a:rPr>
              <a:t>3</a:t>
            </a:r>
          </a:p>
        </p:txBody>
      </p:sp>
      <p:sp>
        <p:nvSpPr>
          <p:cNvPr id="19" name="TextBox 18"/>
          <p:cNvSpPr txBox="1"/>
          <p:nvPr/>
        </p:nvSpPr>
        <p:spPr>
          <a:xfrm>
            <a:off x="1069848" y="4745736"/>
            <a:ext cx="7589520" cy="320040"/>
          </a:xfrm>
          <a:prstGeom prst="rect">
            <a:avLst/>
          </a:prstGeom>
          <a:noFill/>
        </p:spPr>
        <p:txBody>
          <a:bodyPr wrap="square" lIns="0" rIns="0" tIns="0" bIns="0" anchor="t">
            <a:spAutoFit/>
          </a:bodyPr>
          <a:lstStyle/>
          <a:p>
            <a:pPr>
              <a:spcBef>
                <a:spcPts val="0"/>
              </a:spcBef>
              <a:spcAft>
                <a:spcPts val="0"/>
              </a:spcAft>
            </a:pPr>
            <a:r>
              <a:rPr sz="1750" b="1" i="0">
                <a:solidFill>
                  <a:srgbClr val="151A21"/>
                </a:solidFill>
                <a:latin typeface="Calibri"/>
              </a:rPr>
              <a:t>Sibling tests need a targeted feature, not their text</a:t>
            </a:r>
          </a:p>
        </p:txBody>
      </p:sp>
      <p:sp>
        <p:nvSpPr>
          <p:cNvPr id="20" name="Rectangle 19"/>
          <p:cNvSpPr/>
          <p:nvPr/>
        </p:nvSpPr>
        <p:spPr>
          <a:xfrm>
            <a:off x="10202875" y="4764023"/>
            <a:ext cx="1330452" cy="274320"/>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02875" y="4782312"/>
            <a:ext cx="1330452" cy="256032"/>
          </a:xfrm>
          <a:prstGeom prst="rect">
            <a:avLst/>
          </a:prstGeom>
          <a:noFill/>
        </p:spPr>
        <p:txBody>
          <a:bodyPr wrap="square" lIns="0" rIns="0" tIns="0" bIns="0" anchor="ctr">
            <a:spAutoFit/>
          </a:bodyPr>
          <a:lstStyle/>
          <a:p>
            <a:pPr algn="ctr">
              <a:spcBef>
                <a:spcPts val="0"/>
              </a:spcBef>
              <a:spcAft>
                <a:spcPts val="0"/>
              </a:spcAft>
            </a:pPr>
            <a:r>
              <a:rPr sz="1200" b="1" i="0">
                <a:solidFill>
                  <a:srgbClr val="2F4858"/>
                </a:solidFill>
                <a:latin typeface="Consolas"/>
              </a:rPr>
              <a:t>0.66 → 0.81</a:t>
            </a:r>
          </a:p>
        </p:txBody>
      </p:sp>
      <p:sp>
        <p:nvSpPr>
          <p:cNvPr id="22" name="TextBox 21"/>
          <p:cNvSpPr txBox="1"/>
          <p:nvPr/>
        </p:nvSpPr>
        <p:spPr>
          <a:xfrm>
            <a:off x="1069848" y="5129783"/>
            <a:ext cx="10058400" cy="731520"/>
          </a:xfrm>
          <a:prstGeom prst="rect">
            <a:avLst/>
          </a:prstGeom>
          <a:noFill/>
        </p:spPr>
        <p:txBody>
          <a:bodyPr wrap="square" lIns="0" rIns="0" tIns="0" bIns="0" anchor="t">
            <a:spAutoFit/>
          </a:bodyPr>
          <a:lstStyle/>
          <a:p>
            <a:pPr>
              <a:lnSpc>
                <a:spcPct val="126000"/>
              </a:lnSpc>
              <a:spcBef>
                <a:spcPts val="0"/>
              </a:spcBef>
              <a:spcAft>
                <a:spcPts val="0"/>
              </a:spcAft>
            </a:pPr>
            <a:r>
              <a:rPr sz="1400" b="0" i="0">
                <a:solidFill>
                  <a:srgbClr val="3D4653"/>
                </a:solidFill>
                <a:latin typeface="Calibri"/>
              </a:rPr>
              <a:t>They lift the binary order-dependency AUC from 0.66 to 0.81 but dilute the five-way task. The feature that matters is which siblings write the static fields this test reads.</a:t>
            </a:r>
          </a:p>
        </p:txBody>
      </p:sp>
      <p:sp>
        <p:nvSpPr>
          <p:cNvPr id="23" name="TextBox 22"/>
          <p:cNvSpPr txBox="1"/>
          <p:nvPr/>
        </p:nvSpPr>
        <p:spPr>
          <a:xfrm>
            <a:off x="10820095" y="6382512"/>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STATISTICS AND TOOLING</a:t>
            </a:r>
          </a:p>
        </p:txBody>
      </p:sp>
      <p:sp>
        <p:nvSpPr>
          <p:cNvPr id="3" name="TextBox 2"/>
          <p:cNvSpPr txBox="1"/>
          <p:nvPr/>
        </p:nvSpPr>
        <p:spPr>
          <a:xfrm>
            <a:off x="658368" y="713232"/>
            <a:ext cx="10881360" cy="822960"/>
          </a:xfrm>
          <a:prstGeom prst="rect">
            <a:avLst/>
          </a:prstGeom>
          <a:noFill/>
        </p:spPr>
        <p:txBody>
          <a:bodyPr wrap="square" lIns="0" rIns="0" tIns="0" bIns="0" anchor="t">
            <a:spAutoFit/>
          </a:bodyPr>
          <a:lstStyle/>
          <a:p>
            <a:pPr>
              <a:lnSpc>
                <a:spcPct val="105000"/>
              </a:lnSpc>
              <a:spcBef>
                <a:spcPts val="0"/>
              </a:spcBef>
              <a:spcAft>
                <a:spcPts val="0"/>
              </a:spcAft>
            </a:pPr>
            <a:r>
              <a:rPr sz="3000" b="1" i="0">
                <a:solidFill>
                  <a:srgbClr val="151A21"/>
                </a:solidFill>
                <a:latin typeface="Calibri"/>
              </a:rPr>
              <a:t>Why the library choice changed the numbers</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37360"/>
            <a:ext cx="10874959" cy="822960"/>
          </a:xfrm>
          <a:prstGeom prst="rect">
            <a:avLst/>
          </a:prstGeom>
          <a:noFill/>
        </p:spPr>
        <p:txBody>
          <a:bodyPr wrap="square" lIns="0" rIns="0" tIns="0" bIns="0" anchor="t">
            <a:spAutoFit/>
          </a:bodyPr>
          <a:lstStyle/>
          <a:p>
            <a:pPr>
              <a:lnSpc>
                <a:spcPct val="128000"/>
              </a:lnSpc>
              <a:spcBef>
                <a:spcPts val="0"/>
              </a:spcBef>
              <a:spcAft>
                <a:spcPts val="0"/>
              </a:spcAft>
            </a:pPr>
            <a:r>
              <a:rPr sz="1400" b="0" i="0">
                <a:solidFill>
                  <a:srgbClr val="6B7684"/>
                </a:solidFill>
                <a:latin typeface="Calibri"/>
              </a:rPr>
              <a:t>scikit-learn 1.9.0 and scipy 1.18.1, both pinned in the project requirements. A numpy implementation is kept only as a cross-check.</a:t>
            </a:r>
          </a:p>
        </p:txBody>
      </p:sp>
      <p:sp>
        <p:nvSpPr>
          <p:cNvPr id="6" name="TextBox 5"/>
          <p:cNvSpPr txBox="1"/>
          <p:nvPr/>
        </p:nvSpPr>
        <p:spPr>
          <a:xfrm>
            <a:off x="658368" y="2148840"/>
            <a:ext cx="5394960" cy="274320"/>
          </a:xfrm>
          <a:prstGeom prst="rect">
            <a:avLst/>
          </a:prstGeom>
          <a:noFill/>
        </p:spPr>
        <p:txBody>
          <a:bodyPr wrap="square" lIns="0" rIns="0" tIns="0" bIns="0" anchor="t">
            <a:spAutoFit/>
          </a:bodyPr>
          <a:lstStyle/>
          <a:p>
            <a:pPr>
              <a:spcBef>
                <a:spcPts val="0"/>
              </a:spcBef>
              <a:spcAft>
                <a:spcPts val="0"/>
              </a:spcAft>
            </a:pPr>
            <a:r>
              <a:rPr sz="1400" b="1" i="0">
                <a:solidFill>
                  <a:srgbClr val="151A21"/>
                </a:solidFill>
                <a:latin typeface="Calibri"/>
              </a:rPr>
              <a:t>Same data, same splits, two implementations</a:t>
            </a:r>
          </a:p>
        </p:txBody>
      </p:sp>
      <p:sp>
        <p:nvSpPr>
          <p:cNvPr id="7" name="Rectangle 6"/>
          <p:cNvSpPr/>
          <p:nvPr/>
        </p:nvSpPr>
        <p:spPr>
          <a:xfrm>
            <a:off x="658368" y="2468880"/>
            <a:ext cx="5486400" cy="36576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551176"/>
            <a:ext cx="2523744" cy="256032"/>
          </a:xfrm>
          <a:prstGeom prst="rect">
            <a:avLst/>
          </a:prstGeom>
          <a:noFill/>
        </p:spPr>
        <p:txBody>
          <a:bodyPr wrap="square" lIns="0" rIns="0" tIns="0" bIns="0" anchor="t">
            <a:spAutoFit/>
          </a:bodyPr>
          <a:lstStyle/>
          <a:p>
            <a:pPr algn="l">
              <a:spcBef>
                <a:spcPts val="0"/>
              </a:spcBef>
              <a:spcAft>
                <a:spcPts val="0"/>
              </a:spcAft>
            </a:pPr>
            <a:r>
              <a:rPr sz="1100" b="1" i="0">
                <a:solidFill>
                  <a:srgbClr val="6B7684"/>
                </a:solidFill>
                <a:latin typeface="Consolas"/>
              </a:rPr>
              <a:t>CONFIGURATION</a:t>
            </a:r>
          </a:p>
        </p:txBody>
      </p:sp>
      <p:sp>
        <p:nvSpPr>
          <p:cNvPr id="9" name="TextBox 8"/>
          <p:cNvSpPr txBox="1"/>
          <p:nvPr/>
        </p:nvSpPr>
        <p:spPr>
          <a:xfrm>
            <a:off x="3511296" y="2551176"/>
            <a:ext cx="69494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NUMPY</a:t>
            </a:r>
          </a:p>
        </p:txBody>
      </p:sp>
      <p:sp>
        <p:nvSpPr>
          <p:cNvPr id="10" name="TextBox 9"/>
          <p:cNvSpPr txBox="1"/>
          <p:nvPr/>
        </p:nvSpPr>
        <p:spPr>
          <a:xfrm>
            <a:off x="4425696" y="2551176"/>
            <a:ext cx="78638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SKLEARN</a:t>
            </a:r>
          </a:p>
        </p:txBody>
      </p:sp>
      <p:sp>
        <p:nvSpPr>
          <p:cNvPr id="11" name="TextBox 10"/>
          <p:cNvSpPr txBox="1"/>
          <p:nvPr/>
        </p:nvSpPr>
        <p:spPr>
          <a:xfrm>
            <a:off x="5431536" y="2551176"/>
            <a:ext cx="60350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DIFF</a:t>
            </a:r>
          </a:p>
        </p:txBody>
      </p:sp>
      <p:sp>
        <p:nvSpPr>
          <p:cNvPr id="12" name="TextBox 11"/>
          <p:cNvSpPr txBox="1"/>
          <p:nvPr/>
        </p:nvSpPr>
        <p:spPr>
          <a:xfrm>
            <a:off x="768096" y="2907792"/>
            <a:ext cx="2523744" cy="274320"/>
          </a:xfrm>
          <a:prstGeom prst="rect">
            <a:avLst/>
          </a:prstGeom>
          <a:noFill/>
        </p:spPr>
        <p:txBody>
          <a:bodyPr wrap="square" lIns="0" rIns="0" tIns="0" bIns="0" anchor="t">
            <a:spAutoFit/>
          </a:bodyPr>
          <a:lstStyle/>
          <a:p>
            <a:pPr algn="l">
              <a:spcBef>
                <a:spcPts val="0"/>
              </a:spcBef>
              <a:spcAft>
                <a:spcPts val="0"/>
              </a:spcAft>
            </a:pPr>
            <a:r>
              <a:rPr sz="1300" b="0" i="0">
                <a:solidFill>
                  <a:srgbClr val="3D4653"/>
                </a:solidFill>
                <a:latin typeface="Calibri"/>
              </a:rPr>
              <a:t>body only</a:t>
            </a:r>
          </a:p>
        </p:txBody>
      </p:sp>
      <p:sp>
        <p:nvSpPr>
          <p:cNvPr id="13" name="TextBox 12"/>
          <p:cNvSpPr txBox="1"/>
          <p:nvPr/>
        </p:nvSpPr>
        <p:spPr>
          <a:xfrm>
            <a:off x="3511296" y="2907792"/>
            <a:ext cx="69494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0.244</a:t>
            </a:r>
          </a:p>
        </p:txBody>
      </p:sp>
      <p:sp>
        <p:nvSpPr>
          <p:cNvPr id="14" name="TextBox 13"/>
          <p:cNvSpPr txBox="1"/>
          <p:nvPr/>
        </p:nvSpPr>
        <p:spPr>
          <a:xfrm>
            <a:off x="4425696" y="2907792"/>
            <a:ext cx="78638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0.261</a:t>
            </a:r>
          </a:p>
        </p:txBody>
      </p:sp>
      <p:sp>
        <p:nvSpPr>
          <p:cNvPr id="15" name="TextBox 14"/>
          <p:cNvSpPr txBox="1"/>
          <p:nvPr/>
        </p:nvSpPr>
        <p:spPr>
          <a:xfrm>
            <a:off x="5431536" y="2907792"/>
            <a:ext cx="60350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+0.017</a:t>
            </a:r>
          </a:p>
        </p:txBody>
      </p:sp>
      <p:sp>
        <p:nvSpPr>
          <p:cNvPr id="16" name="Rectangle 15"/>
          <p:cNvSpPr/>
          <p:nvPr/>
        </p:nvSpPr>
        <p:spPr>
          <a:xfrm>
            <a:off x="658368" y="3209544"/>
            <a:ext cx="548640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291840"/>
            <a:ext cx="2523744" cy="274320"/>
          </a:xfrm>
          <a:prstGeom prst="rect">
            <a:avLst/>
          </a:prstGeom>
          <a:noFill/>
        </p:spPr>
        <p:txBody>
          <a:bodyPr wrap="square" lIns="0" rIns="0" tIns="0" bIns="0" anchor="t">
            <a:spAutoFit/>
          </a:bodyPr>
          <a:lstStyle/>
          <a:p>
            <a:pPr algn="l">
              <a:spcBef>
                <a:spcPts val="0"/>
              </a:spcBef>
              <a:spcAft>
                <a:spcPts val="0"/>
              </a:spcAft>
            </a:pPr>
            <a:r>
              <a:rPr sz="1300" b="0" i="0">
                <a:solidFill>
                  <a:srgbClr val="3D4653"/>
                </a:solidFill>
                <a:latin typeface="Calibri"/>
              </a:rPr>
              <a:t>+ fields + fixtures</a:t>
            </a:r>
          </a:p>
        </p:txBody>
      </p:sp>
      <p:sp>
        <p:nvSpPr>
          <p:cNvPr id="18" name="TextBox 17"/>
          <p:cNvSpPr txBox="1"/>
          <p:nvPr/>
        </p:nvSpPr>
        <p:spPr>
          <a:xfrm>
            <a:off x="3511296" y="3291840"/>
            <a:ext cx="69494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0.392</a:t>
            </a:r>
          </a:p>
        </p:txBody>
      </p:sp>
      <p:sp>
        <p:nvSpPr>
          <p:cNvPr id="19" name="TextBox 18"/>
          <p:cNvSpPr txBox="1"/>
          <p:nvPr/>
        </p:nvSpPr>
        <p:spPr>
          <a:xfrm>
            <a:off x="4425696" y="3291840"/>
            <a:ext cx="78638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0.351</a:t>
            </a:r>
          </a:p>
        </p:txBody>
      </p:sp>
      <p:sp>
        <p:nvSpPr>
          <p:cNvPr id="20" name="TextBox 19"/>
          <p:cNvSpPr txBox="1"/>
          <p:nvPr/>
        </p:nvSpPr>
        <p:spPr>
          <a:xfrm>
            <a:off x="5431536" y="3291840"/>
            <a:ext cx="60350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-0.041</a:t>
            </a:r>
          </a:p>
        </p:txBody>
      </p:sp>
      <p:sp>
        <p:nvSpPr>
          <p:cNvPr id="21" name="Rectangle 20"/>
          <p:cNvSpPr/>
          <p:nvPr/>
        </p:nvSpPr>
        <p:spPr>
          <a:xfrm>
            <a:off x="658368" y="3593592"/>
            <a:ext cx="548640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3675888"/>
            <a:ext cx="2523744" cy="274320"/>
          </a:xfrm>
          <a:prstGeom prst="rect">
            <a:avLst/>
          </a:prstGeom>
          <a:noFill/>
        </p:spPr>
        <p:txBody>
          <a:bodyPr wrap="square" lIns="0" rIns="0" tIns="0" bIns="0" anchor="t">
            <a:spAutoFit/>
          </a:bodyPr>
          <a:lstStyle/>
          <a:p>
            <a:pPr algn="l">
              <a:spcBef>
                <a:spcPts val="0"/>
              </a:spcBef>
              <a:spcAft>
                <a:spcPts val="0"/>
              </a:spcAft>
            </a:pPr>
            <a:r>
              <a:rPr sz="1300" b="0" i="0">
                <a:solidFill>
                  <a:srgbClr val="3D4653"/>
                </a:solidFill>
                <a:latin typeface="Calibri"/>
              </a:rPr>
              <a:t>+ full context</a:t>
            </a:r>
          </a:p>
        </p:txBody>
      </p:sp>
      <p:sp>
        <p:nvSpPr>
          <p:cNvPr id="23" name="TextBox 22"/>
          <p:cNvSpPr txBox="1"/>
          <p:nvPr/>
        </p:nvSpPr>
        <p:spPr>
          <a:xfrm>
            <a:off x="3511296" y="3675888"/>
            <a:ext cx="69494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0.305</a:t>
            </a:r>
          </a:p>
        </p:txBody>
      </p:sp>
      <p:sp>
        <p:nvSpPr>
          <p:cNvPr id="24" name="TextBox 23"/>
          <p:cNvSpPr txBox="1"/>
          <p:nvPr/>
        </p:nvSpPr>
        <p:spPr>
          <a:xfrm>
            <a:off x="4425696" y="3675888"/>
            <a:ext cx="78638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0.360</a:t>
            </a:r>
          </a:p>
        </p:txBody>
      </p:sp>
      <p:sp>
        <p:nvSpPr>
          <p:cNvPr id="25" name="TextBox 24"/>
          <p:cNvSpPr txBox="1"/>
          <p:nvPr/>
        </p:nvSpPr>
        <p:spPr>
          <a:xfrm>
            <a:off x="5431536" y="3675888"/>
            <a:ext cx="60350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+0.055</a:t>
            </a:r>
          </a:p>
        </p:txBody>
      </p:sp>
      <p:sp>
        <p:nvSpPr>
          <p:cNvPr id="26" name="Rectangle 25"/>
          <p:cNvSpPr/>
          <p:nvPr/>
        </p:nvSpPr>
        <p:spPr>
          <a:xfrm>
            <a:off x="658368" y="3977640"/>
            <a:ext cx="548640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56248" y="2148840"/>
            <a:ext cx="5303520" cy="274320"/>
          </a:xfrm>
          <a:prstGeom prst="rect">
            <a:avLst/>
          </a:prstGeom>
          <a:noFill/>
        </p:spPr>
        <p:txBody>
          <a:bodyPr wrap="square" lIns="0" rIns="0" tIns="0" bIns="0" anchor="t">
            <a:spAutoFit/>
          </a:bodyPr>
          <a:lstStyle/>
          <a:p>
            <a:pPr>
              <a:spcBef>
                <a:spcPts val="0"/>
              </a:spcBef>
              <a:spcAft>
                <a:spcPts val="0"/>
              </a:spcAft>
            </a:pPr>
            <a:r>
              <a:rPr sz="1400" b="1" i="0">
                <a:solidFill>
                  <a:srgbClr val="151A21"/>
                </a:solidFill>
                <a:latin typeface="Calibri"/>
              </a:rPr>
              <a:t>Label-permutation null, 300 shuffles</a:t>
            </a:r>
          </a:p>
        </p:txBody>
      </p:sp>
      <p:sp>
        <p:nvSpPr>
          <p:cNvPr id="28" name="Rectangle 27"/>
          <p:cNvSpPr/>
          <p:nvPr/>
        </p:nvSpPr>
        <p:spPr>
          <a:xfrm>
            <a:off x="6556248" y="2468880"/>
            <a:ext cx="5303520" cy="36576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65976" y="2551176"/>
            <a:ext cx="2157984" cy="256032"/>
          </a:xfrm>
          <a:prstGeom prst="rect">
            <a:avLst/>
          </a:prstGeom>
          <a:noFill/>
        </p:spPr>
        <p:txBody>
          <a:bodyPr wrap="square" lIns="0" rIns="0" tIns="0" bIns="0" anchor="t">
            <a:spAutoFit/>
          </a:bodyPr>
          <a:lstStyle/>
          <a:p>
            <a:pPr algn="l">
              <a:spcBef>
                <a:spcPts val="0"/>
              </a:spcBef>
              <a:spcAft>
                <a:spcPts val="0"/>
              </a:spcAft>
            </a:pPr>
            <a:r>
              <a:rPr sz="1100" b="1" i="0">
                <a:solidFill>
                  <a:srgbClr val="6B7684"/>
                </a:solidFill>
                <a:latin typeface="Consolas"/>
              </a:rPr>
              <a:t>CONFIGURATION</a:t>
            </a:r>
          </a:p>
        </p:txBody>
      </p:sp>
      <p:sp>
        <p:nvSpPr>
          <p:cNvPr id="30" name="TextBox 29"/>
          <p:cNvSpPr txBox="1"/>
          <p:nvPr/>
        </p:nvSpPr>
        <p:spPr>
          <a:xfrm>
            <a:off x="9043415" y="2551176"/>
            <a:ext cx="96926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OBSERVED</a:t>
            </a:r>
          </a:p>
        </p:txBody>
      </p:sp>
      <p:sp>
        <p:nvSpPr>
          <p:cNvPr id="31" name="TextBox 30"/>
          <p:cNvSpPr txBox="1"/>
          <p:nvPr/>
        </p:nvSpPr>
        <p:spPr>
          <a:xfrm>
            <a:off x="10232136" y="2551176"/>
            <a:ext cx="60350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NULL</a:t>
            </a:r>
          </a:p>
        </p:txBody>
      </p:sp>
      <p:sp>
        <p:nvSpPr>
          <p:cNvPr id="32" name="TextBox 31"/>
          <p:cNvSpPr txBox="1"/>
          <p:nvPr/>
        </p:nvSpPr>
        <p:spPr>
          <a:xfrm>
            <a:off x="11055096" y="2551176"/>
            <a:ext cx="694944" cy="256032"/>
          </a:xfrm>
          <a:prstGeom prst="rect">
            <a:avLst/>
          </a:prstGeom>
          <a:noFill/>
        </p:spPr>
        <p:txBody>
          <a:bodyPr wrap="square" lIns="0" rIns="0" tIns="0" bIns="0" anchor="t">
            <a:spAutoFit/>
          </a:bodyPr>
          <a:lstStyle/>
          <a:p>
            <a:pPr algn="r">
              <a:spcBef>
                <a:spcPts val="0"/>
              </a:spcBef>
              <a:spcAft>
                <a:spcPts val="0"/>
              </a:spcAft>
            </a:pPr>
            <a:r>
              <a:rPr sz="1100" b="1" i="0">
                <a:solidFill>
                  <a:srgbClr val="6B7684"/>
                </a:solidFill>
                <a:latin typeface="Consolas"/>
              </a:rPr>
              <a:t>P</a:t>
            </a:r>
          </a:p>
        </p:txBody>
      </p:sp>
      <p:sp>
        <p:nvSpPr>
          <p:cNvPr id="33" name="TextBox 32"/>
          <p:cNvSpPr txBox="1"/>
          <p:nvPr/>
        </p:nvSpPr>
        <p:spPr>
          <a:xfrm>
            <a:off x="6665976" y="2907792"/>
            <a:ext cx="2157984" cy="274320"/>
          </a:xfrm>
          <a:prstGeom prst="rect">
            <a:avLst/>
          </a:prstGeom>
          <a:noFill/>
        </p:spPr>
        <p:txBody>
          <a:bodyPr wrap="square" lIns="0" rIns="0" tIns="0" bIns="0" anchor="t">
            <a:spAutoFit/>
          </a:bodyPr>
          <a:lstStyle/>
          <a:p>
            <a:pPr algn="l">
              <a:spcBef>
                <a:spcPts val="0"/>
              </a:spcBef>
              <a:spcAft>
                <a:spcPts val="0"/>
              </a:spcAft>
            </a:pPr>
            <a:r>
              <a:rPr sz="1300" b="0" i="0">
                <a:solidFill>
                  <a:srgbClr val="3D4653"/>
                </a:solidFill>
                <a:latin typeface="Calibri"/>
              </a:rPr>
              <a:t>body only</a:t>
            </a:r>
          </a:p>
        </p:txBody>
      </p:sp>
      <p:sp>
        <p:nvSpPr>
          <p:cNvPr id="34" name="TextBox 33"/>
          <p:cNvSpPr txBox="1"/>
          <p:nvPr/>
        </p:nvSpPr>
        <p:spPr>
          <a:xfrm>
            <a:off x="9043415" y="2907792"/>
            <a:ext cx="96926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0.305</a:t>
            </a:r>
          </a:p>
        </p:txBody>
      </p:sp>
      <p:sp>
        <p:nvSpPr>
          <p:cNvPr id="35" name="TextBox 34"/>
          <p:cNvSpPr txBox="1"/>
          <p:nvPr/>
        </p:nvSpPr>
        <p:spPr>
          <a:xfrm>
            <a:off x="10232136" y="2907792"/>
            <a:ext cx="60350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0.158</a:t>
            </a:r>
          </a:p>
        </p:txBody>
      </p:sp>
      <p:sp>
        <p:nvSpPr>
          <p:cNvPr id="36" name="TextBox 35"/>
          <p:cNvSpPr txBox="1"/>
          <p:nvPr/>
        </p:nvSpPr>
        <p:spPr>
          <a:xfrm>
            <a:off x="11055096" y="2907792"/>
            <a:ext cx="69494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0.007</a:t>
            </a:r>
          </a:p>
        </p:txBody>
      </p:sp>
      <p:sp>
        <p:nvSpPr>
          <p:cNvPr id="37" name="Rectangle 36"/>
          <p:cNvSpPr/>
          <p:nvPr/>
        </p:nvSpPr>
        <p:spPr>
          <a:xfrm>
            <a:off x="6556248" y="3209544"/>
            <a:ext cx="530352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56248" y="3236976"/>
            <a:ext cx="5303520" cy="365759"/>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65976" y="3291840"/>
            <a:ext cx="2157984" cy="274320"/>
          </a:xfrm>
          <a:prstGeom prst="rect">
            <a:avLst/>
          </a:prstGeom>
          <a:noFill/>
        </p:spPr>
        <p:txBody>
          <a:bodyPr wrap="square" lIns="0" rIns="0" tIns="0" bIns="0" anchor="t">
            <a:spAutoFit/>
          </a:bodyPr>
          <a:lstStyle/>
          <a:p>
            <a:pPr algn="l">
              <a:spcBef>
                <a:spcPts val="0"/>
              </a:spcBef>
              <a:spcAft>
                <a:spcPts val="0"/>
              </a:spcAft>
            </a:pPr>
            <a:r>
              <a:rPr sz="1300" b="1" i="0">
                <a:solidFill>
                  <a:srgbClr val="151A21"/>
                </a:solidFill>
                <a:latin typeface="Calibri"/>
              </a:rPr>
              <a:t>+ fields + fixtures</a:t>
            </a:r>
          </a:p>
        </p:txBody>
      </p:sp>
      <p:sp>
        <p:nvSpPr>
          <p:cNvPr id="40" name="TextBox 39"/>
          <p:cNvSpPr txBox="1"/>
          <p:nvPr/>
        </p:nvSpPr>
        <p:spPr>
          <a:xfrm>
            <a:off x="9043415" y="3291840"/>
            <a:ext cx="969264" cy="274320"/>
          </a:xfrm>
          <a:prstGeom prst="rect">
            <a:avLst/>
          </a:prstGeom>
          <a:noFill/>
        </p:spPr>
        <p:txBody>
          <a:bodyPr wrap="square" lIns="0" rIns="0" tIns="0" bIns="0" anchor="t">
            <a:spAutoFit/>
          </a:bodyPr>
          <a:lstStyle/>
          <a:p>
            <a:pPr algn="r">
              <a:spcBef>
                <a:spcPts val="0"/>
              </a:spcBef>
              <a:spcAft>
                <a:spcPts val="0"/>
              </a:spcAft>
            </a:pPr>
            <a:r>
              <a:rPr sz="1300" b="1" i="0">
                <a:solidFill>
                  <a:srgbClr val="151A21"/>
                </a:solidFill>
                <a:latin typeface="Consolas"/>
              </a:rPr>
              <a:t>0.423</a:t>
            </a:r>
          </a:p>
        </p:txBody>
      </p:sp>
      <p:sp>
        <p:nvSpPr>
          <p:cNvPr id="41" name="TextBox 40"/>
          <p:cNvSpPr txBox="1"/>
          <p:nvPr/>
        </p:nvSpPr>
        <p:spPr>
          <a:xfrm>
            <a:off x="10232136" y="3291840"/>
            <a:ext cx="603504" cy="274320"/>
          </a:xfrm>
          <a:prstGeom prst="rect">
            <a:avLst/>
          </a:prstGeom>
          <a:noFill/>
        </p:spPr>
        <p:txBody>
          <a:bodyPr wrap="square" lIns="0" rIns="0" tIns="0" bIns="0" anchor="t">
            <a:spAutoFit/>
          </a:bodyPr>
          <a:lstStyle/>
          <a:p>
            <a:pPr algn="r">
              <a:spcBef>
                <a:spcPts val="0"/>
              </a:spcBef>
              <a:spcAft>
                <a:spcPts val="0"/>
              </a:spcAft>
            </a:pPr>
            <a:r>
              <a:rPr sz="1300" b="1" i="0">
                <a:solidFill>
                  <a:srgbClr val="151A21"/>
                </a:solidFill>
                <a:latin typeface="Consolas"/>
              </a:rPr>
              <a:t>0.181</a:t>
            </a:r>
          </a:p>
        </p:txBody>
      </p:sp>
      <p:sp>
        <p:nvSpPr>
          <p:cNvPr id="42" name="TextBox 41"/>
          <p:cNvSpPr txBox="1"/>
          <p:nvPr/>
        </p:nvSpPr>
        <p:spPr>
          <a:xfrm>
            <a:off x="11055096" y="3291840"/>
            <a:ext cx="694944" cy="274320"/>
          </a:xfrm>
          <a:prstGeom prst="rect">
            <a:avLst/>
          </a:prstGeom>
          <a:noFill/>
        </p:spPr>
        <p:txBody>
          <a:bodyPr wrap="square" lIns="0" rIns="0" tIns="0" bIns="0" anchor="t">
            <a:spAutoFit/>
          </a:bodyPr>
          <a:lstStyle/>
          <a:p>
            <a:pPr algn="r">
              <a:spcBef>
                <a:spcPts val="0"/>
              </a:spcBef>
              <a:spcAft>
                <a:spcPts val="0"/>
              </a:spcAft>
            </a:pPr>
            <a:r>
              <a:rPr sz="1300" b="1" i="0">
                <a:solidFill>
                  <a:srgbClr val="151A21"/>
                </a:solidFill>
                <a:latin typeface="Consolas"/>
              </a:rPr>
              <a:t>&lt;=0.003</a:t>
            </a:r>
          </a:p>
        </p:txBody>
      </p:sp>
      <p:sp>
        <p:nvSpPr>
          <p:cNvPr id="43" name="Rectangle 42"/>
          <p:cNvSpPr/>
          <p:nvPr/>
        </p:nvSpPr>
        <p:spPr>
          <a:xfrm>
            <a:off x="6556248" y="3593592"/>
            <a:ext cx="530352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65976" y="3675888"/>
            <a:ext cx="2157984" cy="274320"/>
          </a:xfrm>
          <a:prstGeom prst="rect">
            <a:avLst/>
          </a:prstGeom>
          <a:noFill/>
        </p:spPr>
        <p:txBody>
          <a:bodyPr wrap="square" lIns="0" rIns="0" tIns="0" bIns="0" anchor="t">
            <a:spAutoFit/>
          </a:bodyPr>
          <a:lstStyle/>
          <a:p>
            <a:pPr algn="l">
              <a:spcBef>
                <a:spcPts val="0"/>
              </a:spcBef>
              <a:spcAft>
                <a:spcPts val="0"/>
              </a:spcAft>
            </a:pPr>
            <a:r>
              <a:rPr sz="1300" b="0" i="0">
                <a:solidFill>
                  <a:srgbClr val="3D4653"/>
                </a:solidFill>
                <a:latin typeface="Calibri"/>
              </a:rPr>
              <a:t>+ full context</a:t>
            </a:r>
          </a:p>
        </p:txBody>
      </p:sp>
      <p:sp>
        <p:nvSpPr>
          <p:cNvPr id="45" name="TextBox 44"/>
          <p:cNvSpPr txBox="1"/>
          <p:nvPr/>
        </p:nvSpPr>
        <p:spPr>
          <a:xfrm>
            <a:off x="9043415" y="3675888"/>
            <a:ext cx="96926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0.339</a:t>
            </a:r>
          </a:p>
        </p:txBody>
      </p:sp>
      <p:sp>
        <p:nvSpPr>
          <p:cNvPr id="46" name="TextBox 45"/>
          <p:cNvSpPr txBox="1"/>
          <p:nvPr/>
        </p:nvSpPr>
        <p:spPr>
          <a:xfrm>
            <a:off x="10232136" y="3675888"/>
            <a:ext cx="60350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0.178</a:t>
            </a:r>
          </a:p>
        </p:txBody>
      </p:sp>
      <p:sp>
        <p:nvSpPr>
          <p:cNvPr id="47" name="TextBox 46"/>
          <p:cNvSpPr txBox="1"/>
          <p:nvPr/>
        </p:nvSpPr>
        <p:spPr>
          <a:xfrm>
            <a:off x="11055096" y="3675888"/>
            <a:ext cx="694944" cy="274320"/>
          </a:xfrm>
          <a:prstGeom prst="rect">
            <a:avLst/>
          </a:prstGeom>
          <a:noFill/>
        </p:spPr>
        <p:txBody>
          <a:bodyPr wrap="square" lIns="0" rIns="0" tIns="0" bIns="0" anchor="t">
            <a:spAutoFit/>
          </a:bodyPr>
          <a:lstStyle/>
          <a:p>
            <a:pPr algn="r">
              <a:spcBef>
                <a:spcPts val="0"/>
              </a:spcBef>
              <a:spcAft>
                <a:spcPts val="0"/>
              </a:spcAft>
            </a:pPr>
            <a:r>
              <a:rPr sz="1300" b="0" i="0">
                <a:solidFill>
                  <a:srgbClr val="3D4653"/>
                </a:solidFill>
                <a:latin typeface="Consolas"/>
              </a:rPr>
              <a:t>&lt;=0.003</a:t>
            </a:r>
          </a:p>
        </p:txBody>
      </p:sp>
      <p:sp>
        <p:nvSpPr>
          <p:cNvPr id="48" name="Rectangle 47"/>
          <p:cNvSpPr/>
          <p:nvPr/>
        </p:nvSpPr>
        <p:spPr>
          <a:xfrm>
            <a:off x="6556248" y="3977640"/>
            <a:ext cx="530352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8368" y="4206240"/>
            <a:ext cx="10874959" cy="822960"/>
          </a:xfrm>
          <a:prstGeom prst="rect">
            <a:avLst/>
          </a:prstGeom>
          <a:noFill/>
        </p:spPr>
        <p:txBody>
          <a:bodyPr wrap="square" lIns="0" rIns="0" tIns="0" bIns="0" anchor="t">
            <a:spAutoFit/>
          </a:bodyPr>
          <a:lstStyle/>
          <a:p>
            <a:pPr>
              <a:lnSpc>
                <a:spcPct val="128000"/>
              </a:lnSpc>
              <a:spcBef>
                <a:spcPts val="0"/>
              </a:spcBef>
              <a:spcAft>
                <a:spcPts val="0"/>
              </a:spcAft>
            </a:pPr>
            <a:r>
              <a:rPr sz="1450" b="0" i="0">
                <a:solidFill>
                  <a:srgbClr val="151A21"/>
                </a:solidFill>
                <a:latin typeface="Calibri"/>
              </a:rPr>
              <a:t>The two models disagree by up to 0.055 macro-F1 on identical data. A hand-rolled gradient-descent model is not reliable at the third decimal and cannot be defended in a paper. Everything reported now comes from scikit-learn.</a:t>
            </a:r>
          </a:p>
        </p:txBody>
      </p:sp>
      <p:sp>
        <p:nvSpPr>
          <p:cNvPr id="50" name="Rectangle 49"/>
          <p:cNvSpPr/>
          <p:nvPr/>
        </p:nvSpPr>
        <p:spPr>
          <a:xfrm>
            <a:off x="658368" y="5047488"/>
            <a:ext cx="10874959" cy="1298448"/>
          </a:xfrm>
          <a:prstGeom prst="rect">
            <a:avLst/>
          </a:prstGeom>
          <a:solidFill>
            <a:srgbClr val="F6E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58368" y="5047488"/>
            <a:ext cx="45720" cy="1298448"/>
          </a:xfrm>
          <a:prstGeom prst="rect">
            <a:avLst/>
          </a:prstGeom>
          <a:solidFill>
            <a:srgbClr val="A8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50976" y="5193792"/>
            <a:ext cx="10234879" cy="1097280"/>
          </a:xfrm>
          <a:prstGeom prst="rect">
            <a:avLst/>
          </a:prstGeom>
          <a:noFill/>
        </p:spPr>
        <p:txBody>
          <a:bodyPr wrap="square" lIns="0" rIns="0" tIns="0" bIns="0" anchor="t">
            <a:spAutoFit/>
          </a:bodyPr>
          <a:lstStyle/>
          <a:p>
            <a:pPr>
              <a:spcBef>
                <a:spcPts val="0"/>
              </a:spcBef>
              <a:spcAft>
                <a:spcPts val="0"/>
              </a:spcAft>
            </a:pPr>
            <a:r>
              <a:rPr sz="1550" b="1" i="0">
                <a:solidFill>
                  <a:srgbClr val="A8452B"/>
                </a:solidFill>
                <a:latin typeface="Calibri"/>
              </a:rPr>
              <a:t>Three honest weaknesses in the statistics</a:t>
            </a:r>
          </a:p>
          <a:p>
            <a:pPr>
              <a:lnSpc>
                <a:spcPct val="124000"/>
              </a:lnSpc>
              <a:spcBef>
                <a:spcPts val="400"/>
              </a:spcBef>
              <a:spcAft>
                <a:spcPts val="0"/>
              </a:spcAft>
            </a:pPr>
            <a:r>
              <a:rPr sz="1350" b="0" i="0">
                <a:solidFill>
                  <a:srgbClr val="3D4653"/>
                </a:solidFill>
                <a:latin typeface="Calibri"/>
              </a:rPr>
              <a:t>The bootstrap resamples fold scores drawn from the same 80 tests, so it is correlated and optimistic. Folds collapse to 2, not 5, because the split count is capped by the smallest class and unordered collections has 2 examples. And "best accuracy" in the binary task fits its threshold in-sample, so quote the AUC and the Mann-Whitney p-value instead.</a:t>
            </a:r>
          </a:p>
        </p:txBody>
      </p:sp>
      <p:sp>
        <p:nvSpPr>
          <p:cNvPr id="53" name="TextBox 52"/>
          <p:cNvSpPr txBox="1"/>
          <p:nvPr/>
        </p:nvSpPr>
        <p:spPr>
          <a:xfrm>
            <a:off x="10820095" y="6382512"/>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CAVEATS</a:t>
            </a:r>
          </a:p>
        </p:txBody>
      </p:sp>
      <p:sp>
        <p:nvSpPr>
          <p:cNvPr id="3" name="TextBox 2"/>
          <p:cNvSpPr txBox="1"/>
          <p:nvPr/>
        </p:nvSpPr>
        <p:spPr>
          <a:xfrm>
            <a:off x="658368" y="713232"/>
            <a:ext cx="10881360" cy="822960"/>
          </a:xfrm>
          <a:prstGeom prst="rect">
            <a:avLst/>
          </a:prstGeom>
          <a:noFill/>
        </p:spPr>
        <p:txBody>
          <a:bodyPr wrap="square" lIns="0" rIns="0" tIns="0" bIns="0" anchor="t">
            <a:spAutoFit/>
          </a:bodyPr>
          <a:lstStyle/>
          <a:p>
            <a:pPr>
              <a:lnSpc>
                <a:spcPct val="105000"/>
              </a:lnSpc>
              <a:spcBef>
                <a:spcPts val="0"/>
              </a:spcBef>
              <a:spcAft>
                <a:spcPts val="0"/>
              </a:spcAft>
            </a:pPr>
            <a:r>
              <a:rPr sz="3000" b="1" i="0">
                <a:solidFill>
                  <a:srgbClr val="151A21"/>
                </a:solidFill>
                <a:latin typeface="Calibri"/>
              </a:rPr>
              <a:t>What this does not show</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847088"/>
            <a:ext cx="45720" cy="841248"/>
          </a:xfrm>
          <a:prstGeom prst="rect">
            <a:avLst/>
          </a:prstGeom>
          <a:solidFill>
            <a:srgbClr val="A8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10424160" cy="320040"/>
          </a:xfrm>
          <a:prstGeom prst="rect">
            <a:avLst/>
          </a:prstGeom>
          <a:noFill/>
        </p:spPr>
        <p:txBody>
          <a:bodyPr wrap="square" lIns="0" rIns="0" tIns="0" bIns="0" anchor="t">
            <a:spAutoFit/>
          </a:bodyPr>
          <a:lstStyle/>
          <a:p>
            <a:pPr>
              <a:spcBef>
                <a:spcPts val="0"/>
              </a:spcBef>
              <a:spcAft>
                <a:spcPts val="0"/>
              </a:spcAft>
            </a:pPr>
            <a:r>
              <a:rPr sz="1650" b="1" i="0">
                <a:solidFill>
                  <a:srgbClr val="151A21"/>
                </a:solidFill>
                <a:latin typeface="Calibri"/>
              </a:rPr>
              <a:t>A lexicon is not an encoder</a:t>
            </a:r>
          </a:p>
        </p:txBody>
      </p:sp>
      <p:sp>
        <p:nvSpPr>
          <p:cNvPr id="7" name="TextBox 6"/>
          <p:cNvSpPr txBox="1"/>
          <p:nvPr/>
        </p:nvSpPr>
        <p:spPr>
          <a:xfrm>
            <a:off x="914400" y="2157984"/>
            <a:ext cx="10332720" cy="685800"/>
          </a:xfrm>
          <a:prstGeom prst="rect">
            <a:avLst/>
          </a:prstGeom>
          <a:noFill/>
        </p:spPr>
        <p:txBody>
          <a:bodyPr wrap="square" lIns="0" rIns="0" tIns="0" bIns="0" anchor="t">
            <a:spAutoFit/>
          </a:bodyPr>
          <a:lstStyle/>
          <a:p>
            <a:pPr>
              <a:lnSpc>
                <a:spcPct val="124000"/>
              </a:lnSpc>
              <a:spcBef>
                <a:spcPts val="0"/>
              </a:spcBef>
              <a:spcAft>
                <a:spcPts val="0"/>
              </a:spcAft>
            </a:pPr>
            <a:r>
              <a:rPr sz="1350" b="0" i="0">
                <a:solidFill>
                  <a:srgbClr val="3D4653"/>
                </a:solidFill>
                <a:latin typeface="Calibri"/>
              </a:rPr>
              <a:t>A 36-family regex bag is a floor. It shows the signal is present and machine-readable in the context slices. It does not predict what a fine-tuned transformer would gain and should not be quoted as an expected improvement.</a:t>
            </a:r>
          </a:p>
        </p:txBody>
      </p:sp>
      <p:sp>
        <p:nvSpPr>
          <p:cNvPr id="8" name="Rectangle 7"/>
          <p:cNvSpPr/>
          <p:nvPr/>
        </p:nvSpPr>
        <p:spPr>
          <a:xfrm>
            <a:off x="658368" y="2944368"/>
            <a:ext cx="45720" cy="841248"/>
          </a:xfrm>
          <a:prstGeom prst="rect">
            <a:avLst/>
          </a:prstGeom>
          <a:solidFill>
            <a:srgbClr val="A8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26079"/>
            <a:ext cx="10424160" cy="320040"/>
          </a:xfrm>
          <a:prstGeom prst="rect">
            <a:avLst/>
          </a:prstGeom>
          <a:noFill/>
        </p:spPr>
        <p:txBody>
          <a:bodyPr wrap="square" lIns="0" rIns="0" tIns="0" bIns="0" anchor="t">
            <a:spAutoFit/>
          </a:bodyPr>
          <a:lstStyle/>
          <a:p>
            <a:pPr>
              <a:spcBef>
                <a:spcPts val="0"/>
              </a:spcBef>
              <a:spcAft>
                <a:spcPts val="0"/>
              </a:spcAft>
            </a:pPr>
            <a:r>
              <a:rPr sz="1650" b="1" i="0">
                <a:solidFill>
                  <a:srgbClr val="151A21"/>
                </a:solidFill>
                <a:latin typeface="Calibri"/>
              </a:rPr>
              <a:t>The class distribution is badly skewed</a:t>
            </a:r>
          </a:p>
        </p:txBody>
      </p:sp>
      <p:sp>
        <p:nvSpPr>
          <p:cNvPr id="10" name="TextBox 9"/>
          <p:cNvSpPr txBox="1"/>
          <p:nvPr/>
        </p:nvSpPr>
        <p:spPr>
          <a:xfrm>
            <a:off x="914400" y="3255263"/>
            <a:ext cx="10332720" cy="685800"/>
          </a:xfrm>
          <a:prstGeom prst="rect">
            <a:avLst/>
          </a:prstGeom>
          <a:noFill/>
        </p:spPr>
        <p:txBody>
          <a:bodyPr wrap="square" lIns="0" rIns="0" tIns="0" bIns="0" anchor="t">
            <a:spAutoFit/>
          </a:bodyPr>
          <a:lstStyle/>
          <a:p>
            <a:pPr>
              <a:lnSpc>
                <a:spcPct val="124000"/>
              </a:lnSpc>
              <a:spcBef>
                <a:spcPts val="0"/>
              </a:spcBef>
              <a:spcAft>
                <a:spcPts val="0"/>
              </a:spcAft>
            </a:pPr>
            <a:r>
              <a:rPr sz="1350" b="0" i="0">
                <a:solidFill>
                  <a:srgbClr val="3D4653"/>
                </a:solidFill>
                <a:latin typeface="Calibri"/>
              </a:rPr>
              <a:t>Order dependency is 46 of 80, unordered collections is 2, time is 4. Macro-F1 over five classes at those counts is unstable. The binary result is the more trustworthy summary of the same effect.</a:t>
            </a:r>
          </a:p>
        </p:txBody>
      </p:sp>
      <p:sp>
        <p:nvSpPr>
          <p:cNvPr id="11" name="Rectangle 10"/>
          <p:cNvSpPr/>
          <p:nvPr/>
        </p:nvSpPr>
        <p:spPr>
          <a:xfrm>
            <a:off x="658368" y="4041648"/>
            <a:ext cx="45720" cy="841248"/>
          </a:xfrm>
          <a:prstGeom prst="rect">
            <a:avLst/>
          </a:prstGeom>
          <a:solidFill>
            <a:srgbClr val="A8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23360"/>
            <a:ext cx="10424160" cy="320040"/>
          </a:xfrm>
          <a:prstGeom prst="rect">
            <a:avLst/>
          </a:prstGeom>
          <a:noFill/>
        </p:spPr>
        <p:txBody>
          <a:bodyPr wrap="square" lIns="0" rIns="0" tIns="0" bIns="0" anchor="t">
            <a:spAutoFit/>
          </a:bodyPr>
          <a:lstStyle/>
          <a:p>
            <a:pPr>
              <a:spcBef>
                <a:spcPts val="0"/>
              </a:spcBef>
              <a:spcAft>
                <a:spcPts val="0"/>
              </a:spcAft>
            </a:pPr>
            <a:r>
              <a:rPr sz="1650" b="1" i="0">
                <a:solidFill>
                  <a:srgbClr val="151A21"/>
                </a:solidFill>
                <a:latin typeface="Calibri"/>
              </a:rPr>
              <a:t>The proxy beating the shipped model is not a result</a:t>
            </a:r>
          </a:p>
        </p:txBody>
      </p:sp>
      <p:sp>
        <p:nvSpPr>
          <p:cNvPr id="13" name="TextBox 12"/>
          <p:cNvSpPr txBox="1"/>
          <p:nvPr/>
        </p:nvSpPr>
        <p:spPr>
          <a:xfrm>
            <a:off x="914400" y="4352544"/>
            <a:ext cx="10332720" cy="685800"/>
          </a:xfrm>
          <a:prstGeom prst="rect">
            <a:avLst/>
          </a:prstGeom>
          <a:noFill/>
        </p:spPr>
        <p:txBody>
          <a:bodyPr wrap="square" lIns="0" rIns="0" tIns="0" bIns="0" anchor="t">
            <a:spAutoFit/>
          </a:bodyPr>
          <a:lstStyle/>
          <a:p>
            <a:pPr>
              <a:lnSpc>
                <a:spcPct val="124000"/>
              </a:lnSpc>
              <a:spcBef>
                <a:spcPts val="0"/>
              </a:spcBef>
              <a:spcAft>
                <a:spcPts val="0"/>
              </a:spcAft>
            </a:pPr>
            <a:r>
              <a:rPr sz="1350" b="0" i="0">
                <a:solidFill>
                  <a:srgbClr val="3D4653"/>
                </a:solidFill>
                <a:latin typeface="Calibri"/>
              </a:rPr>
              <a:t>57.5% against 51.2% on these 80 tests, but the subset over-represents projects where localisation succeeded and is order-dependency heavy. Not like for like.</a:t>
            </a:r>
          </a:p>
        </p:txBody>
      </p:sp>
      <p:sp>
        <p:nvSpPr>
          <p:cNvPr id="14" name="Rectangle 13"/>
          <p:cNvSpPr/>
          <p:nvPr/>
        </p:nvSpPr>
        <p:spPr>
          <a:xfrm>
            <a:off x="658368" y="5138928"/>
            <a:ext cx="45720" cy="841248"/>
          </a:xfrm>
          <a:prstGeom prst="rect">
            <a:avLst/>
          </a:prstGeom>
          <a:solidFill>
            <a:srgbClr val="A8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120640"/>
            <a:ext cx="10424160" cy="320040"/>
          </a:xfrm>
          <a:prstGeom prst="rect">
            <a:avLst/>
          </a:prstGeom>
          <a:noFill/>
        </p:spPr>
        <p:txBody>
          <a:bodyPr wrap="square" lIns="0" rIns="0" tIns="0" bIns="0" anchor="t">
            <a:spAutoFit/>
          </a:bodyPr>
          <a:lstStyle/>
          <a:p>
            <a:pPr>
              <a:spcBef>
                <a:spcPts val="0"/>
              </a:spcBef>
              <a:spcAft>
                <a:spcPts val="0"/>
              </a:spcAft>
            </a:pPr>
            <a:r>
              <a:rPr sz="1650" b="1" i="0">
                <a:solidFill>
                  <a:srgbClr val="151A21"/>
                </a:solidFill>
                <a:latin typeface="Calibri"/>
              </a:rPr>
              <a:t>Localisation loses a third of the sample</a:t>
            </a:r>
          </a:p>
        </p:txBody>
      </p:sp>
      <p:sp>
        <p:nvSpPr>
          <p:cNvPr id="16" name="TextBox 15"/>
          <p:cNvSpPr txBox="1"/>
          <p:nvPr/>
        </p:nvSpPr>
        <p:spPr>
          <a:xfrm>
            <a:off x="914400" y="5449824"/>
            <a:ext cx="10332720" cy="685800"/>
          </a:xfrm>
          <a:prstGeom prst="rect">
            <a:avLst/>
          </a:prstGeom>
          <a:noFill/>
        </p:spPr>
        <p:txBody>
          <a:bodyPr wrap="square" lIns="0" rIns="0" tIns="0" bIns="0" anchor="t">
            <a:spAutoFit/>
          </a:bodyPr>
          <a:lstStyle/>
          <a:p>
            <a:pPr>
              <a:lnSpc>
                <a:spcPct val="124000"/>
              </a:lnSpc>
              <a:spcBef>
                <a:spcPts val="0"/>
              </a:spcBef>
              <a:spcAft>
                <a:spcPts val="0"/>
              </a:spcAft>
            </a:pPr>
            <a:r>
              <a:rPr sz="1350" b="0" i="0">
                <a:solidFill>
                  <a:srgbClr val="3D4653"/>
                </a:solidFill>
                <a:latin typeface="Calibri"/>
              </a:rPr>
              <a:t>Every conclusion is conditioned on tests whose class could be found, which may not be a random subset of the benchmark.</a:t>
            </a:r>
          </a:p>
        </p:txBody>
      </p:sp>
      <p:sp>
        <p:nvSpPr>
          <p:cNvPr id="17" name="TextBox 16"/>
          <p:cNvSpPr txBox="1"/>
          <p:nvPr/>
        </p:nvSpPr>
        <p:spPr>
          <a:xfrm>
            <a:off x="658368" y="6355080"/>
            <a:ext cx="11155680" cy="320040"/>
          </a:xfrm>
          <a:prstGeom prst="rect">
            <a:avLst/>
          </a:prstGeom>
          <a:noFill/>
        </p:spPr>
        <p:txBody>
          <a:bodyPr wrap="square" lIns="0" rIns="0" tIns="0" bIns="0" anchor="t">
            <a:spAutoFit/>
          </a:bodyPr>
          <a:lstStyle/>
          <a:p>
            <a:pPr>
              <a:spcBef>
                <a:spcPts val="0"/>
              </a:spcBef>
              <a:spcAft>
                <a:spcPts val="0"/>
              </a:spcAft>
            </a:pPr>
            <a:r>
              <a:rPr sz="1250" b="0" i="0">
                <a:solidFill>
                  <a:srgbClr val="6B7684"/>
                </a:solidFill>
                <a:latin typeface="Consolas"/>
              </a:rPr>
              <a:t>Working files: docs/investigation2/   ·   Investigation 1: docs/investigation/</a:t>
            </a:r>
          </a:p>
        </p:txBody>
      </p:sp>
      <p:sp>
        <p:nvSpPr>
          <p:cNvPr id="18" name="TextBox 17"/>
          <p:cNvSpPr txBox="1"/>
          <p:nvPr/>
        </p:nvSpPr>
        <p:spPr>
          <a:xfrm>
            <a:off x="10820095" y="6382512"/>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